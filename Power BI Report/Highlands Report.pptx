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927D"/>
    <a:srgbClr val="9B644B"/>
    <a:srgbClr val="D1AFA0"/>
    <a:srgbClr val="6E46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68" autoAdjust="0"/>
    <p:restoredTop sz="94660"/>
  </p:normalViewPr>
  <p:slideViewPr>
    <p:cSldViewPr snapToGrid="0">
      <p:cViewPr>
        <p:scale>
          <a:sx n="75" d="100"/>
          <a:sy n="75" d="100"/>
        </p:scale>
        <p:origin x="53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New%20Microsoft%20Excel%20Work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New%20Microsoft%20Excel%20Workshe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gender.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gender.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gender.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gender.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gender.csv"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gender.csv"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gender.csv"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gender.csv"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TRUONG\Highlands\simple-pipeline\Power%20BI%20Report\Data%20Recreate\gender.csv"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Sheet1!$C$2</c:f>
              <c:strCache>
                <c:ptCount val="1"/>
                <c:pt idx="0">
                  <c:v>2019</c:v>
                </c:pt>
              </c:strCache>
            </c:strRef>
          </c:tx>
          <c:spPr>
            <a:solidFill>
              <a:schemeClr val="bg2">
                <a:lumMod val="90000"/>
              </a:schemeClr>
            </a:solidFill>
            <a:ln>
              <a:noFill/>
            </a:ln>
            <a:effectLst/>
          </c:spPr>
          <c:invertIfNegative val="0"/>
          <c:dLbls>
            <c:delete val="1"/>
          </c:dLbls>
          <c:cat>
            <c:strRef>
              <c:f>Sheet1!$B$3:$B$8</c:f>
              <c:strCache>
                <c:ptCount val="6"/>
                <c:pt idx="0">
                  <c:v>Cộng cà phê</c:v>
                </c:pt>
                <c:pt idx="1">
                  <c:v>The Coffee House</c:v>
                </c:pt>
                <c:pt idx="2">
                  <c:v>Trung Nguyên</c:v>
                </c:pt>
                <c:pt idx="3">
                  <c:v>Starbucks</c:v>
                </c:pt>
                <c:pt idx="4">
                  <c:v>Phúc Long</c:v>
                </c:pt>
                <c:pt idx="5">
                  <c:v>Highlands Coffee</c:v>
                </c:pt>
              </c:strCache>
            </c:strRef>
          </c:cat>
          <c:val>
            <c:numRef>
              <c:f>Sheet1!$C$3:$C$8</c:f>
              <c:numCache>
                <c:formatCode>General</c:formatCode>
                <c:ptCount val="6"/>
                <c:pt idx="0">
                  <c:v>63</c:v>
                </c:pt>
                <c:pt idx="1">
                  <c:v>147</c:v>
                </c:pt>
                <c:pt idx="2">
                  <c:v>64</c:v>
                </c:pt>
                <c:pt idx="3">
                  <c:v>56</c:v>
                </c:pt>
                <c:pt idx="4">
                  <c:v>49</c:v>
                </c:pt>
                <c:pt idx="5">
                  <c:v>305</c:v>
                </c:pt>
              </c:numCache>
            </c:numRef>
          </c:val>
          <c:extLst>
            <c:ext xmlns:c16="http://schemas.microsoft.com/office/drawing/2014/chart" uri="{C3380CC4-5D6E-409C-BE32-E72D297353CC}">
              <c16:uniqueId val="{00000002-0947-4298-87F7-D8A837838DB7}"/>
            </c:ext>
          </c:extLst>
        </c:ser>
        <c:ser>
          <c:idx val="1"/>
          <c:order val="1"/>
          <c:tx>
            <c:strRef>
              <c:f>Sheet1!$D$2</c:f>
              <c:strCache>
                <c:ptCount val="1"/>
                <c:pt idx="0">
                  <c:v>2024</c:v>
                </c:pt>
              </c:strCache>
            </c:strRef>
          </c:tx>
          <c:spPr>
            <a:solidFill>
              <a:schemeClr val="tx1">
                <a:lumMod val="50000"/>
                <a:lumOff val="50000"/>
              </a:schemeClr>
            </a:solidFill>
            <a:ln>
              <a:noFill/>
            </a:ln>
            <a:effectLst/>
          </c:spPr>
          <c:invertIfNegative val="0"/>
          <c:dLbls>
            <c:delete val="1"/>
          </c:dLbls>
          <c:cat>
            <c:strRef>
              <c:f>Sheet1!$B$3:$B$8</c:f>
              <c:strCache>
                <c:ptCount val="6"/>
                <c:pt idx="0">
                  <c:v>Cộng cà phê</c:v>
                </c:pt>
                <c:pt idx="1">
                  <c:v>The Coffee House</c:v>
                </c:pt>
                <c:pt idx="2">
                  <c:v>Trung Nguyên</c:v>
                </c:pt>
                <c:pt idx="3">
                  <c:v>Starbucks</c:v>
                </c:pt>
                <c:pt idx="4">
                  <c:v>Phúc Long</c:v>
                </c:pt>
                <c:pt idx="5">
                  <c:v>Highlands Coffee</c:v>
                </c:pt>
              </c:strCache>
            </c:strRef>
          </c:cat>
          <c:val>
            <c:numRef>
              <c:f>Sheet1!$D$3:$D$8</c:f>
              <c:numCache>
                <c:formatCode>General</c:formatCode>
                <c:ptCount val="6"/>
                <c:pt idx="0">
                  <c:v>75</c:v>
                </c:pt>
                <c:pt idx="1">
                  <c:v>141</c:v>
                </c:pt>
                <c:pt idx="2">
                  <c:v>116</c:v>
                </c:pt>
                <c:pt idx="3">
                  <c:v>110</c:v>
                </c:pt>
                <c:pt idx="4">
                  <c:v>158</c:v>
                </c:pt>
                <c:pt idx="5">
                  <c:v>777</c:v>
                </c:pt>
              </c:numCache>
            </c:numRef>
          </c:val>
          <c:extLst>
            <c:ext xmlns:c16="http://schemas.microsoft.com/office/drawing/2014/chart" uri="{C3380CC4-5D6E-409C-BE32-E72D297353CC}">
              <c16:uniqueId val="{00000001-0947-4298-87F7-D8A837838DB7}"/>
            </c:ext>
          </c:extLst>
        </c:ser>
        <c:ser>
          <c:idx val="2"/>
          <c:order val="2"/>
          <c:tx>
            <c:strRef>
              <c:f>Sheet1!$E$2</c:f>
              <c:strCache>
                <c:ptCount val="1"/>
                <c:pt idx="0">
                  <c:v>2025</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Sheet1!$B$3:$B$8</c:f>
              <c:strCache>
                <c:ptCount val="6"/>
                <c:pt idx="0">
                  <c:v>Cộng cà phê</c:v>
                </c:pt>
                <c:pt idx="1">
                  <c:v>The Coffee House</c:v>
                </c:pt>
                <c:pt idx="2">
                  <c:v>Trung Nguyên</c:v>
                </c:pt>
                <c:pt idx="3">
                  <c:v>Starbucks</c:v>
                </c:pt>
                <c:pt idx="4">
                  <c:v>Phúc Long</c:v>
                </c:pt>
                <c:pt idx="5">
                  <c:v>Highlands Coffee</c:v>
                </c:pt>
              </c:strCache>
            </c:strRef>
          </c:cat>
          <c:val>
            <c:numRef>
              <c:f>Sheet1!$E$3:$E$8</c:f>
              <c:numCache>
                <c:formatCode>General</c:formatCode>
                <c:ptCount val="6"/>
                <c:pt idx="0">
                  <c:v>90</c:v>
                </c:pt>
                <c:pt idx="1">
                  <c:v>93</c:v>
                </c:pt>
                <c:pt idx="2">
                  <c:v>106</c:v>
                </c:pt>
                <c:pt idx="3">
                  <c:v>127</c:v>
                </c:pt>
                <c:pt idx="4">
                  <c:v>237</c:v>
                </c:pt>
                <c:pt idx="5">
                  <c:v>855</c:v>
                </c:pt>
              </c:numCache>
            </c:numRef>
          </c:val>
          <c:extLst>
            <c:ext xmlns:c16="http://schemas.microsoft.com/office/drawing/2014/chart" uri="{C3380CC4-5D6E-409C-BE32-E72D297353CC}">
              <c16:uniqueId val="{00000000-0947-4298-87F7-D8A837838DB7}"/>
            </c:ext>
          </c:extLst>
        </c:ser>
        <c:dLbls>
          <c:dLblPos val="outEnd"/>
          <c:showLegendKey val="0"/>
          <c:showVal val="1"/>
          <c:showCatName val="0"/>
          <c:showSerName val="0"/>
          <c:showPercent val="0"/>
          <c:showBubbleSize val="0"/>
        </c:dLbls>
        <c:gapWidth val="100"/>
        <c:axId val="1058295320"/>
        <c:axId val="1066301800"/>
      </c:barChart>
      <c:catAx>
        <c:axId val="1058295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50000"/>
                    <a:lumOff val="50000"/>
                  </a:schemeClr>
                </a:solidFill>
                <a:latin typeface="+mn-lt"/>
                <a:ea typeface="+mn-ea"/>
                <a:cs typeface="+mn-cs"/>
              </a:defRPr>
            </a:pPr>
            <a:endParaRPr lang="en-US"/>
          </a:p>
        </c:txPr>
        <c:crossAx val="1066301800"/>
        <c:crosses val="autoZero"/>
        <c:auto val="1"/>
        <c:lblAlgn val="ctr"/>
        <c:lblOffset val="50"/>
        <c:noMultiLvlLbl val="0"/>
      </c:catAx>
      <c:valAx>
        <c:axId val="1066301800"/>
        <c:scaling>
          <c:orientation val="minMax"/>
          <c:max val="900"/>
          <c:min val="0"/>
        </c:scaling>
        <c:delete val="0"/>
        <c:axPos val="l"/>
        <c:majorGridlines>
          <c:spPr>
            <a:ln w="9525" cap="flat" cmpd="sng" algn="ctr">
              <a:noFill/>
              <a:round/>
            </a:ln>
            <a:effectLst/>
          </c:spPr>
        </c:majorGridlines>
        <c:numFmt formatCode="General"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058295320"/>
        <c:crosses val="autoZero"/>
        <c:crossBetween val="between"/>
        <c:majorUnit val="20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prstDash val="lgDash"/>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Sheet1!$F$2</c:f>
              <c:strCache>
                <c:ptCount val="1"/>
                <c:pt idx="0">
                  <c:v>2019-2024</c:v>
                </c:pt>
              </c:strCache>
            </c:strRef>
          </c:tx>
          <c:spPr>
            <a:solidFill>
              <a:schemeClr val="tx1">
                <a:lumMod val="50000"/>
                <a:lumOff val="50000"/>
              </a:schemeClr>
            </a:solidFill>
            <a:ln>
              <a:noFill/>
            </a:ln>
            <a:effectLst/>
          </c:spPr>
          <c:invertIfNegative val="0"/>
          <c:dLbls>
            <c:delete val="1"/>
          </c:dLbls>
          <c:cat>
            <c:strRef>
              <c:f>Sheet1!$B$3:$B$8</c:f>
              <c:strCache>
                <c:ptCount val="6"/>
                <c:pt idx="0">
                  <c:v>Cộng cà phê</c:v>
                </c:pt>
                <c:pt idx="1">
                  <c:v>The Coffee House</c:v>
                </c:pt>
                <c:pt idx="2">
                  <c:v>Trung Nguyên</c:v>
                </c:pt>
                <c:pt idx="3">
                  <c:v>Starbucks</c:v>
                </c:pt>
                <c:pt idx="4">
                  <c:v>Phúc Long</c:v>
                </c:pt>
                <c:pt idx="5">
                  <c:v>Highlands Coffee</c:v>
                </c:pt>
              </c:strCache>
            </c:strRef>
          </c:cat>
          <c:val>
            <c:numRef>
              <c:f>Sheet1!$F$3:$F$8</c:f>
              <c:numCache>
                <c:formatCode>0.00%</c:formatCode>
                <c:ptCount val="6"/>
                <c:pt idx="0">
                  <c:v>0.19047619047619047</c:v>
                </c:pt>
                <c:pt idx="1">
                  <c:v>-4.0816326530612242E-2</c:v>
                </c:pt>
                <c:pt idx="2">
                  <c:v>0.8125</c:v>
                </c:pt>
                <c:pt idx="3">
                  <c:v>0.9642857142857143</c:v>
                </c:pt>
                <c:pt idx="4">
                  <c:v>2.2244897959183674</c:v>
                </c:pt>
                <c:pt idx="5">
                  <c:v>1.5475409836065575</c:v>
                </c:pt>
              </c:numCache>
            </c:numRef>
          </c:val>
          <c:extLst>
            <c:ext xmlns:c16="http://schemas.microsoft.com/office/drawing/2014/chart" uri="{C3380CC4-5D6E-409C-BE32-E72D297353CC}">
              <c16:uniqueId val="{00000001-A633-46BE-9223-9C7C9BD4B5DF}"/>
            </c:ext>
          </c:extLst>
        </c:ser>
        <c:ser>
          <c:idx val="1"/>
          <c:order val="1"/>
          <c:tx>
            <c:strRef>
              <c:f>Sheet1!$G$2</c:f>
              <c:strCache>
                <c:ptCount val="1"/>
                <c:pt idx="0">
                  <c:v>2024-2025</c:v>
                </c:pt>
              </c:strCache>
            </c:strRef>
          </c:tx>
          <c:spPr>
            <a:solidFill>
              <a:srgbClr val="C00000"/>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Sheet1!$B$3:$B$8</c:f>
              <c:strCache>
                <c:ptCount val="6"/>
                <c:pt idx="0">
                  <c:v>Cộng cà phê</c:v>
                </c:pt>
                <c:pt idx="1">
                  <c:v>The Coffee House</c:v>
                </c:pt>
                <c:pt idx="2">
                  <c:v>Trung Nguyên</c:v>
                </c:pt>
                <c:pt idx="3">
                  <c:v>Starbucks</c:v>
                </c:pt>
                <c:pt idx="4">
                  <c:v>Phúc Long</c:v>
                </c:pt>
                <c:pt idx="5">
                  <c:v>Highlands Coffee</c:v>
                </c:pt>
              </c:strCache>
            </c:strRef>
          </c:cat>
          <c:val>
            <c:numRef>
              <c:f>Sheet1!$G$3:$G$8</c:f>
              <c:numCache>
                <c:formatCode>0.00%</c:formatCode>
                <c:ptCount val="6"/>
                <c:pt idx="0">
                  <c:v>0.2</c:v>
                </c:pt>
                <c:pt idx="1">
                  <c:v>-0.34042553191489361</c:v>
                </c:pt>
                <c:pt idx="2">
                  <c:v>-8.6206896551724144E-2</c:v>
                </c:pt>
                <c:pt idx="3">
                  <c:v>0.15454545454545454</c:v>
                </c:pt>
                <c:pt idx="4">
                  <c:v>0.5</c:v>
                </c:pt>
                <c:pt idx="5">
                  <c:v>0.10038610038610038</c:v>
                </c:pt>
              </c:numCache>
            </c:numRef>
          </c:val>
          <c:extLst>
            <c:ext xmlns:c16="http://schemas.microsoft.com/office/drawing/2014/chart" uri="{C3380CC4-5D6E-409C-BE32-E72D297353CC}">
              <c16:uniqueId val="{00000000-A633-46BE-9223-9C7C9BD4B5DF}"/>
            </c:ext>
          </c:extLst>
        </c:ser>
        <c:dLbls>
          <c:dLblPos val="outEnd"/>
          <c:showLegendKey val="0"/>
          <c:showVal val="1"/>
          <c:showCatName val="0"/>
          <c:showSerName val="0"/>
          <c:showPercent val="0"/>
          <c:showBubbleSize val="0"/>
        </c:dLbls>
        <c:gapWidth val="100"/>
        <c:axId val="1065771136"/>
        <c:axId val="1065768256"/>
      </c:barChart>
      <c:catAx>
        <c:axId val="1065771136"/>
        <c:scaling>
          <c:orientation val="minMax"/>
        </c:scaling>
        <c:delete val="0"/>
        <c:axPos val="l"/>
        <c:numFmt formatCode="General" sourceLinked="1"/>
        <c:majorTickMark val="none"/>
        <c:minorTickMark val="none"/>
        <c:tickLblPos val="low"/>
        <c:spPr>
          <a:noFill/>
          <a:ln w="1587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1065768256"/>
        <c:crosses val="autoZero"/>
        <c:auto val="1"/>
        <c:lblAlgn val="ctr"/>
        <c:lblOffset val="1000"/>
        <c:noMultiLvlLbl val="0"/>
      </c:catAx>
      <c:valAx>
        <c:axId val="1065768256"/>
        <c:scaling>
          <c:orientation val="minMax"/>
          <c:max val="2.2999999999999998"/>
          <c:min val="-0.4"/>
        </c:scaling>
        <c:delete val="0"/>
        <c:axPos val="b"/>
        <c:majorGridlines>
          <c:spPr>
            <a:ln w="9525" cap="flat" cmpd="sng" algn="ctr">
              <a:noFill/>
              <a:round/>
            </a:ln>
            <a:effectLst/>
          </c:spPr>
        </c:majorGridlines>
        <c:numFmt formatCode="0%" sourceLinked="0"/>
        <c:majorTickMark val="none"/>
        <c:minorTickMark val="none"/>
        <c:tickLblPos val="low"/>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50000"/>
                    <a:lumOff val="50000"/>
                  </a:schemeClr>
                </a:solidFill>
                <a:latin typeface="+mn-lt"/>
                <a:ea typeface="+mn-ea"/>
                <a:cs typeface="+mn-cs"/>
              </a:defRPr>
            </a:pPr>
            <a:endParaRPr lang="en-US"/>
          </a:p>
        </c:txPr>
        <c:crossAx val="1065771136"/>
        <c:crosses val="autoZero"/>
        <c:crossBetween val="between"/>
        <c:majorUnit val="0.5"/>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noFill/>
      <a:prstDash val="lgDash"/>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rgbClr val="C00000"/>
            </a:solidFill>
            <a:ln>
              <a:noFill/>
            </a:ln>
          </c:spPr>
          <c:dPt>
            <c:idx val="0"/>
            <c:bubble3D val="0"/>
            <c:spPr>
              <a:solidFill>
                <a:srgbClr val="C1927D"/>
              </a:solidFill>
              <a:ln w="19050">
                <a:noFill/>
              </a:ln>
              <a:effectLst/>
            </c:spPr>
            <c:extLst>
              <c:ext xmlns:c16="http://schemas.microsoft.com/office/drawing/2014/chart" uri="{C3380CC4-5D6E-409C-BE32-E72D297353CC}">
                <c16:uniqueId val="{00000001-096D-4CD5-B20D-DDE40DF41888}"/>
              </c:ext>
            </c:extLst>
          </c:dPt>
          <c:dPt>
            <c:idx val="1"/>
            <c:bubble3D val="0"/>
            <c:spPr>
              <a:solidFill>
                <a:srgbClr val="C00000"/>
              </a:solidFill>
              <a:ln w="19050">
                <a:noFill/>
              </a:ln>
              <a:effectLst/>
            </c:spPr>
            <c:extLst>
              <c:ext xmlns:c16="http://schemas.microsoft.com/office/drawing/2014/chart" uri="{C3380CC4-5D6E-409C-BE32-E72D297353CC}">
                <c16:uniqueId val="{00000003-096D-4CD5-B20D-DDE40DF41888}"/>
              </c:ext>
            </c:extLst>
          </c:dPt>
          <c:dLbls>
            <c:dLbl>
              <c:idx val="0"/>
              <c:layout>
                <c:manualLayout>
                  <c:x val="-0.20745780791649204"/>
                  <c:y val="2.3084502606619966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96D-4CD5-B20D-DDE40DF41888}"/>
                </c:ext>
              </c:extLst>
            </c:dLbl>
            <c:dLbl>
              <c:idx val="1"/>
              <c:layout>
                <c:manualLayout>
                  <c:x val="0.23575412396662726"/>
                  <c:y val="-3.7448283226126484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96D-4CD5-B20D-DDE40DF41888}"/>
                </c:ext>
              </c:extLst>
            </c:dLbl>
            <c:spPr>
              <a:noFill/>
              <a:ln>
                <a:noFill/>
              </a:ln>
              <a:effectLst/>
            </c:spPr>
            <c:txPr>
              <a:bodyPr rot="0" spcFirstLastPara="1" vertOverflow="overflow" horzOverflow="overflow" vert="horz" wrap="square" lIns="36576" tIns="19050" rIns="38100" bIns="19050" anchor="ctr" anchorCtr="0">
                <a:spAutoFit/>
              </a:bodyPr>
              <a:lstStyle/>
              <a:p>
                <a:pPr>
                  <a:defRPr lang="en-US"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a:noFill/>
                  <a:ln>
                    <a:noFill/>
                  </a:ln>
                </c15:spPr>
              </c:ext>
            </c:extLst>
          </c:dLbls>
          <c:cat>
            <c:strRef>
              <c:f>gender!$A$2:$A$3</c:f>
              <c:strCache>
                <c:ptCount val="2"/>
                <c:pt idx="0">
                  <c:v>Male</c:v>
                </c:pt>
                <c:pt idx="1">
                  <c:v>Female</c:v>
                </c:pt>
              </c:strCache>
            </c:strRef>
          </c:cat>
          <c:val>
            <c:numRef>
              <c:f>gender!$B$2:$B$3</c:f>
              <c:numCache>
                <c:formatCode>0%</c:formatCode>
                <c:ptCount val="2"/>
                <c:pt idx="0">
                  <c:v>0.43871513102282333</c:v>
                </c:pt>
                <c:pt idx="1">
                  <c:v>0.56128486897717667</c:v>
                </c:pt>
              </c:numCache>
            </c:numRef>
          </c:val>
          <c:extLst>
            <c:ext xmlns:c16="http://schemas.microsoft.com/office/drawing/2014/chart" uri="{C3380CC4-5D6E-409C-BE32-E72D297353CC}">
              <c16:uniqueId val="{00000004-096D-4CD5-B20D-DDE40DF41888}"/>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0" cap="flat" cmpd="sng" algn="ctr">
      <a:no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'city'!$C$1</c:f>
              <c:strCache>
                <c:ptCount val="1"/>
                <c:pt idx="0">
                  <c:v>Column1</c:v>
                </c:pt>
              </c:strCache>
            </c:strRef>
          </c:tx>
          <c:spPr>
            <a:solidFill>
              <a:srgbClr val="C00000"/>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5-724B-49B4-979E-33899EA87DDF}"/>
              </c:ext>
            </c:extLst>
          </c:dPt>
          <c:dPt>
            <c:idx val="1"/>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4-724B-49B4-979E-33899EA87DDF}"/>
              </c:ext>
            </c:extLst>
          </c:dPt>
          <c:dPt>
            <c:idx val="2"/>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3-724B-49B4-979E-33899EA87DDF}"/>
              </c:ext>
            </c:extLst>
          </c:dPt>
          <c:dPt>
            <c:idx val="3"/>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2-724B-49B4-979E-33899EA87DDF}"/>
              </c:ext>
            </c:extLst>
          </c:dPt>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'city'!$A$2:$A$7</c:f>
              <c:strCache>
                <c:ptCount val="6"/>
                <c:pt idx="0">
                  <c:v>Nha Trang</c:v>
                </c:pt>
                <c:pt idx="1">
                  <c:v>Hải Phòng</c:v>
                </c:pt>
                <c:pt idx="2">
                  <c:v>Cần Thơ</c:v>
                </c:pt>
                <c:pt idx="3">
                  <c:v>Đà Nẵng</c:v>
                </c:pt>
                <c:pt idx="4">
                  <c:v>Hồ Chí Minh</c:v>
                </c:pt>
                <c:pt idx="5">
                  <c:v>Hà Nội</c:v>
                </c:pt>
              </c:strCache>
            </c:strRef>
          </c:cat>
          <c:val>
            <c:numRef>
              <c:f>'city'!$C$2:$C$7</c:f>
              <c:numCache>
                <c:formatCode>0%</c:formatCode>
                <c:ptCount val="6"/>
                <c:pt idx="0">
                  <c:v>7.3823612285150747E-2</c:v>
                </c:pt>
                <c:pt idx="1">
                  <c:v>0.11270780501549732</c:v>
                </c:pt>
                <c:pt idx="2">
                  <c:v>0.11468019160326853</c:v>
                </c:pt>
                <c:pt idx="3">
                  <c:v>0.11524373062834602</c:v>
                </c:pt>
                <c:pt idx="4">
                  <c:v>0.29163144547759934</c:v>
                </c:pt>
                <c:pt idx="5">
                  <c:v>0.29191321499013806</c:v>
                </c:pt>
              </c:numCache>
            </c:numRef>
          </c:val>
          <c:extLst>
            <c:ext xmlns:c16="http://schemas.microsoft.com/office/drawing/2014/chart" uri="{C3380CC4-5D6E-409C-BE32-E72D297353CC}">
              <c16:uniqueId val="{00000001-724B-49B4-979E-33899EA87DDF}"/>
            </c:ext>
          </c:extLst>
        </c:ser>
        <c:dLbls>
          <c:dLblPos val="outEnd"/>
          <c:showLegendKey val="0"/>
          <c:showVal val="1"/>
          <c:showCatName val="0"/>
          <c:showSerName val="0"/>
          <c:showPercent val="0"/>
          <c:showBubbleSize val="0"/>
        </c:dLbls>
        <c:gapWidth val="75"/>
        <c:axId val="1506282256"/>
        <c:axId val="1506281176"/>
      </c:barChart>
      <c:catAx>
        <c:axId val="15062822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1506281176"/>
        <c:crosses val="autoZero"/>
        <c:auto val="1"/>
        <c:lblAlgn val="ctr"/>
        <c:lblOffset val="100"/>
        <c:noMultiLvlLbl val="0"/>
      </c:catAx>
      <c:valAx>
        <c:axId val="1506281176"/>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50000"/>
                    <a:lumOff val="50000"/>
                  </a:schemeClr>
                </a:solidFill>
                <a:latin typeface="+mn-lt"/>
                <a:ea typeface="+mn-ea"/>
                <a:cs typeface="+mn-cs"/>
              </a:defRPr>
            </a:pPr>
            <a:endParaRPr lang="en-US"/>
          </a:p>
        </c:txPr>
        <c:crossAx val="1506282256"/>
        <c:crosses val="autoZero"/>
        <c:crossBetween val="between"/>
      </c:valAx>
      <c:spPr>
        <a:noFill/>
        <a:ln>
          <a:noFill/>
        </a:ln>
        <a:effectLst/>
      </c:spPr>
    </c:plotArea>
    <c:plotVisOnly val="1"/>
    <c:dispBlanksAs val="gap"/>
    <c:showDLblsOverMax val="0"/>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en-US" sz="1200" b="0" i="0" u="none" strike="noStrike" kern="1200" spc="0" baseline="0">
              <a:solidFill>
                <a:schemeClr val="tx1">
                  <a:lumMod val="50000"/>
                  <a:lumOff val="50000"/>
                </a:schemeClr>
              </a:solidFill>
              <a:latin typeface="+mn-lt"/>
              <a:ea typeface="+mn-ea"/>
              <a:cs typeface="+mn-cs"/>
            </a:defRPr>
          </a:pPr>
          <a:endParaRPr lang="en-US"/>
        </a:p>
      </c:txPr>
    </c:title>
    <c:autoTitleDeleted val="0"/>
    <c:plotArea>
      <c:layout/>
      <c:barChart>
        <c:barDir val="bar"/>
        <c:grouping val="clustered"/>
        <c:varyColors val="0"/>
        <c:ser>
          <c:idx val="0"/>
          <c:order val="0"/>
          <c:tx>
            <c:strRef>
              <c:f>occupation!$B$1</c:f>
              <c:strCache>
                <c:ptCount val="1"/>
                <c:pt idx="0">
                  <c:v>Column1</c:v>
                </c:pt>
              </c:strCache>
            </c:strRef>
          </c:tx>
          <c:spPr>
            <a:solidFill>
              <a:srgbClr val="C00000"/>
            </a:solidFill>
            <a:ln>
              <a:noFill/>
            </a:ln>
            <a:effectLst/>
          </c:spPr>
          <c:invertIfNegative val="0"/>
          <c:cat>
            <c:strRef>
              <c:f>occupation!$A$2:$A$10</c:f>
              <c:strCache>
                <c:ptCount val="9"/>
                <c:pt idx="0">
                  <c:v>Semi-skilled Labor</c:v>
                </c:pt>
                <c:pt idx="1">
                  <c:v>Professional Roles</c:v>
                </c:pt>
                <c:pt idx="2">
                  <c:v>Student</c:v>
                </c:pt>
                <c:pt idx="3">
                  <c:v>Artist, Broker &amp; Freelancer</c:v>
                </c:pt>
                <c:pt idx="4">
                  <c:v>Skilled Labor</c:v>
                </c:pt>
                <c:pt idx="5">
                  <c:v>SME Business Owner</c:v>
                </c:pt>
                <c:pt idx="6">
                  <c:v>Non-working</c:v>
                </c:pt>
                <c:pt idx="7">
                  <c:v>Unskilled Labor</c:v>
                </c:pt>
                <c:pt idx="8">
                  <c:v>Office Worker</c:v>
                </c:pt>
              </c:strCache>
            </c:strRef>
          </c:cat>
          <c:val>
            <c:numRef>
              <c:f>occupation!$B$2:$B$10</c:f>
              <c:numCache>
                <c:formatCode>0%</c:formatCode>
                <c:ptCount val="9"/>
                <c:pt idx="0">
                  <c:v>4.0891144952058658E-2</c:v>
                </c:pt>
                <c:pt idx="1">
                  <c:v>5.9221658206429779E-2</c:v>
                </c:pt>
                <c:pt idx="2">
                  <c:v>9.1652566271855612E-2</c:v>
                </c:pt>
                <c:pt idx="3">
                  <c:v>9.7856739988719688E-2</c:v>
                </c:pt>
                <c:pt idx="4">
                  <c:v>9.842075578116187E-2</c:v>
                </c:pt>
                <c:pt idx="5">
                  <c:v>0.13564579808234631</c:v>
                </c:pt>
                <c:pt idx="6">
                  <c:v>0.13705583756345177</c:v>
                </c:pt>
                <c:pt idx="7">
                  <c:v>0.13761985335589397</c:v>
                </c:pt>
                <c:pt idx="8">
                  <c:v>0.20163564579808235</c:v>
                </c:pt>
              </c:numCache>
            </c:numRef>
          </c:val>
          <c:extLst>
            <c:ext xmlns:c16="http://schemas.microsoft.com/office/drawing/2014/chart" uri="{C3380CC4-5D6E-409C-BE32-E72D297353CC}">
              <c16:uniqueId val="{00000000-61BE-406F-B883-F966184893E0}"/>
            </c:ext>
          </c:extLst>
        </c:ser>
        <c:dLbls>
          <c:showLegendKey val="0"/>
          <c:showVal val="0"/>
          <c:showCatName val="0"/>
          <c:showSerName val="0"/>
          <c:showPercent val="0"/>
          <c:showBubbleSize val="0"/>
        </c:dLbls>
        <c:gapWidth val="75"/>
        <c:axId val="99065559"/>
        <c:axId val="99066639"/>
      </c:barChart>
      <c:catAx>
        <c:axId val="9906555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99066639"/>
        <c:crosses val="autoZero"/>
        <c:auto val="1"/>
        <c:lblAlgn val="ctr"/>
        <c:lblOffset val="100"/>
        <c:noMultiLvlLbl val="0"/>
      </c:catAx>
      <c:valAx>
        <c:axId val="99066639"/>
        <c:scaling>
          <c:orientation val="minMax"/>
        </c:scaling>
        <c:delete val="0"/>
        <c:axPos val="b"/>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990655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rgbClr val="C00000"/>
            </a:solidFill>
            <a:ln>
              <a:noFill/>
            </a:ln>
          </c:spPr>
          <c:dPt>
            <c:idx val="0"/>
            <c:bubble3D val="0"/>
            <c:spPr>
              <a:solidFill>
                <a:srgbClr val="C1927D"/>
              </a:solidFill>
              <a:ln w="19050">
                <a:noFill/>
              </a:ln>
              <a:effectLst/>
            </c:spPr>
            <c:extLst>
              <c:ext xmlns:c16="http://schemas.microsoft.com/office/drawing/2014/chart" uri="{C3380CC4-5D6E-409C-BE32-E72D297353CC}">
                <c16:uniqueId val="{00000001-096D-4CD5-B20D-DDE40DF41888}"/>
              </c:ext>
            </c:extLst>
          </c:dPt>
          <c:dPt>
            <c:idx val="1"/>
            <c:bubble3D val="0"/>
            <c:spPr>
              <a:solidFill>
                <a:srgbClr val="C00000"/>
              </a:solidFill>
              <a:ln w="19050">
                <a:noFill/>
              </a:ln>
              <a:effectLst/>
            </c:spPr>
            <c:extLst>
              <c:ext xmlns:c16="http://schemas.microsoft.com/office/drawing/2014/chart" uri="{C3380CC4-5D6E-409C-BE32-E72D297353CC}">
                <c16:uniqueId val="{00000003-096D-4CD5-B20D-DDE40DF41888}"/>
              </c:ext>
            </c:extLst>
          </c:dPt>
          <c:dLbls>
            <c:dLbl>
              <c:idx val="0"/>
              <c:layout>
                <c:manualLayout>
                  <c:x val="-0.20745780791649204"/>
                  <c:y val="2.3084502606619966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96D-4CD5-B20D-DDE40DF41888}"/>
                </c:ext>
              </c:extLst>
            </c:dLbl>
            <c:dLbl>
              <c:idx val="1"/>
              <c:layout>
                <c:manualLayout>
                  <c:x val="0.23575412396662726"/>
                  <c:y val="-3.7448283226126484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96D-4CD5-B20D-DDE40DF41888}"/>
                </c:ext>
              </c:extLst>
            </c:dLbl>
            <c:spPr>
              <a:noFill/>
              <a:ln>
                <a:noFill/>
              </a:ln>
              <a:effectLst/>
            </c:spPr>
            <c:txPr>
              <a:bodyPr rot="0" spcFirstLastPara="1" vertOverflow="overflow" horzOverflow="overflow" vert="horz" wrap="square" lIns="36576" tIns="19050" rIns="38100" bIns="19050" anchor="ctr" anchorCtr="0">
                <a:spAutoFit/>
              </a:bodyPr>
              <a:lstStyle/>
              <a:p>
                <a:pPr>
                  <a:defRPr lang="en-US"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a:noFill/>
                  <a:ln>
                    <a:noFill/>
                  </a:ln>
                </c15:spPr>
              </c:ext>
            </c:extLst>
          </c:dLbls>
          <c:cat>
            <c:strRef>
              <c:f>gender!$A$2:$A$3</c:f>
              <c:strCache>
                <c:ptCount val="2"/>
                <c:pt idx="0">
                  <c:v>Male</c:v>
                </c:pt>
                <c:pt idx="1">
                  <c:v>Female</c:v>
                </c:pt>
              </c:strCache>
            </c:strRef>
          </c:cat>
          <c:val>
            <c:numRef>
              <c:f>gender!$B$2:$B$3</c:f>
              <c:numCache>
                <c:formatCode>0%</c:formatCode>
                <c:ptCount val="2"/>
                <c:pt idx="0">
                  <c:v>0.43871513102282333</c:v>
                </c:pt>
                <c:pt idx="1">
                  <c:v>0.56128486897717667</c:v>
                </c:pt>
              </c:numCache>
            </c:numRef>
          </c:val>
          <c:extLst>
            <c:ext xmlns:c16="http://schemas.microsoft.com/office/drawing/2014/chart" uri="{C3380CC4-5D6E-409C-BE32-E72D297353CC}">
              <c16:uniqueId val="{00000004-096D-4CD5-B20D-DDE40DF41888}"/>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0" cap="flat" cmpd="sng" algn="ctr">
      <a:no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'city'!$C$1</c:f>
              <c:strCache>
                <c:ptCount val="1"/>
                <c:pt idx="0">
                  <c:v>Column1</c:v>
                </c:pt>
              </c:strCache>
            </c:strRef>
          </c:tx>
          <c:spPr>
            <a:solidFill>
              <a:srgbClr val="C00000"/>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5-724B-49B4-979E-33899EA87DDF}"/>
              </c:ext>
            </c:extLst>
          </c:dPt>
          <c:dPt>
            <c:idx val="1"/>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4-724B-49B4-979E-33899EA87DDF}"/>
              </c:ext>
            </c:extLst>
          </c:dPt>
          <c:dPt>
            <c:idx val="2"/>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3-724B-49B4-979E-33899EA87DDF}"/>
              </c:ext>
            </c:extLst>
          </c:dPt>
          <c:dPt>
            <c:idx val="3"/>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2-724B-49B4-979E-33899EA87DDF}"/>
              </c:ext>
            </c:extLst>
          </c:dPt>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'city'!$A$2:$A$7</c:f>
              <c:strCache>
                <c:ptCount val="6"/>
                <c:pt idx="0">
                  <c:v>Nha Trang</c:v>
                </c:pt>
                <c:pt idx="1">
                  <c:v>Hải Phòng</c:v>
                </c:pt>
                <c:pt idx="2">
                  <c:v>Cần Thơ</c:v>
                </c:pt>
                <c:pt idx="3">
                  <c:v>Đà Nẵng</c:v>
                </c:pt>
                <c:pt idx="4">
                  <c:v>Hồ Chí Minh</c:v>
                </c:pt>
                <c:pt idx="5">
                  <c:v>Hà Nội</c:v>
                </c:pt>
              </c:strCache>
            </c:strRef>
          </c:cat>
          <c:val>
            <c:numRef>
              <c:f>'city'!$C$2:$C$7</c:f>
              <c:numCache>
                <c:formatCode>0%</c:formatCode>
                <c:ptCount val="6"/>
                <c:pt idx="0">
                  <c:v>7.3823612285150747E-2</c:v>
                </c:pt>
                <c:pt idx="1">
                  <c:v>0.11270780501549732</c:v>
                </c:pt>
                <c:pt idx="2">
                  <c:v>0.11468019160326853</c:v>
                </c:pt>
                <c:pt idx="3">
                  <c:v>0.11524373062834602</c:v>
                </c:pt>
                <c:pt idx="4">
                  <c:v>0.29163144547759934</c:v>
                </c:pt>
                <c:pt idx="5">
                  <c:v>0.29191321499013806</c:v>
                </c:pt>
              </c:numCache>
            </c:numRef>
          </c:val>
          <c:extLst>
            <c:ext xmlns:c16="http://schemas.microsoft.com/office/drawing/2014/chart" uri="{C3380CC4-5D6E-409C-BE32-E72D297353CC}">
              <c16:uniqueId val="{00000001-724B-49B4-979E-33899EA87DDF}"/>
            </c:ext>
          </c:extLst>
        </c:ser>
        <c:dLbls>
          <c:dLblPos val="outEnd"/>
          <c:showLegendKey val="0"/>
          <c:showVal val="1"/>
          <c:showCatName val="0"/>
          <c:showSerName val="0"/>
          <c:showPercent val="0"/>
          <c:showBubbleSize val="0"/>
        </c:dLbls>
        <c:gapWidth val="75"/>
        <c:axId val="1506282256"/>
        <c:axId val="1506281176"/>
      </c:barChart>
      <c:catAx>
        <c:axId val="15062822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1506281176"/>
        <c:crosses val="autoZero"/>
        <c:auto val="1"/>
        <c:lblAlgn val="ctr"/>
        <c:lblOffset val="100"/>
        <c:noMultiLvlLbl val="0"/>
      </c:catAx>
      <c:valAx>
        <c:axId val="1506281176"/>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50000"/>
                    <a:lumOff val="50000"/>
                  </a:schemeClr>
                </a:solidFill>
                <a:latin typeface="+mn-lt"/>
                <a:ea typeface="+mn-ea"/>
                <a:cs typeface="+mn-cs"/>
              </a:defRPr>
            </a:pPr>
            <a:endParaRPr lang="en-US"/>
          </a:p>
        </c:txPr>
        <c:crossAx val="1506282256"/>
        <c:crosses val="autoZero"/>
        <c:crossBetween val="between"/>
      </c:valAx>
      <c:spPr>
        <a:noFill/>
        <a:ln>
          <a:noFill/>
        </a:ln>
        <a:effectLst/>
      </c:spPr>
    </c:plotArea>
    <c:plotVisOnly val="1"/>
    <c:dispBlanksAs val="gap"/>
    <c:showDLblsOverMax val="0"/>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en-US" sz="1200" b="0" i="0" u="none" strike="noStrike" kern="1200" spc="0" baseline="0">
              <a:solidFill>
                <a:schemeClr val="tx1">
                  <a:lumMod val="50000"/>
                  <a:lumOff val="50000"/>
                </a:schemeClr>
              </a:solidFill>
              <a:latin typeface="+mn-lt"/>
              <a:ea typeface="+mn-ea"/>
              <a:cs typeface="+mn-cs"/>
            </a:defRPr>
          </a:pPr>
          <a:endParaRPr lang="en-US"/>
        </a:p>
      </c:txPr>
    </c:title>
    <c:autoTitleDeleted val="0"/>
    <c:plotArea>
      <c:layout/>
      <c:barChart>
        <c:barDir val="bar"/>
        <c:grouping val="clustered"/>
        <c:varyColors val="0"/>
        <c:ser>
          <c:idx val="0"/>
          <c:order val="0"/>
          <c:tx>
            <c:strRef>
              <c:f>occupation!$B$1</c:f>
              <c:strCache>
                <c:ptCount val="1"/>
                <c:pt idx="0">
                  <c:v>Column1</c:v>
                </c:pt>
              </c:strCache>
            </c:strRef>
          </c:tx>
          <c:spPr>
            <a:solidFill>
              <a:srgbClr val="C00000"/>
            </a:solidFill>
            <a:ln>
              <a:noFill/>
            </a:ln>
            <a:effectLst/>
          </c:spPr>
          <c:invertIfNegative val="0"/>
          <c:cat>
            <c:strRef>
              <c:f>occupation!$A$2:$A$10</c:f>
              <c:strCache>
                <c:ptCount val="9"/>
                <c:pt idx="0">
                  <c:v>Semi-skilled Labor</c:v>
                </c:pt>
                <c:pt idx="1">
                  <c:v>Professional Roles</c:v>
                </c:pt>
                <c:pt idx="2">
                  <c:v>Student</c:v>
                </c:pt>
                <c:pt idx="3">
                  <c:v>Artist, Broker &amp; Freelancer</c:v>
                </c:pt>
                <c:pt idx="4">
                  <c:v>Skilled Labor</c:v>
                </c:pt>
                <c:pt idx="5">
                  <c:v>SME Business Owner</c:v>
                </c:pt>
                <c:pt idx="6">
                  <c:v>Non-working</c:v>
                </c:pt>
                <c:pt idx="7">
                  <c:v>Unskilled Labor</c:v>
                </c:pt>
                <c:pt idx="8">
                  <c:v>Office Worker</c:v>
                </c:pt>
              </c:strCache>
            </c:strRef>
          </c:cat>
          <c:val>
            <c:numRef>
              <c:f>occupation!$B$2:$B$10</c:f>
              <c:numCache>
                <c:formatCode>0%</c:formatCode>
                <c:ptCount val="9"/>
                <c:pt idx="0">
                  <c:v>4.0891144952058658E-2</c:v>
                </c:pt>
                <c:pt idx="1">
                  <c:v>5.9221658206429779E-2</c:v>
                </c:pt>
                <c:pt idx="2">
                  <c:v>9.1652566271855612E-2</c:v>
                </c:pt>
                <c:pt idx="3">
                  <c:v>9.7856739988719688E-2</c:v>
                </c:pt>
                <c:pt idx="4">
                  <c:v>9.842075578116187E-2</c:v>
                </c:pt>
                <c:pt idx="5">
                  <c:v>0.13564579808234631</c:v>
                </c:pt>
                <c:pt idx="6">
                  <c:v>0.13705583756345177</c:v>
                </c:pt>
                <c:pt idx="7">
                  <c:v>0.13761985335589397</c:v>
                </c:pt>
                <c:pt idx="8">
                  <c:v>0.20163564579808235</c:v>
                </c:pt>
              </c:numCache>
            </c:numRef>
          </c:val>
          <c:extLst>
            <c:ext xmlns:c16="http://schemas.microsoft.com/office/drawing/2014/chart" uri="{C3380CC4-5D6E-409C-BE32-E72D297353CC}">
              <c16:uniqueId val="{00000000-61BE-406F-B883-F966184893E0}"/>
            </c:ext>
          </c:extLst>
        </c:ser>
        <c:dLbls>
          <c:showLegendKey val="0"/>
          <c:showVal val="0"/>
          <c:showCatName val="0"/>
          <c:showSerName val="0"/>
          <c:showPercent val="0"/>
          <c:showBubbleSize val="0"/>
        </c:dLbls>
        <c:gapWidth val="75"/>
        <c:axId val="99065559"/>
        <c:axId val="99066639"/>
      </c:barChart>
      <c:catAx>
        <c:axId val="9906555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99066639"/>
        <c:crosses val="autoZero"/>
        <c:auto val="1"/>
        <c:lblAlgn val="ctr"/>
        <c:lblOffset val="100"/>
        <c:noMultiLvlLbl val="0"/>
      </c:catAx>
      <c:valAx>
        <c:axId val="99066639"/>
        <c:scaling>
          <c:orientation val="minMax"/>
        </c:scaling>
        <c:delete val="0"/>
        <c:axPos val="b"/>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990655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rgbClr val="C00000"/>
            </a:solidFill>
            <a:ln>
              <a:noFill/>
            </a:ln>
          </c:spPr>
          <c:dPt>
            <c:idx val="0"/>
            <c:bubble3D val="0"/>
            <c:spPr>
              <a:solidFill>
                <a:srgbClr val="C1927D"/>
              </a:solidFill>
              <a:ln w="19050">
                <a:noFill/>
              </a:ln>
              <a:effectLst/>
            </c:spPr>
            <c:extLst>
              <c:ext xmlns:c16="http://schemas.microsoft.com/office/drawing/2014/chart" uri="{C3380CC4-5D6E-409C-BE32-E72D297353CC}">
                <c16:uniqueId val="{00000001-096D-4CD5-B20D-DDE40DF41888}"/>
              </c:ext>
            </c:extLst>
          </c:dPt>
          <c:dPt>
            <c:idx val="1"/>
            <c:bubble3D val="0"/>
            <c:spPr>
              <a:solidFill>
                <a:srgbClr val="C00000"/>
              </a:solidFill>
              <a:ln w="19050">
                <a:noFill/>
              </a:ln>
              <a:effectLst/>
            </c:spPr>
            <c:extLst>
              <c:ext xmlns:c16="http://schemas.microsoft.com/office/drawing/2014/chart" uri="{C3380CC4-5D6E-409C-BE32-E72D297353CC}">
                <c16:uniqueId val="{00000003-096D-4CD5-B20D-DDE40DF41888}"/>
              </c:ext>
            </c:extLst>
          </c:dPt>
          <c:dLbls>
            <c:dLbl>
              <c:idx val="0"/>
              <c:layout>
                <c:manualLayout>
                  <c:x val="-0.20745780791649204"/>
                  <c:y val="2.3084502606619966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96D-4CD5-B20D-DDE40DF41888}"/>
                </c:ext>
              </c:extLst>
            </c:dLbl>
            <c:dLbl>
              <c:idx val="1"/>
              <c:layout>
                <c:manualLayout>
                  <c:x val="0.23575412396662726"/>
                  <c:y val="-3.7448283226126484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96D-4CD5-B20D-DDE40DF41888}"/>
                </c:ext>
              </c:extLst>
            </c:dLbl>
            <c:spPr>
              <a:noFill/>
              <a:ln>
                <a:noFill/>
              </a:ln>
              <a:effectLst/>
            </c:spPr>
            <c:txPr>
              <a:bodyPr rot="0" spcFirstLastPara="1" vertOverflow="overflow" horzOverflow="overflow" vert="horz" wrap="square" lIns="36576" tIns="19050" rIns="38100" bIns="19050" anchor="ctr" anchorCtr="0">
                <a:spAutoFit/>
              </a:bodyPr>
              <a:lstStyle/>
              <a:p>
                <a:pPr>
                  <a:defRPr lang="en-US"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a:noFill/>
                  <a:ln>
                    <a:noFill/>
                  </a:ln>
                </c15:spPr>
              </c:ext>
            </c:extLst>
          </c:dLbls>
          <c:cat>
            <c:strRef>
              <c:f>gender!$A$2:$A$3</c:f>
              <c:strCache>
                <c:ptCount val="2"/>
                <c:pt idx="0">
                  <c:v>Male</c:v>
                </c:pt>
                <c:pt idx="1">
                  <c:v>Female</c:v>
                </c:pt>
              </c:strCache>
            </c:strRef>
          </c:cat>
          <c:val>
            <c:numRef>
              <c:f>gender!$B$2:$B$3</c:f>
              <c:numCache>
                <c:formatCode>0%</c:formatCode>
                <c:ptCount val="2"/>
                <c:pt idx="0">
                  <c:v>0.43871513102282333</c:v>
                </c:pt>
                <c:pt idx="1">
                  <c:v>0.56128486897717667</c:v>
                </c:pt>
              </c:numCache>
            </c:numRef>
          </c:val>
          <c:extLst>
            <c:ext xmlns:c16="http://schemas.microsoft.com/office/drawing/2014/chart" uri="{C3380CC4-5D6E-409C-BE32-E72D297353CC}">
              <c16:uniqueId val="{00000004-096D-4CD5-B20D-DDE40DF41888}"/>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0" cap="flat" cmpd="sng" algn="ctr">
      <a:no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'city'!$C$1</c:f>
              <c:strCache>
                <c:ptCount val="1"/>
                <c:pt idx="0">
                  <c:v>Column1</c:v>
                </c:pt>
              </c:strCache>
            </c:strRef>
          </c:tx>
          <c:spPr>
            <a:solidFill>
              <a:srgbClr val="C00000"/>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5-724B-49B4-979E-33899EA87DDF}"/>
              </c:ext>
            </c:extLst>
          </c:dPt>
          <c:dPt>
            <c:idx val="1"/>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4-724B-49B4-979E-33899EA87DDF}"/>
              </c:ext>
            </c:extLst>
          </c:dPt>
          <c:dPt>
            <c:idx val="2"/>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3-724B-49B4-979E-33899EA87DDF}"/>
              </c:ext>
            </c:extLst>
          </c:dPt>
          <c:dPt>
            <c:idx val="3"/>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2-724B-49B4-979E-33899EA87DDF}"/>
              </c:ext>
            </c:extLst>
          </c:dPt>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'city'!$A$2:$A$7</c:f>
              <c:strCache>
                <c:ptCount val="6"/>
                <c:pt idx="0">
                  <c:v>Nha Trang</c:v>
                </c:pt>
                <c:pt idx="1">
                  <c:v>Hải Phòng</c:v>
                </c:pt>
                <c:pt idx="2">
                  <c:v>Cần Thơ</c:v>
                </c:pt>
                <c:pt idx="3">
                  <c:v>Đà Nẵng</c:v>
                </c:pt>
                <c:pt idx="4">
                  <c:v>Hồ Chí Minh</c:v>
                </c:pt>
                <c:pt idx="5">
                  <c:v>Hà Nội</c:v>
                </c:pt>
              </c:strCache>
            </c:strRef>
          </c:cat>
          <c:val>
            <c:numRef>
              <c:f>'city'!$C$2:$C$7</c:f>
              <c:numCache>
                <c:formatCode>0%</c:formatCode>
                <c:ptCount val="6"/>
                <c:pt idx="0">
                  <c:v>7.3823612285150747E-2</c:v>
                </c:pt>
                <c:pt idx="1">
                  <c:v>0.11270780501549732</c:v>
                </c:pt>
                <c:pt idx="2">
                  <c:v>0.11468019160326853</c:v>
                </c:pt>
                <c:pt idx="3">
                  <c:v>0.11524373062834602</c:v>
                </c:pt>
                <c:pt idx="4">
                  <c:v>0.29163144547759934</c:v>
                </c:pt>
                <c:pt idx="5">
                  <c:v>0.29191321499013806</c:v>
                </c:pt>
              </c:numCache>
            </c:numRef>
          </c:val>
          <c:extLst>
            <c:ext xmlns:c16="http://schemas.microsoft.com/office/drawing/2014/chart" uri="{C3380CC4-5D6E-409C-BE32-E72D297353CC}">
              <c16:uniqueId val="{00000001-724B-49B4-979E-33899EA87DDF}"/>
            </c:ext>
          </c:extLst>
        </c:ser>
        <c:dLbls>
          <c:dLblPos val="outEnd"/>
          <c:showLegendKey val="0"/>
          <c:showVal val="1"/>
          <c:showCatName val="0"/>
          <c:showSerName val="0"/>
          <c:showPercent val="0"/>
          <c:showBubbleSize val="0"/>
        </c:dLbls>
        <c:gapWidth val="75"/>
        <c:axId val="1506282256"/>
        <c:axId val="1506281176"/>
      </c:barChart>
      <c:catAx>
        <c:axId val="15062822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1506281176"/>
        <c:crosses val="autoZero"/>
        <c:auto val="1"/>
        <c:lblAlgn val="ctr"/>
        <c:lblOffset val="100"/>
        <c:noMultiLvlLbl val="0"/>
      </c:catAx>
      <c:valAx>
        <c:axId val="1506281176"/>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50000"/>
                    <a:lumOff val="50000"/>
                  </a:schemeClr>
                </a:solidFill>
                <a:latin typeface="+mn-lt"/>
                <a:ea typeface="+mn-ea"/>
                <a:cs typeface="+mn-cs"/>
              </a:defRPr>
            </a:pPr>
            <a:endParaRPr lang="en-US"/>
          </a:p>
        </c:txPr>
        <c:crossAx val="1506282256"/>
        <c:crosses val="autoZero"/>
        <c:crossBetween val="between"/>
      </c:valAx>
      <c:spPr>
        <a:noFill/>
        <a:ln>
          <a:noFill/>
        </a:ln>
        <a:effectLst/>
      </c:spPr>
    </c:plotArea>
    <c:plotVisOnly val="1"/>
    <c:dispBlanksAs val="gap"/>
    <c:showDLblsOverMax val="0"/>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en-US" sz="1200" b="0" i="0" u="none" strike="noStrike" kern="1200" spc="0" baseline="0">
              <a:solidFill>
                <a:schemeClr val="tx1">
                  <a:lumMod val="50000"/>
                  <a:lumOff val="50000"/>
                </a:schemeClr>
              </a:solidFill>
              <a:latin typeface="+mn-lt"/>
              <a:ea typeface="+mn-ea"/>
              <a:cs typeface="+mn-cs"/>
            </a:defRPr>
          </a:pPr>
          <a:endParaRPr lang="en-US"/>
        </a:p>
      </c:txPr>
    </c:title>
    <c:autoTitleDeleted val="0"/>
    <c:plotArea>
      <c:layout/>
      <c:barChart>
        <c:barDir val="bar"/>
        <c:grouping val="clustered"/>
        <c:varyColors val="0"/>
        <c:ser>
          <c:idx val="0"/>
          <c:order val="0"/>
          <c:tx>
            <c:strRef>
              <c:f>occupation!$B$1</c:f>
              <c:strCache>
                <c:ptCount val="1"/>
                <c:pt idx="0">
                  <c:v>Column1</c:v>
                </c:pt>
              </c:strCache>
            </c:strRef>
          </c:tx>
          <c:spPr>
            <a:solidFill>
              <a:srgbClr val="C00000"/>
            </a:solidFill>
            <a:ln>
              <a:noFill/>
            </a:ln>
            <a:effectLst/>
          </c:spPr>
          <c:invertIfNegative val="0"/>
          <c:cat>
            <c:strRef>
              <c:f>occupation!$A$2:$A$10</c:f>
              <c:strCache>
                <c:ptCount val="9"/>
                <c:pt idx="0">
                  <c:v>Semi-skilled Labor</c:v>
                </c:pt>
                <c:pt idx="1">
                  <c:v>Professional Roles</c:v>
                </c:pt>
                <c:pt idx="2">
                  <c:v>Student</c:v>
                </c:pt>
                <c:pt idx="3">
                  <c:v>Artist, Broker &amp; Freelancer</c:v>
                </c:pt>
                <c:pt idx="4">
                  <c:v>Skilled Labor</c:v>
                </c:pt>
                <c:pt idx="5">
                  <c:v>SME Business Owner</c:v>
                </c:pt>
                <c:pt idx="6">
                  <c:v>Non-working</c:v>
                </c:pt>
                <c:pt idx="7">
                  <c:v>Unskilled Labor</c:v>
                </c:pt>
                <c:pt idx="8">
                  <c:v>Office Worker</c:v>
                </c:pt>
              </c:strCache>
            </c:strRef>
          </c:cat>
          <c:val>
            <c:numRef>
              <c:f>occupation!$B$2:$B$10</c:f>
              <c:numCache>
                <c:formatCode>0%</c:formatCode>
                <c:ptCount val="9"/>
                <c:pt idx="0">
                  <c:v>4.0891144952058658E-2</c:v>
                </c:pt>
                <c:pt idx="1">
                  <c:v>5.9221658206429779E-2</c:v>
                </c:pt>
                <c:pt idx="2">
                  <c:v>9.1652566271855612E-2</c:v>
                </c:pt>
                <c:pt idx="3">
                  <c:v>9.7856739988719688E-2</c:v>
                </c:pt>
                <c:pt idx="4">
                  <c:v>9.842075578116187E-2</c:v>
                </c:pt>
                <c:pt idx="5">
                  <c:v>0.13564579808234631</c:v>
                </c:pt>
                <c:pt idx="6">
                  <c:v>0.13705583756345177</c:v>
                </c:pt>
                <c:pt idx="7">
                  <c:v>0.13761985335589397</c:v>
                </c:pt>
                <c:pt idx="8">
                  <c:v>0.20163564579808235</c:v>
                </c:pt>
              </c:numCache>
            </c:numRef>
          </c:val>
          <c:extLst>
            <c:ext xmlns:c16="http://schemas.microsoft.com/office/drawing/2014/chart" uri="{C3380CC4-5D6E-409C-BE32-E72D297353CC}">
              <c16:uniqueId val="{00000000-61BE-406F-B883-F966184893E0}"/>
            </c:ext>
          </c:extLst>
        </c:ser>
        <c:dLbls>
          <c:showLegendKey val="0"/>
          <c:showVal val="0"/>
          <c:showCatName val="0"/>
          <c:showSerName val="0"/>
          <c:showPercent val="0"/>
          <c:showBubbleSize val="0"/>
        </c:dLbls>
        <c:gapWidth val="75"/>
        <c:axId val="99065559"/>
        <c:axId val="99066639"/>
      </c:barChart>
      <c:catAx>
        <c:axId val="9906555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99066639"/>
        <c:crosses val="autoZero"/>
        <c:auto val="1"/>
        <c:lblAlgn val="ctr"/>
        <c:lblOffset val="100"/>
        <c:noMultiLvlLbl val="0"/>
      </c:catAx>
      <c:valAx>
        <c:axId val="99066639"/>
        <c:scaling>
          <c:orientation val="minMax"/>
        </c:scaling>
        <c:delete val="0"/>
        <c:axPos val="b"/>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lumMod val="50000"/>
                    <a:lumOff val="50000"/>
                  </a:schemeClr>
                </a:solidFill>
                <a:latin typeface="+mn-lt"/>
                <a:ea typeface="+mn-ea"/>
                <a:cs typeface="+mn-cs"/>
              </a:defRPr>
            </a:pPr>
            <a:endParaRPr lang="en-US"/>
          </a:p>
        </c:txPr>
        <c:crossAx val="990655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408E2B-7394-44D1-8F58-87C83FDD5359}"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BD6273-57F7-49D0-8EB3-9DDB94DA1B1B}" type="slidenum">
              <a:rPr lang="en-US" smtClean="0"/>
              <a:t>‹#›</a:t>
            </a:fld>
            <a:endParaRPr lang="en-US"/>
          </a:p>
        </p:txBody>
      </p:sp>
    </p:spTree>
    <p:extLst>
      <p:ext uri="{BB962C8B-B14F-4D97-AF65-F5344CB8AC3E}">
        <p14:creationId xmlns:p14="http://schemas.microsoft.com/office/powerpoint/2010/main" val="2314272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D1346-694C-DF75-3E41-D5630A211DAC}"/>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2188B7-59D6-9BF4-FB03-B0A3FC14EA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BBC647-5679-C4D0-99E0-4AA3E1A082E7}"/>
              </a:ext>
            </a:extLst>
          </p:cNvPr>
          <p:cNvSpPr>
            <a:spLocks noGrp="1"/>
          </p:cNvSpPr>
          <p:nvPr>
            <p:ph type="dt" sz="half" idx="10"/>
          </p:nvPr>
        </p:nvSpPr>
        <p:spPr>
          <a:xfrm>
            <a:off x="838200" y="6356350"/>
            <a:ext cx="2743200" cy="365125"/>
          </a:xfrm>
          <a:prstGeom prst="rect">
            <a:avLst/>
          </a:prstGeom>
        </p:spPr>
        <p:txBody>
          <a:bodyPr/>
          <a:lstStyle/>
          <a:p>
            <a:r>
              <a:rPr lang="en-US"/>
              <a:t>Source</a:t>
            </a:r>
          </a:p>
        </p:txBody>
      </p:sp>
      <p:sp>
        <p:nvSpPr>
          <p:cNvPr id="5" name="Footer Placeholder 4">
            <a:extLst>
              <a:ext uri="{FF2B5EF4-FFF2-40B4-BE49-F238E27FC236}">
                <a16:creationId xmlns:a16="http://schemas.microsoft.com/office/drawing/2014/main" id="{3071458F-5E9B-20F7-CA72-78612BAE1CB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77AC893-820B-759B-E5D6-967410DC9FD4}"/>
              </a:ext>
            </a:extLst>
          </p:cNvPr>
          <p:cNvSpPr>
            <a:spLocks noGrp="1"/>
          </p:cNvSpPr>
          <p:nvPr>
            <p:ph type="sldNum" sz="quarter" idx="12"/>
          </p:nvPr>
        </p:nvSpPr>
        <p:spPr>
          <a:xfrm>
            <a:off x="8610600" y="6356350"/>
            <a:ext cx="2743200" cy="365125"/>
          </a:xfrm>
          <a:prstGeom prst="rect">
            <a:avLst/>
          </a:prstGeom>
        </p:spPr>
        <p:txBody>
          <a:bodyPr/>
          <a:lstStyle/>
          <a:p>
            <a:fld id="{2D2776A3-3430-4A99-9DCB-D67D51D6910E}" type="slidenum">
              <a:rPr lang="en-US" smtClean="0"/>
              <a:t>‹#›</a:t>
            </a:fld>
            <a:endParaRPr lang="en-US"/>
          </a:p>
        </p:txBody>
      </p:sp>
    </p:spTree>
    <p:extLst>
      <p:ext uri="{BB962C8B-B14F-4D97-AF65-F5344CB8AC3E}">
        <p14:creationId xmlns:p14="http://schemas.microsoft.com/office/powerpoint/2010/main" val="617033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55DC6-83B1-F073-BA08-547BB113DCAF}"/>
              </a:ext>
            </a:extLst>
          </p:cNvPr>
          <p:cNvSpPr>
            <a:spLocks noGrp="1"/>
          </p:cNvSpPr>
          <p:nvPr>
            <p:ph type="title"/>
          </p:nvPr>
        </p:nvSpPr>
        <p:spPr>
          <a:xfrm>
            <a:off x="838200" y="215156"/>
            <a:ext cx="10515600" cy="923270"/>
          </a:xfrm>
          <a:prstGeom prst="rect">
            <a:avLst/>
          </a:prstGeom>
        </p:spPr>
        <p:txBody>
          <a:bodyPr/>
          <a:lstStyle/>
          <a:p>
            <a:r>
              <a:rPr lang="en-US" dirty="0"/>
              <a:t>Click to edit Master title style</a:t>
            </a:r>
          </a:p>
        </p:txBody>
      </p:sp>
      <p:sp>
        <p:nvSpPr>
          <p:cNvPr id="13" name="Date Placeholder 12">
            <a:extLst>
              <a:ext uri="{FF2B5EF4-FFF2-40B4-BE49-F238E27FC236}">
                <a16:creationId xmlns:a16="http://schemas.microsoft.com/office/drawing/2014/main" id="{BA71E701-DF10-21F0-EE3D-E560605E44E6}"/>
              </a:ext>
            </a:extLst>
          </p:cNvPr>
          <p:cNvSpPr>
            <a:spLocks noGrp="1"/>
          </p:cNvSpPr>
          <p:nvPr>
            <p:ph type="dt" sz="half" idx="10"/>
          </p:nvPr>
        </p:nvSpPr>
        <p:spPr>
          <a:xfrm>
            <a:off x="838200" y="6356350"/>
            <a:ext cx="2743200" cy="365125"/>
          </a:xfrm>
          <a:prstGeom prst="rect">
            <a:avLst/>
          </a:prstGeom>
        </p:spPr>
        <p:txBody>
          <a:bodyPr/>
          <a:lstStyle/>
          <a:p>
            <a:r>
              <a:rPr lang="en-US"/>
              <a:t>Source</a:t>
            </a:r>
            <a:endParaRPr lang="en-US" dirty="0"/>
          </a:p>
        </p:txBody>
      </p:sp>
      <p:sp>
        <p:nvSpPr>
          <p:cNvPr id="14" name="Footer Placeholder 13">
            <a:extLst>
              <a:ext uri="{FF2B5EF4-FFF2-40B4-BE49-F238E27FC236}">
                <a16:creationId xmlns:a16="http://schemas.microsoft.com/office/drawing/2014/main" id="{D7A2B512-1A6F-C87A-B281-199373F182D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5" name="Slide Number Placeholder 14">
            <a:extLst>
              <a:ext uri="{FF2B5EF4-FFF2-40B4-BE49-F238E27FC236}">
                <a16:creationId xmlns:a16="http://schemas.microsoft.com/office/drawing/2014/main" id="{1E434D71-109E-638D-A8F2-3520BF814CCA}"/>
              </a:ext>
            </a:extLst>
          </p:cNvPr>
          <p:cNvSpPr>
            <a:spLocks noGrp="1"/>
          </p:cNvSpPr>
          <p:nvPr>
            <p:ph type="sldNum" sz="quarter" idx="12"/>
          </p:nvPr>
        </p:nvSpPr>
        <p:spPr>
          <a:xfrm>
            <a:off x="8610600" y="6356350"/>
            <a:ext cx="2743200" cy="365125"/>
          </a:xfrm>
          <a:prstGeom prst="rect">
            <a:avLst/>
          </a:prstGeom>
        </p:spPr>
        <p:txBody>
          <a:bodyPr/>
          <a:lstStyle/>
          <a:p>
            <a:fld id="{2D2776A3-3430-4A99-9DCB-D67D51D6910E}" type="slidenum">
              <a:rPr lang="en-US" smtClean="0"/>
              <a:t>‹#›</a:t>
            </a:fld>
            <a:endParaRPr lang="en-US"/>
          </a:p>
        </p:txBody>
      </p:sp>
      <p:sp>
        <p:nvSpPr>
          <p:cNvPr id="6" name="Content Placeholder 2">
            <a:extLst>
              <a:ext uri="{FF2B5EF4-FFF2-40B4-BE49-F238E27FC236}">
                <a16:creationId xmlns:a16="http://schemas.microsoft.com/office/drawing/2014/main" id="{AFFAEDAA-03DF-5682-A86E-EEC651232C11}"/>
              </a:ext>
            </a:extLst>
          </p:cNvPr>
          <p:cNvSpPr>
            <a:spLocks noGrp="1"/>
          </p:cNvSpPr>
          <p:nvPr>
            <p:ph sz="half" idx="13"/>
          </p:nvPr>
        </p:nvSpPr>
        <p:spPr>
          <a:xfrm>
            <a:off x="838201" y="1317813"/>
            <a:ext cx="10515599" cy="393226"/>
          </a:xfrm>
        </p:spPr>
        <p:txBody>
          <a:bodyPr/>
          <a:lstStyle/>
          <a:p>
            <a:pPr lvl="0"/>
            <a:r>
              <a:rPr lang="en-US" dirty="0"/>
              <a:t>Click to edit Master text styles</a:t>
            </a:r>
          </a:p>
        </p:txBody>
      </p:sp>
      <p:sp>
        <p:nvSpPr>
          <p:cNvPr id="7" name="Content Placeholder 2">
            <a:extLst>
              <a:ext uri="{FF2B5EF4-FFF2-40B4-BE49-F238E27FC236}">
                <a16:creationId xmlns:a16="http://schemas.microsoft.com/office/drawing/2014/main" id="{2C7DA4CD-1849-FFBF-0635-1D11F6301BD3}"/>
              </a:ext>
            </a:extLst>
          </p:cNvPr>
          <p:cNvSpPr>
            <a:spLocks noGrp="1"/>
          </p:cNvSpPr>
          <p:nvPr>
            <p:ph sz="half" idx="14"/>
          </p:nvPr>
        </p:nvSpPr>
        <p:spPr>
          <a:xfrm>
            <a:off x="838200" y="1711039"/>
            <a:ext cx="10515599" cy="4465925"/>
          </a:xfrm>
        </p:spPr>
        <p:txBody>
          <a:bodyPr/>
          <a:lstStyle>
            <a:lvl1pPr>
              <a:defRPr sz="1300">
                <a:solidFill>
                  <a:schemeClr val="tx1">
                    <a:lumMod val="75000"/>
                    <a:lumOff val="25000"/>
                  </a:schemeClr>
                </a:solidFill>
                <a:latin typeface="Segoe UI Variable Display" pitchFamily="2" charset="0"/>
              </a:defRPr>
            </a:lvl1pPr>
          </a:lstStyle>
          <a:p>
            <a:pPr lvl="0"/>
            <a:r>
              <a:rPr lang="en-US" dirty="0"/>
              <a:t>Click to edit Master text styles</a:t>
            </a:r>
          </a:p>
        </p:txBody>
      </p:sp>
    </p:spTree>
    <p:extLst>
      <p:ext uri="{BB962C8B-B14F-4D97-AF65-F5344CB8AC3E}">
        <p14:creationId xmlns:p14="http://schemas.microsoft.com/office/powerpoint/2010/main" val="2343325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9CFE1-F48F-0874-3398-465D78F61A8C}"/>
              </a:ext>
            </a:extLst>
          </p:cNvPr>
          <p:cNvSpPr>
            <a:spLocks noGrp="1"/>
          </p:cNvSpPr>
          <p:nvPr>
            <p:ph type="title"/>
          </p:nvPr>
        </p:nvSpPr>
        <p:spPr>
          <a:xfrm>
            <a:off x="838200" y="215158"/>
            <a:ext cx="10515600" cy="923360"/>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16552E2-253A-B506-7F18-3757E9DEE385}"/>
              </a:ext>
            </a:extLst>
          </p:cNvPr>
          <p:cNvSpPr>
            <a:spLocks noGrp="1"/>
          </p:cNvSpPr>
          <p:nvPr>
            <p:ph sz="half" idx="1"/>
          </p:nvPr>
        </p:nvSpPr>
        <p:spPr>
          <a:xfrm>
            <a:off x="838201" y="1330644"/>
            <a:ext cx="5002731" cy="393226"/>
          </a:xfrm>
        </p:spPr>
        <p:txBody>
          <a:bodyPr/>
          <a:lstStyle/>
          <a:p>
            <a:pPr lvl="0"/>
            <a:r>
              <a:rPr lang="en-US" dirty="0"/>
              <a:t>Click to edit Master text styles</a:t>
            </a:r>
          </a:p>
        </p:txBody>
      </p:sp>
      <p:sp>
        <p:nvSpPr>
          <p:cNvPr id="8" name="Date Placeholder 7">
            <a:extLst>
              <a:ext uri="{FF2B5EF4-FFF2-40B4-BE49-F238E27FC236}">
                <a16:creationId xmlns:a16="http://schemas.microsoft.com/office/drawing/2014/main" id="{2C762BB9-4A50-C723-F401-001B4BBCE868}"/>
              </a:ext>
            </a:extLst>
          </p:cNvPr>
          <p:cNvSpPr>
            <a:spLocks noGrp="1"/>
          </p:cNvSpPr>
          <p:nvPr>
            <p:ph type="dt" sz="half" idx="10"/>
          </p:nvPr>
        </p:nvSpPr>
        <p:spPr>
          <a:xfrm>
            <a:off x="838200" y="6356350"/>
            <a:ext cx="2743200" cy="365125"/>
          </a:xfrm>
          <a:prstGeom prst="rect">
            <a:avLst/>
          </a:prstGeom>
        </p:spPr>
        <p:txBody>
          <a:bodyPr/>
          <a:lstStyle/>
          <a:p>
            <a:r>
              <a:rPr lang="en-US" dirty="0"/>
              <a:t>Source</a:t>
            </a:r>
          </a:p>
        </p:txBody>
      </p:sp>
      <p:sp>
        <p:nvSpPr>
          <p:cNvPr id="9" name="Footer Placeholder 8">
            <a:extLst>
              <a:ext uri="{FF2B5EF4-FFF2-40B4-BE49-F238E27FC236}">
                <a16:creationId xmlns:a16="http://schemas.microsoft.com/office/drawing/2014/main" id="{9658862F-37C5-C648-63CD-0152A97F1CCD}"/>
              </a:ext>
            </a:extLst>
          </p:cNvPr>
          <p:cNvSpPr>
            <a:spLocks noGrp="1"/>
          </p:cNvSpPr>
          <p:nvPr>
            <p:ph type="ftr" sz="quarter" idx="11"/>
          </p:nvPr>
        </p:nvSpPr>
        <p:spPr>
          <a:xfrm>
            <a:off x="4038600" y="6356350"/>
            <a:ext cx="4114800" cy="365125"/>
          </a:xfrm>
          <a:prstGeom prst="rect">
            <a:avLst/>
          </a:prstGeom>
        </p:spPr>
        <p:txBody>
          <a:bodyPr/>
          <a:lstStyle>
            <a:lvl1pPr>
              <a:defRPr sz="1000"/>
            </a:lvl1pPr>
          </a:lstStyle>
          <a:p>
            <a:endParaRPr lang="en-US" sz="1000" dirty="0"/>
          </a:p>
        </p:txBody>
      </p:sp>
      <p:sp>
        <p:nvSpPr>
          <p:cNvPr id="10" name="Slide Number Placeholder 9">
            <a:extLst>
              <a:ext uri="{FF2B5EF4-FFF2-40B4-BE49-F238E27FC236}">
                <a16:creationId xmlns:a16="http://schemas.microsoft.com/office/drawing/2014/main" id="{80781E91-6B8A-F763-AADB-207C9680EEA3}"/>
              </a:ext>
            </a:extLst>
          </p:cNvPr>
          <p:cNvSpPr>
            <a:spLocks noGrp="1"/>
          </p:cNvSpPr>
          <p:nvPr>
            <p:ph type="sldNum" sz="quarter" idx="12"/>
          </p:nvPr>
        </p:nvSpPr>
        <p:spPr>
          <a:xfrm>
            <a:off x="8610600" y="6356350"/>
            <a:ext cx="2743200" cy="365125"/>
          </a:xfrm>
          <a:prstGeom prst="rect">
            <a:avLst/>
          </a:prstGeom>
        </p:spPr>
        <p:txBody>
          <a:bodyPr/>
          <a:lstStyle/>
          <a:p>
            <a:fld id="{2D2776A3-3430-4A99-9DCB-D67D51D6910E}" type="slidenum">
              <a:rPr lang="en-US" smtClean="0"/>
              <a:t>‹#›</a:t>
            </a:fld>
            <a:endParaRPr lang="en-US" dirty="0"/>
          </a:p>
        </p:txBody>
      </p:sp>
      <p:sp>
        <p:nvSpPr>
          <p:cNvPr id="5" name="Content Placeholder 2">
            <a:extLst>
              <a:ext uri="{FF2B5EF4-FFF2-40B4-BE49-F238E27FC236}">
                <a16:creationId xmlns:a16="http://schemas.microsoft.com/office/drawing/2014/main" id="{B4ABDDE9-5B66-BCA0-6AF8-44B42F20847C}"/>
              </a:ext>
            </a:extLst>
          </p:cNvPr>
          <p:cNvSpPr>
            <a:spLocks noGrp="1"/>
          </p:cNvSpPr>
          <p:nvPr>
            <p:ph sz="half" idx="13"/>
          </p:nvPr>
        </p:nvSpPr>
        <p:spPr>
          <a:xfrm>
            <a:off x="838200" y="1723870"/>
            <a:ext cx="5002731" cy="4453093"/>
          </a:xfrm>
        </p:spPr>
        <p:txBody>
          <a:bodyPr/>
          <a:lstStyle>
            <a:lvl1pPr>
              <a:defRPr sz="1300">
                <a:solidFill>
                  <a:schemeClr val="tx1">
                    <a:lumMod val="75000"/>
                    <a:lumOff val="25000"/>
                  </a:schemeClr>
                </a:solidFill>
                <a:latin typeface="Segoe UI Variable Display" pitchFamily="2" charset="0"/>
              </a:defRPr>
            </a:lvl1pPr>
          </a:lstStyle>
          <a:p>
            <a:pPr lvl="0"/>
            <a:r>
              <a:rPr lang="en-US" dirty="0"/>
              <a:t>Click to edit Master text styles</a:t>
            </a:r>
          </a:p>
        </p:txBody>
      </p:sp>
      <p:sp>
        <p:nvSpPr>
          <p:cNvPr id="6" name="Content Placeholder 2">
            <a:extLst>
              <a:ext uri="{FF2B5EF4-FFF2-40B4-BE49-F238E27FC236}">
                <a16:creationId xmlns:a16="http://schemas.microsoft.com/office/drawing/2014/main" id="{B08C925D-E478-F861-006E-76500665B520}"/>
              </a:ext>
            </a:extLst>
          </p:cNvPr>
          <p:cNvSpPr>
            <a:spLocks noGrp="1"/>
          </p:cNvSpPr>
          <p:nvPr>
            <p:ph sz="half" idx="14"/>
          </p:nvPr>
        </p:nvSpPr>
        <p:spPr>
          <a:xfrm>
            <a:off x="6351068" y="1723870"/>
            <a:ext cx="5002731" cy="4453093"/>
          </a:xfrm>
        </p:spPr>
        <p:txBody>
          <a:bodyPr/>
          <a:lstStyle>
            <a:lvl1pPr>
              <a:defRPr sz="1300">
                <a:solidFill>
                  <a:schemeClr val="tx1">
                    <a:lumMod val="75000"/>
                    <a:lumOff val="25000"/>
                  </a:schemeClr>
                </a:solidFill>
                <a:latin typeface="Segoe UI Variable Display" pitchFamily="2" charset="0"/>
              </a:defRPr>
            </a:lvl1pPr>
          </a:lstStyle>
          <a:p>
            <a:pPr lvl="0"/>
            <a:r>
              <a:rPr lang="en-US" dirty="0"/>
              <a:t>Click to edit Master text styles</a:t>
            </a:r>
          </a:p>
        </p:txBody>
      </p:sp>
      <p:sp>
        <p:nvSpPr>
          <p:cNvPr id="7" name="Content Placeholder 2">
            <a:extLst>
              <a:ext uri="{FF2B5EF4-FFF2-40B4-BE49-F238E27FC236}">
                <a16:creationId xmlns:a16="http://schemas.microsoft.com/office/drawing/2014/main" id="{B4B74264-C28A-D14E-E1AA-85CE2C74541C}"/>
              </a:ext>
            </a:extLst>
          </p:cNvPr>
          <p:cNvSpPr>
            <a:spLocks noGrp="1"/>
          </p:cNvSpPr>
          <p:nvPr>
            <p:ph sz="half" idx="15"/>
          </p:nvPr>
        </p:nvSpPr>
        <p:spPr>
          <a:xfrm>
            <a:off x="6351067" y="1330644"/>
            <a:ext cx="5002731" cy="393226"/>
          </a:xfrm>
        </p:spPr>
        <p:txBody>
          <a:bodyPr/>
          <a:lstStyle/>
          <a:p>
            <a:pPr lvl="0"/>
            <a:r>
              <a:rPr lang="en-US" dirty="0"/>
              <a:t>Click to edit Master text styles</a:t>
            </a:r>
          </a:p>
        </p:txBody>
      </p:sp>
    </p:spTree>
    <p:extLst>
      <p:ext uri="{BB962C8B-B14F-4D97-AF65-F5344CB8AC3E}">
        <p14:creationId xmlns:p14="http://schemas.microsoft.com/office/powerpoint/2010/main" val="3453800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B4055-853A-935C-C609-475BB0F125C6}"/>
              </a:ext>
            </a:extLst>
          </p:cNvPr>
          <p:cNvSpPr>
            <a:spLocks noGrp="1"/>
          </p:cNvSpPr>
          <p:nvPr>
            <p:ph type="title"/>
          </p:nvPr>
        </p:nvSpPr>
        <p:spPr>
          <a:xfrm>
            <a:off x="838200" y="215158"/>
            <a:ext cx="10515600" cy="923360"/>
          </a:xfrm>
          <a:prstGeom prst="rect">
            <a:avLst/>
          </a:prstGeom>
        </p:spPr>
        <p:txBody>
          <a:bodyPr/>
          <a:lstStyle/>
          <a:p>
            <a:r>
              <a:rPr lang="en-US"/>
              <a:t>Click to edit Master title style</a:t>
            </a:r>
          </a:p>
        </p:txBody>
      </p:sp>
      <p:sp>
        <p:nvSpPr>
          <p:cNvPr id="6" name="Date Placeholder 5">
            <a:extLst>
              <a:ext uri="{FF2B5EF4-FFF2-40B4-BE49-F238E27FC236}">
                <a16:creationId xmlns:a16="http://schemas.microsoft.com/office/drawing/2014/main" id="{D16294B6-8F6B-8134-BD81-732DA298C929}"/>
              </a:ext>
            </a:extLst>
          </p:cNvPr>
          <p:cNvSpPr>
            <a:spLocks noGrp="1"/>
          </p:cNvSpPr>
          <p:nvPr>
            <p:ph type="dt" sz="half" idx="10"/>
          </p:nvPr>
        </p:nvSpPr>
        <p:spPr>
          <a:xfrm>
            <a:off x="838200" y="6356350"/>
            <a:ext cx="2743200" cy="365125"/>
          </a:xfrm>
          <a:prstGeom prst="rect">
            <a:avLst/>
          </a:prstGeom>
        </p:spPr>
        <p:txBody>
          <a:bodyPr/>
          <a:lstStyle/>
          <a:p>
            <a:r>
              <a:rPr lang="en-US"/>
              <a:t>Source</a:t>
            </a:r>
            <a:endParaRPr lang="en-US" dirty="0"/>
          </a:p>
        </p:txBody>
      </p:sp>
      <p:sp>
        <p:nvSpPr>
          <p:cNvPr id="7" name="Footer Placeholder 6">
            <a:extLst>
              <a:ext uri="{FF2B5EF4-FFF2-40B4-BE49-F238E27FC236}">
                <a16:creationId xmlns:a16="http://schemas.microsoft.com/office/drawing/2014/main" id="{2ECDB3E3-00E2-9F14-293D-B6E4EC9F33D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8" name="Slide Number Placeholder 7">
            <a:extLst>
              <a:ext uri="{FF2B5EF4-FFF2-40B4-BE49-F238E27FC236}">
                <a16:creationId xmlns:a16="http://schemas.microsoft.com/office/drawing/2014/main" id="{F6999F76-7072-F741-31B7-A7AEDE951705}"/>
              </a:ext>
            </a:extLst>
          </p:cNvPr>
          <p:cNvSpPr>
            <a:spLocks noGrp="1"/>
          </p:cNvSpPr>
          <p:nvPr>
            <p:ph type="sldNum" sz="quarter" idx="12"/>
          </p:nvPr>
        </p:nvSpPr>
        <p:spPr>
          <a:xfrm>
            <a:off x="8610600" y="6356350"/>
            <a:ext cx="2743200" cy="365125"/>
          </a:xfrm>
          <a:prstGeom prst="rect">
            <a:avLst/>
          </a:prstGeom>
        </p:spPr>
        <p:txBody>
          <a:bodyPr/>
          <a:lstStyle/>
          <a:p>
            <a:fld id="{2D2776A3-3430-4A99-9DCB-D67D51D6910E}" type="slidenum">
              <a:rPr lang="en-US" smtClean="0"/>
              <a:t>‹#›</a:t>
            </a:fld>
            <a:endParaRPr lang="en-US"/>
          </a:p>
        </p:txBody>
      </p:sp>
    </p:spTree>
    <p:extLst>
      <p:ext uri="{BB962C8B-B14F-4D97-AF65-F5344CB8AC3E}">
        <p14:creationId xmlns:p14="http://schemas.microsoft.com/office/powerpoint/2010/main" val="2948257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5F6795FF-DC9B-F29A-C0B2-9DBC485DD15B}"/>
              </a:ext>
            </a:extLst>
          </p:cNvPr>
          <p:cNvSpPr>
            <a:spLocks noGrp="1"/>
          </p:cNvSpPr>
          <p:nvPr>
            <p:ph type="dt" sz="half" idx="10"/>
          </p:nvPr>
        </p:nvSpPr>
        <p:spPr>
          <a:xfrm>
            <a:off x="838200" y="6356350"/>
            <a:ext cx="2743200" cy="365125"/>
          </a:xfrm>
          <a:prstGeom prst="rect">
            <a:avLst/>
          </a:prstGeom>
        </p:spPr>
        <p:txBody>
          <a:bodyPr/>
          <a:lstStyle/>
          <a:p>
            <a:r>
              <a:rPr lang="en-US"/>
              <a:t>Source</a:t>
            </a:r>
            <a:endParaRPr lang="en-US" dirty="0"/>
          </a:p>
        </p:txBody>
      </p:sp>
      <p:sp>
        <p:nvSpPr>
          <p:cNvPr id="6" name="Footer Placeholder 5">
            <a:extLst>
              <a:ext uri="{FF2B5EF4-FFF2-40B4-BE49-F238E27FC236}">
                <a16:creationId xmlns:a16="http://schemas.microsoft.com/office/drawing/2014/main" id="{A30F1D63-C424-A881-C96B-1CCF84AFD0B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101E19A-55D3-26D0-E7AB-82E7B98054C2}"/>
              </a:ext>
            </a:extLst>
          </p:cNvPr>
          <p:cNvSpPr>
            <a:spLocks noGrp="1"/>
          </p:cNvSpPr>
          <p:nvPr>
            <p:ph type="sldNum" sz="quarter" idx="12"/>
          </p:nvPr>
        </p:nvSpPr>
        <p:spPr>
          <a:xfrm>
            <a:off x="8610600" y="6356350"/>
            <a:ext cx="2743200" cy="365125"/>
          </a:xfrm>
          <a:prstGeom prst="rect">
            <a:avLst/>
          </a:prstGeom>
        </p:spPr>
        <p:txBody>
          <a:bodyPr/>
          <a:lstStyle/>
          <a:p>
            <a:fld id="{2D2776A3-3430-4A99-9DCB-D67D51D6910E}" type="slidenum">
              <a:rPr lang="en-US" smtClean="0"/>
              <a:t>‹#›</a:t>
            </a:fld>
            <a:endParaRPr lang="en-US"/>
          </a:p>
        </p:txBody>
      </p:sp>
    </p:spTree>
    <p:extLst>
      <p:ext uri="{BB962C8B-B14F-4D97-AF65-F5344CB8AC3E}">
        <p14:creationId xmlns:p14="http://schemas.microsoft.com/office/powerpoint/2010/main" val="26249212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7344EF-5E1A-A790-28F9-F0DB35D08191}"/>
              </a:ext>
            </a:extLst>
          </p:cNvPr>
          <p:cNvSpPr>
            <a:spLocks noGrp="1"/>
          </p:cNvSpPr>
          <p:nvPr>
            <p:ph type="body" idx="1"/>
          </p:nvPr>
        </p:nvSpPr>
        <p:spPr>
          <a:xfrm>
            <a:off x="838200" y="1272991"/>
            <a:ext cx="10515600" cy="49039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4AA0C60-3AAD-BDE7-D9C8-94F0034BD8FD}"/>
              </a:ext>
            </a:extLst>
          </p:cNvPr>
          <p:cNvSpPr>
            <a:spLocks noGrp="1"/>
          </p:cNvSpPr>
          <p:nvPr>
            <p:ph type="dt" sz="half" idx="2"/>
          </p:nvPr>
        </p:nvSpPr>
        <p:spPr>
          <a:xfrm>
            <a:off x="838200" y="6356350"/>
            <a:ext cx="5715000" cy="365125"/>
          </a:xfrm>
          <a:prstGeom prst="rect">
            <a:avLst/>
          </a:prstGeom>
        </p:spPr>
        <p:txBody>
          <a:bodyPr vert="horz" lIns="91440" tIns="45720" rIns="91440" bIns="45720" rtlCol="0" anchor="ctr"/>
          <a:lstStyle>
            <a:lvl1pPr algn="l">
              <a:defRPr sz="1000">
                <a:solidFill>
                  <a:schemeClr val="tx1">
                    <a:tint val="82000"/>
                  </a:schemeClr>
                </a:solidFill>
              </a:defRPr>
            </a:lvl1pPr>
          </a:lstStyle>
          <a:p>
            <a:r>
              <a:rPr lang="en-US"/>
              <a:t>Source</a:t>
            </a:r>
            <a:endParaRPr lang="en-US" sz="1000" dirty="0"/>
          </a:p>
        </p:txBody>
      </p:sp>
      <p:sp>
        <p:nvSpPr>
          <p:cNvPr id="6" name="Slide Number Placeholder 5">
            <a:extLst>
              <a:ext uri="{FF2B5EF4-FFF2-40B4-BE49-F238E27FC236}">
                <a16:creationId xmlns:a16="http://schemas.microsoft.com/office/drawing/2014/main" id="{F4EBF45C-9252-079B-82AD-07E3C17EDB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82000"/>
                  </a:schemeClr>
                </a:solidFill>
              </a:defRPr>
            </a:lvl1pPr>
          </a:lstStyle>
          <a:p>
            <a:fld id="{2D2776A3-3430-4A99-9DCB-D67D51D6910E}" type="slidenum">
              <a:rPr lang="en-US" smtClean="0"/>
              <a:pPr/>
              <a:t>‹#›</a:t>
            </a:fld>
            <a:endParaRPr lang="en-US" sz="1000" dirty="0"/>
          </a:p>
        </p:txBody>
      </p:sp>
      <p:cxnSp>
        <p:nvCxnSpPr>
          <p:cNvPr id="8" name="Straight Connector 7">
            <a:extLst>
              <a:ext uri="{FF2B5EF4-FFF2-40B4-BE49-F238E27FC236}">
                <a16:creationId xmlns:a16="http://schemas.microsoft.com/office/drawing/2014/main" id="{B4FF56F9-9FC8-41C2-3918-5CD4594477A5}"/>
              </a:ext>
            </a:extLst>
          </p:cNvPr>
          <p:cNvCxnSpPr>
            <a:cxnSpLocks/>
          </p:cNvCxnSpPr>
          <p:nvPr userDrawn="1"/>
        </p:nvCxnSpPr>
        <p:spPr>
          <a:xfrm>
            <a:off x="838200" y="1138518"/>
            <a:ext cx="10515600" cy="0"/>
          </a:xfrm>
          <a:prstGeom prst="line">
            <a:avLst/>
          </a:prstGeom>
          <a:ln w="9525"/>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D182231A-C1AC-D483-9E26-64736543C75B}"/>
              </a:ext>
            </a:extLst>
          </p:cNvPr>
          <p:cNvCxnSpPr>
            <a:cxnSpLocks/>
          </p:cNvCxnSpPr>
          <p:nvPr userDrawn="1"/>
        </p:nvCxnSpPr>
        <p:spPr>
          <a:xfrm>
            <a:off x="838200" y="6356350"/>
            <a:ext cx="10515600" cy="0"/>
          </a:xfrm>
          <a:prstGeom prst="line">
            <a:avLst/>
          </a:prstGeom>
          <a:ln w="9525"/>
        </p:spPr>
        <p:style>
          <a:lnRef idx="2">
            <a:schemeClr val="dk1"/>
          </a:lnRef>
          <a:fillRef idx="0">
            <a:schemeClr val="dk1"/>
          </a:fillRef>
          <a:effectRef idx="1">
            <a:schemeClr val="dk1"/>
          </a:effectRef>
          <a:fontRef idx="minor">
            <a:schemeClr val="tx1"/>
          </a:fontRef>
        </p:style>
      </p:cxnSp>
      <p:sp>
        <p:nvSpPr>
          <p:cNvPr id="5" name="Title Placeholder 4">
            <a:extLst>
              <a:ext uri="{FF2B5EF4-FFF2-40B4-BE49-F238E27FC236}">
                <a16:creationId xmlns:a16="http://schemas.microsoft.com/office/drawing/2014/main" id="{F380AB9B-8635-86E5-078D-D7756D772E39}"/>
              </a:ext>
            </a:extLst>
          </p:cNvPr>
          <p:cNvSpPr>
            <a:spLocks noGrp="1"/>
          </p:cNvSpPr>
          <p:nvPr>
            <p:ph type="title"/>
          </p:nvPr>
        </p:nvSpPr>
        <p:spPr>
          <a:xfrm>
            <a:off x="838200" y="365126"/>
            <a:ext cx="10515600" cy="773392"/>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749542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Lst>
  <p:hf hdr="0" ftr="0" dt="0"/>
  <p:txStyles>
    <p:titleStyle>
      <a:lvl1pPr algn="l" defTabSz="914400" rtl="0" eaLnBrk="1" latinLnBrk="0" hangingPunct="1">
        <a:lnSpc>
          <a:spcPct val="114000"/>
        </a:lnSpc>
        <a:spcBef>
          <a:spcPts val="200"/>
        </a:spcBef>
        <a:buNone/>
        <a:defRPr sz="2800" kern="1200">
          <a:solidFill>
            <a:schemeClr val="tx1"/>
          </a:solidFill>
          <a:latin typeface="+mj-lt"/>
          <a:ea typeface="+mj-ea"/>
          <a:cs typeface="+mj-cs"/>
        </a:defRPr>
      </a:lvl1pPr>
    </p:titleStyle>
    <p:bodyStyle>
      <a:lvl1pPr marL="0" indent="0" algn="l" defTabSz="914400" rtl="0" eaLnBrk="1" latinLnBrk="0" hangingPunct="1">
        <a:lnSpc>
          <a:spcPct val="114000"/>
        </a:lnSpc>
        <a:spcBef>
          <a:spcPts val="300"/>
        </a:spcBef>
        <a:buClr>
          <a:schemeClr val="bg1"/>
        </a:buClr>
        <a:buSzPct val="25000"/>
        <a:buFontTx/>
        <a:buNone/>
        <a:defRPr sz="1800" kern="1200">
          <a:solidFill>
            <a:srgbClr val="C00000"/>
          </a:solidFill>
          <a:latin typeface="+mn-lt"/>
          <a:ea typeface="+mn-ea"/>
          <a:cs typeface="+mn-cs"/>
        </a:defRPr>
      </a:lvl1pPr>
      <a:lvl2pPr marL="0" indent="0" algn="l" defTabSz="914400" rtl="0" eaLnBrk="1" latinLnBrk="0" hangingPunct="1">
        <a:lnSpc>
          <a:spcPct val="114000"/>
        </a:lnSpc>
        <a:spcBef>
          <a:spcPts val="300"/>
        </a:spcBef>
        <a:buClr>
          <a:schemeClr val="bg1"/>
        </a:buClr>
        <a:buSzPct val="25000"/>
        <a:buFontTx/>
        <a:buNone/>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114000"/>
        </a:lnSpc>
        <a:spcBef>
          <a:spcPts val="300"/>
        </a:spcBef>
        <a:buClr>
          <a:schemeClr val="bg1"/>
        </a:buClr>
        <a:buSzPct val="25000"/>
        <a:buFontTx/>
        <a:buNone/>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114000"/>
        </a:lnSpc>
        <a:spcBef>
          <a:spcPts val="300"/>
        </a:spcBef>
        <a:buClr>
          <a:schemeClr val="bg1"/>
        </a:buClr>
        <a:buSzPct val="25000"/>
        <a:buFontTx/>
        <a:buNone/>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114000"/>
        </a:lnSpc>
        <a:spcBef>
          <a:spcPts val="300"/>
        </a:spcBef>
        <a:buClr>
          <a:schemeClr val="bg1"/>
        </a:buClr>
        <a:buSzPct val="25000"/>
        <a:buFontTx/>
        <a:buNone/>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3.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3.xml"/><Relationship Id="rId4" Type="http://schemas.openxmlformats.org/officeDocument/2006/relationships/chart" Target="../charts/char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387C4A-5806-6E69-973A-1FFEC5983594}"/>
              </a:ext>
            </a:extLst>
          </p:cNvPr>
          <p:cNvSpPr>
            <a:spLocks noGrp="1"/>
          </p:cNvSpPr>
          <p:nvPr>
            <p:ph type="title"/>
          </p:nvPr>
        </p:nvSpPr>
        <p:spPr/>
        <p:txBody>
          <a:bodyPr>
            <a:normAutofit/>
          </a:bodyPr>
          <a:lstStyle/>
          <a:p>
            <a:pPr>
              <a:lnSpc>
                <a:spcPct val="114000"/>
              </a:lnSpc>
            </a:pPr>
            <a:r>
              <a:rPr lang="en-US" dirty="0"/>
              <a:t>Executive Summary</a:t>
            </a:r>
            <a:br>
              <a:rPr lang="en-US" dirty="0"/>
            </a:br>
            <a:r>
              <a:rPr lang="en-US" sz="1400" dirty="0">
                <a:latin typeface="Segoe UI Variable Small Semilig" pitchFamily="2" charset="0"/>
              </a:rPr>
              <a:t>Key findings from comprehensive customer research</a:t>
            </a:r>
          </a:p>
        </p:txBody>
      </p:sp>
      <p:sp>
        <p:nvSpPr>
          <p:cNvPr id="2" name="Slide Number Placeholder 1">
            <a:extLst>
              <a:ext uri="{FF2B5EF4-FFF2-40B4-BE49-F238E27FC236}">
                <a16:creationId xmlns:a16="http://schemas.microsoft.com/office/drawing/2014/main" id="{0F899915-EF7D-0D82-026C-47C42E96DBEE}"/>
              </a:ext>
            </a:extLst>
          </p:cNvPr>
          <p:cNvSpPr>
            <a:spLocks noGrp="1"/>
          </p:cNvSpPr>
          <p:nvPr>
            <p:ph type="sldNum" sz="quarter" idx="12"/>
          </p:nvPr>
        </p:nvSpPr>
        <p:spPr/>
        <p:txBody>
          <a:bodyPr/>
          <a:lstStyle/>
          <a:p>
            <a:fld id="{2D2776A3-3430-4A99-9DCB-D67D51D6910E}" type="slidenum">
              <a:rPr lang="en-US" smtClean="0"/>
              <a:t>1</a:t>
            </a:fld>
            <a:endParaRPr lang="en-US"/>
          </a:p>
        </p:txBody>
      </p:sp>
      <p:sp>
        <p:nvSpPr>
          <p:cNvPr id="3" name="Content Placeholder 2">
            <a:extLst>
              <a:ext uri="{FF2B5EF4-FFF2-40B4-BE49-F238E27FC236}">
                <a16:creationId xmlns:a16="http://schemas.microsoft.com/office/drawing/2014/main" id="{5C1ADC19-8B94-5218-42DF-A1E3A6CCA958}"/>
              </a:ext>
            </a:extLst>
          </p:cNvPr>
          <p:cNvSpPr>
            <a:spLocks noGrp="1"/>
          </p:cNvSpPr>
          <p:nvPr>
            <p:ph sz="half" idx="13"/>
          </p:nvPr>
        </p:nvSpPr>
        <p:spPr>
          <a:xfrm>
            <a:off x="838200" y="1330644"/>
            <a:ext cx="5002731" cy="4846319"/>
          </a:xfrm>
        </p:spPr>
        <p:txBody>
          <a:bodyPr/>
          <a:lstStyle/>
          <a:p>
            <a:r>
              <a:rPr lang="en-US" dirty="0"/>
              <a:t>Industry Context </a:t>
            </a:r>
          </a:p>
          <a:p>
            <a:pPr marL="285750" indent="-285750">
              <a:buClr>
                <a:schemeClr val="tx1"/>
              </a:buClr>
              <a:buSzPct val="100000"/>
              <a:buFont typeface="Arial" panose="020B0604020202020204" pitchFamily="34" charset="0"/>
              <a:buChar char="•"/>
            </a:pPr>
            <a:r>
              <a:rPr lang="en-US" dirty="0"/>
              <a:t> About the industry  (growth, forecast, potential,…)</a:t>
            </a:r>
          </a:p>
          <a:p>
            <a:pPr marL="285750" indent="-285750">
              <a:buClr>
                <a:schemeClr val="tx1"/>
              </a:buClr>
              <a:buSzPct val="100000"/>
              <a:buFont typeface="Arial" panose="020B0604020202020204" pitchFamily="34" charset="0"/>
              <a:buChar char="•"/>
            </a:pPr>
            <a:r>
              <a:rPr lang="en-US" dirty="0"/>
              <a:t>Focus on major competitor (store growth, market share, brand value proposition</a:t>
            </a:r>
          </a:p>
          <a:p>
            <a:r>
              <a:rPr lang="en-US" dirty="0"/>
              <a:t>Survey Context</a:t>
            </a:r>
          </a:p>
          <a:p>
            <a:pPr marL="285750" indent="-285750">
              <a:buClrTx/>
              <a:buSzPct val="100000"/>
              <a:buFont typeface="Arial" panose="020B0604020202020204" pitchFamily="34" charset="0"/>
              <a:buChar char="•"/>
            </a:pPr>
            <a:r>
              <a:rPr lang="en-US" dirty="0"/>
              <a:t>Composition of respondents</a:t>
            </a:r>
          </a:p>
          <a:p>
            <a:pPr marL="285750" indent="-285750">
              <a:buClrTx/>
              <a:buSzPct val="100000"/>
              <a:buFont typeface="Arial" panose="020B0604020202020204" pitchFamily="34" charset="0"/>
              <a:buChar char="•"/>
            </a:pPr>
            <a:r>
              <a:rPr lang="en-US" dirty="0"/>
              <a:t>Consider segment the respondent based on major factors. Describe the persona of each segment. </a:t>
            </a:r>
          </a:p>
          <a:p>
            <a:pPr marL="285750" indent="-285750">
              <a:buClrTx/>
              <a:buSzPct val="100000"/>
              <a:buFont typeface="Arial" panose="020B0604020202020204" pitchFamily="34" charset="0"/>
              <a:buChar char="•"/>
            </a:pPr>
            <a:r>
              <a:rPr lang="en-US" dirty="0"/>
              <a:t>Divide the analysis into 2 parallel directions:</a:t>
            </a:r>
          </a:p>
          <a:p>
            <a:pPr marL="455612" lvl="3" indent="-285750">
              <a:buClrTx/>
              <a:buSzPct val="100000"/>
              <a:buFont typeface="Arial" panose="020B0604020202020204" pitchFamily="34" charset="0"/>
              <a:buChar char="•"/>
            </a:pPr>
            <a:r>
              <a:rPr lang="en-US" dirty="0"/>
              <a:t>Analyze difference between city</a:t>
            </a:r>
          </a:p>
          <a:p>
            <a:pPr marL="455612" lvl="3" indent="-285750">
              <a:buClrTx/>
              <a:buSzPct val="100000"/>
              <a:buFont typeface="Arial" panose="020B0604020202020204" pitchFamily="34" charset="0"/>
              <a:buChar char="•"/>
            </a:pPr>
            <a:r>
              <a:rPr lang="en-US" dirty="0"/>
              <a:t>Analyze difference between segment</a:t>
            </a:r>
          </a:p>
          <a:p>
            <a:pPr marL="285750" indent="-285750">
              <a:buClrTx/>
              <a:buSzPct val="100000"/>
              <a:buFont typeface="Arial" panose="020B0604020202020204" pitchFamily="34" charset="0"/>
              <a:buChar char="•"/>
            </a:pPr>
            <a:r>
              <a:rPr lang="en-US" dirty="0"/>
              <a:t>Purchasing frequency and average spending (</a:t>
            </a:r>
            <a:r>
              <a:rPr lang="en-US" dirty="0" err="1"/>
              <a:t>ppa</a:t>
            </a:r>
            <a:r>
              <a:rPr lang="en-US" dirty="0"/>
              <a:t>)</a:t>
            </a:r>
          </a:p>
          <a:p>
            <a:pPr marL="285750" indent="-285750">
              <a:buClrTx/>
              <a:buSzPct val="100000"/>
              <a:buFont typeface="Arial" panose="020B0604020202020204" pitchFamily="34" charset="0"/>
              <a:buChar char="•"/>
            </a:pPr>
            <a:r>
              <a:rPr lang="en-US" dirty="0"/>
              <a:t>Peak hours and peak days of week, average spending and visit and need state on these day time</a:t>
            </a:r>
          </a:p>
          <a:p>
            <a:pPr marL="285750" indent="-285750">
              <a:buClrTx/>
              <a:buSzPct val="100000"/>
              <a:buFont typeface="Arial" panose="020B0604020202020204" pitchFamily="34" charset="0"/>
              <a:buChar char="•"/>
            </a:pPr>
            <a:r>
              <a:rPr lang="en-US" dirty="0"/>
              <a:t>Perception of each city, age, occupation about brand attribute</a:t>
            </a:r>
          </a:p>
          <a:p>
            <a:pPr marL="455612" lvl="3" indent="-285750">
              <a:buClrTx/>
              <a:buSzPct val="100000"/>
              <a:buFont typeface="Arial" panose="020B0604020202020204" pitchFamily="34" charset="0"/>
              <a:buChar char="•"/>
            </a:pPr>
            <a:r>
              <a:rPr lang="en-US" dirty="0"/>
              <a:t>Show bar chart by attribute group</a:t>
            </a:r>
          </a:p>
          <a:p>
            <a:pPr marL="455612" lvl="3" indent="-285750">
              <a:buClrTx/>
              <a:buSzPct val="100000"/>
              <a:buFont typeface="Arial" panose="020B0604020202020204" pitchFamily="34" charset="0"/>
              <a:buChar char="•"/>
            </a:pPr>
            <a:r>
              <a:rPr lang="en-US" dirty="0"/>
              <a:t>Bar chart for average ranking of each attribute group to reflect the different in perception of each group</a:t>
            </a:r>
          </a:p>
          <a:p>
            <a:pPr marL="455612" lvl="3" indent="-285750">
              <a:buClrTx/>
              <a:buSzPct val="100000"/>
              <a:buFont typeface="Arial" panose="020B0604020202020204" pitchFamily="34" charset="0"/>
              <a:buChar char="•"/>
            </a:pPr>
            <a:endParaRPr lang="en-US" dirty="0"/>
          </a:p>
          <a:p>
            <a:pPr marL="285750" indent="-285750">
              <a:buClrTx/>
              <a:buSzPct val="100000"/>
              <a:buFont typeface="Arial" panose="020B0604020202020204" pitchFamily="34" charset="0"/>
              <a:buChar char="•"/>
            </a:pPr>
            <a:endParaRPr lang="en-US" dirty="0"/>
          </a:p>
          <a:p>
            <a:endParaRPr lang="en-US" dirty="0"/>
          </a:p>
        </p:txBody>
      </p:sp>
      <p:pic>
        <p:nvPicPr>
          <p:cNvPr id="10" name="Content Placeholder 9">
            <a:extLst>
              <a:ext uri="{FF2B5EF4-FFF2-40B4-BE49-F238E27FC236}">
                <a16:creationId xmlns:a16="http://schemas.microsoft.com/office/drawing/2014/main" id="{2E8E69FB-204D-B1BB-F4B5-93CFCAD877A1}"/>
              </a:ext>
            </a:extLst>
          </p:cNvPr>
          <p:cNvPicPr>
            <a:picLocks noGrp="1" noChangeAspect="1"/>
          </p:cNvPicPr>
          <p:nvPr>
            <p:ph sz="half" idx="14"/>
          </p:nvPr>
        </p:nvPicPr>
        <p:blipFill>
          <a:blip r:embed="rId2"/>
          <a:stretch>
            <a:fillRect/>
          </a:stretch>
        </p:blipFill>
        <p:spPr>
          <a:xfrm>
            <a:off x="6305549" y="1784990"/>
            <a:ext cx="5362575" cy="2060099"/>
          </a:xfrm>
          <a:prstGeom prst="rect">
            <a:avLst/>
          </a:prstGeom>
        </p:spPr>
      </p:pic>
      <p:sp>
        <p:nvSpPr>
          <p:cNvPr id="8" name="Content Placeholder 7">
            <a:extLst>
              <a:ext uri="{FF2B5EF4-FFF2-40B4-BE49-F238E27FC236}">
                <a16:creationId xmlns:a16="http://schemas.microsoft.com/office/drawing/2014/main" id="{57848EDB-C09D-9DCF-170C-E1DA640A2F86}"/>
              </a:ext>
            </a:extLst>
          </p:cNvPr>
          <p:cNvSpPr>
            <a:spLocks noGrp="1"/>
          </p:cNvSpPr>
          <p:nvPr>
            <p:ph sz="half" idx="15"/>
          </p:nvPr>
        </p:nvSpPr>
        <p:spPr/>
        <p:txBody>
          <a:bodyPr/>
          <a:lstStyle/>
          <a:p>
            <a:endParaRPr lang="en-US"/>
          </a:p>
        </p:txBody>
      </p:sp>
    </p:spTree>
    <p:extLst>
      <p:ext uri="{BB962C8B-B14F-4D97-AF65-F5344CB8AC3E}">
        <p14:creationId xmlns:p14="http://schemas.microsoft.com/office/powerpoint/2010/main" val="1610083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69F8B7-6ABE-48AE-C296-A7882BC0AD19}"/>
              </a:ext>
            </a:extLst>
          </p:cNvPr>
          <p:cNvSpPr>
            <a:spLocks noGrp="1"/>
          </p:cNvSpPr>
          <p:nvPr>
            <p:ph type="title"/>
          </p:nvPr>
        </p:nvSpPr>
        <p:spPr/>
        <p:txBody>
          <a:bodyPr/>
          <a:lstStyle/>
          <a:p>
            <a:r>
              <a:rPr kumimoji="0" lang="en-US" sz="2800" b="0" i="0" u="none" strike="noStrike" kern="1200" cap="none" spc="0" normalizeH="0" baseline="0" noProof="0" dirty="0">
                <a:ln>
                  <a:noFill/>
                </a:ln>
                <a:solidFill>
                  <a:prstClr val="black"/>
                </a:solidFill>
                <a:effectLst/>
                <a:uLnTx/>
                <a:uFillTx/>
                <a:latin typeface="Segoe UI Semibold"/>
                <a:ea typeface="+mj-ea"/>
                <a:cs typeface="+mj-cs"/>
              </a:rPr>
              <a:t>Executive Summary</a:t>
            </a:r>
            <a:br>
              <a:rPr kumimoji="0" lang="en-US" sz="2800" b="0" i="0" u="none" strike="noStrike" kern="1200" cap="none" spc="0" normalizeH="0" baseline="0" noProof="0" dirty="0">
                <a:ln>
                  <a:noFill/>
                </a:ln>
                <a:solidFill>
                  <a:prstClr val="black"/>
                </a:solidFill>
                <a:effectLst/>
                <a:uLnTx/>
                <a:uFillTx/>
                <a:latin typeface="Segoe UI Semibold"/>
                <a:ea typeface="+mj-ea"/>
                <a:cs typeface="+mj-cs"/>
              </a:rPr>
            </a:br>
            <a:r>
              <a:rPr kumimoji="0" lang="en-US" sz="1300" b="0" i="0" u="none" strike="noStrike" kern="1200" cap="none" spc="0" normalizeH="0" baseline="0" noProof="0" dirty="0">
                <a:ln>
                  <a:noFill/>
                </a:ln>
                <a:solidFill>
                  <a:schemeClr val="tx1">
                    <a:lumMod val="75000"/>
                    <a:lumOff val="25000"/>
                  </a:schemeClr>
                </a:solidFill>
                <a:effectLst/>
                <a:uLnTx/>
                <a:uFillTx/>
                <a:latin typeface="Segoe UI Variable Small Semilig" pitchFamily="2" charset="0"/>
                <a:ea typeface="+mj-ea"/>
                <a:cs typeface="+mj-cs"/>
              </a:rPr>
              <a:t>Key findings from comprehensive customer research</a:t>
            </a:r>
            <a:endParaRPr lang="en-US" sz="1300" dirty="0">
              <a:solidFill>
                <a:schemeClr val="tx1">
                  <a:lumMod val="75000"/>
                  <a:lumOff val="25000"/>
                </a:schemeClr>
              </a:solidFill>
            </a:endParaRPr>
          </a:p>
        </p:txBody>
      </p:sp>
      <p:sp>
        <p:nvSpPr>
          <p:cNvPr id="5" name="Content Placeholder 4">
            <a:extLst>
              <a:ext uri="{FF2B5EF4-FFF2-40B4-BE49-F238E27FC236}">
                <a16:creationId xmlns:a16="http://schemas.microsoft.com/office/drawing/2014/main" id="{A0978294-AFAF-13C3-9508-D6B6D4B5B807}"/>
              </a:ext>
            </a:extLst>
          </p:cNvPr>
          <p:cNvSpPr>
            <a:spLocks noGrp="1"/>
          </p:cNvSpPr>
          <p:nvPr>
            <p:ph sz="half" idx="1"/>
          </p:nvPr>
        </p:nvSpPr>
        <p:spPr/>
        <p:txBody>
          <a:bodyPr>
            <a:normAutofit lnSpcReduction="10000"/>
          </a:bodyPr>
          <a:lstStyle/>
          <a:p>
            <a:r>
              <a:rPr lang="en-US" dirty="0"/>
              <a:t>Market Context</a:t>
            </a:r>
          </a:p>
          <a:p>
            <a:endParaRPr lang="en-US" dirty="0"/>
          </a:p>
        </p:txBody>
      </p:sp>
      <p:sp>
        <p:nvSpPr>
          <p:cNvPr id="3" name="Slide Number Placeholder 2">
            <a:extLst>
              <a:ext uri="{FF2B5EF4-FFF2-40B4-BE49-F238E27FC236}">
                <a16:creationId xmlns:a16="http://schemas.microsoft.com/office/drawing/2014/main" id="{C42AF4F0-F26E-B7F9-B3B2-D8914AE217C3}"/>
              </a:ext>
            </a:extLst>
          </p:cNvPr>
          <p:cNvSpPr>
            <a:spLocks noGrp="1"/>
          </p:cNvSpPr>
          <p:nvPr>
            <p:ph type="sldNum" sz="quarter" idx="12"/>
          </p:nvPr>
        </p:nvSpPr>
        <p:spPr/>
        <p:txBody>
          <a:bodyPr/>
          <a:lstStyle/>
          <a:p>
            <a:fld id="{2D2776A3-3430-4A99-9DCB-D67D51D6910E}" type="slidenum">
              <a:rPr lang="en-US" smtClean="0"/>
              <a:t>2</a:t>
            </a:fld>
            <a:endParaRPr lang="en-US"/>
          </a:p>
        </p:txBody>
      </p:sp>
      <p:sp>
        <p:nvSpPr>
          <p:cNvPr id="6" name="Content Placeholder 5">
            <a:extLst>
              <a:ext uri="{FF2B5EF4-FFF2-40B4-BE49-F238E27FC236}">
                <a16:creationId xmlns:a16="http://schemas.microsoft.com/office/drawing/2014/main" id="{8910605B-3454-0211-A0EF-29172A7D4FDA}"/>
              </a:ext>
            </a:extLst>
          </p:cNvPr>
          <p:cNvSpPr>
            <a:spLocks noGrp="1"/>
          </p:cNvSpPr>
          <p:nvPr>
            <p:ph sz="half" idx="13"/>
          </p:nvPr>
        </p:nvSpPr>
        <p:spPr>
          <a:xfrm>
            <a:off x="838200" y="1723871"/>
            <a:ext cx="5002731" cy="1798722"/>
          </a:xfrm>
        </p:spPr>
        <p:txBody>
          <a:bodyPr/>
          <a:lstStyle/>
          <a:p>
            <a:pPr algn="just">
              <a:spcBef>
                <a:spcPts val="500"/>
              </a:spcBef>
            </a:pPr>
            <a:r>
              <a:rPr lang="en-US" dirty="0"/>
              <a:t>Vietnam’s refreshment beverage market has been undergoing rapid growth and significant transformation in recent years, driven by a growing economy and the disposable income of youthful customers. The demand is evolving into a diverse and dynamic sector driven by rising health awareness and shifting consumer lifestyles. The beverage market is projected to grow to $5.8B by 2026 from $5.2B in 2024, with a CAGR of 5.8%. </a:t>
            </a:r>
          </a:p>
          <a:p>
            <a:pPr algn="just">
              <a:spcBef>
                <a:spcPts val="500"/>
              </a:spcBef>
            </a:pPr>
            <a:endParaRPr lang="en-US" dirty="0"/>
          </a:p>
        </p:txBody>
      </p:sp>
      <p:sp>
        <p:nvSpPr>
          <p:cNvPr id="11" name="Content Placeholder 10">
            <a:extLst>
              <a:ext uri="{FF2B5EF4-FFF2-40B4-BE49-F238E27FC236}">
                <a16:creationId xmlns:a16="http://schemas.microsoft.com/office/drawing/2014/main" id="{9B062439-3ECF-39DB-A594-F298F64882B0}"/>
              </a:ext>
            </a:extLst>
          </p:cNvPr>
          <p:cNvSpPr>
            <a:spLocks noGrp="1"/>
          </p:cNvSpPr>
          <p:nvPr>
            <p:ph sz="half" idx="14"/>
          </p:nvPr>
        </p:nvSpPr>
        <p:spPr>
          <a:xfrm>
            <a:off x="6351068" y="1723870"/>
            <a:ext cx="5002731" cy="4453093"/>
          </a:xfrm>
        </p:spPr>
        <p:txBody>
          <a:bodyPr/>
          <a:lstStyle/>
          <a:p>
            <a:endParaRPr lang="en-US" dirty="0"/>
          </a:p>
        </p:txBody>
      </p:sp>
      <p:sp>
        <p:nvSpPr>
          <p:cNvPr id="12" name="Content Placeholder 11">
            <a:extLst>
              <a:ext uri="{FF2B5EF4-FFF2-40B4-BE49-F238E27FC236}">
                <a16:creationId xmlns:a16="http://schemas.microsoft.com/office/drawing/2014/main" id="{61F1CEF7-5E1B-50AB-6290-330A689E7EBB}"/>
              </a:ext>
            </a:extLst>
          </p:cNvPr>
          <p:cNvSpPr>
            <a:spLocks noGrp="1"/>
          </p:cNvSpPr>
          <p:nvPr>
            <p:ph sz="half" idx="15"/>
          </p:nvPr>
        </p:nvSpPr>
        <p:spPr/>
        <p:txBody>
          <a:bodyPr/>
          <a:lstStyle/>
          <a:p>
            <a:endParaRPr lang="en-US" dirty="0"/>
          </a:p>
        </p:txBody>
      </p:sp>
      <p:sp>
        <p:nvSpPr>
          <p:cNvPr id="15" name="Content Placeholder 4">
            <a:extLst>
              <a:ext uri="{FF2B5EF4-FFF2-40B4-BE49-F238E27FC236}">
                <a16:creationId xmlns:a16="http://schemas.microsoft.com/office/drawing/2014/main" id="{04BEF6AE-F2A7-92DD-F03A-C2449E3D51F8}"/>
              </a:ext>
            </a:extLst>
          </p:cNvPr>
          <p:cNvSpPr txBox="1">
            <a:spLocks/>
          </p:cNvSpPr>
          <p:nvPr/>
        </p:nvSpPr>
        <p:spPr>
          <a:xfrm>
            <a:off x="6172200" y="1714500"/>
            <a:ext cx="5181600" cy="179872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bg1"/>
              </a:buClr>
              <a:buSzPct val="100000"/>
              <a:buFontTx/>
              <a:buChar char="‬"/>
              <a:defRPr sz="2000" kern="1200">
                <a:solidFill>
                  <a:srgbClr val="C00000"/>
                </a:solidFill>
                <a:latin typeface="+mn-lt"/>
                <a:ea typeface="+mn-ea"/>
                <a:cs typeface="+mn-cs"/>
              </a:defRPr>
            </a:lvl1pPr>
            <a:lvl2pPr marL="119063" indent="-119063" algn="l" defTabSz="914400" rtl="0" eaLnBrk="1" latinLnBrk="0" hangingPunct="1">
              <a:lnSpc>
                <a:spcPct val="90000"/>
              </a:lnSpc>
              <a:spcBef>
                <a:spcPts val="500"/>
              </a:spcBef>
              <a:buClr>
                <a:schemeClr val="bg1"/>
              </a:buClr>
              <a:buSzPct val="100000"/>
              <a:buFontTx/>
              <a:buChar char="‬"/>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90000"/>
              </a:lnSpc>
              <a:spcBef>
                <a:spcPts val="500"/>
              </a:spcBef>
              <a:buClr>
                <a:schemeClr val="bg1"/>
              </a:buClr>
              <a:buSzPct val="100000"/>
              <a:buFontTx/>
              <a:buChar char="‬"/>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90000"/>
              </a:lnSpc>
              <a:spcBef>
                <a:spcPts val="500"/>
              </a:spcBef>
              <a:buClr>
                <a:schemeClr val="bg1"/>
              </a:buClr>
              <a:buSzPct val="100000"/>
              <a:buFontTx/>
              <a:buChar char="‬"/>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90000"/>
              </a:lnSpc>
              <a:spcBef>
                <a:spcPts val="500"/>
              </a:spcBef>
              <a:buClr>
                <a:schemeClr val="bg1"/>
              </a:buClr>
              <a:buSzPct val="100000"/>
              <a:buFontTx/>
              <a:buChar char="‬"/>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buNone/>
            </a:pPr>
            <a:endParaRPr lang="en-US" sz="1400" dirty="0">
              <a:solidFill>
                <a:schemeClr val="tx1">
                  <a:lumMod val="75000"/>
                  <a:lumOff val="25000"/>
                </a:schemeClr>
              </a:solidFill>
              <a:latin typeface="Segoe UI Variable Display" pitchFamily="2" charset="0"/>
            </a:endParaRPr>
          </a:p>
          <a:p>
            <a:pPr>
              <a:lnSpc>
                <a:spcPct val="114000"/>
              </a:lnSpc>
              <a:buFontTx/>
              <a:buNone/>
            </a:pPr>
            <a:endParaRPr lang="en-US" sz="1400" dirty="0">
              <a:solidFill>
                <a:schemeClr val="tx1">
                  <a:lumMod val="75000"/>
                  <a:lumOff val="25000"/>
                </a:schemeClr>
              </a:solidFill>
              <a:latin typeface="Segoe UI Variable Display" pitchFamily="2" charset="0"/>
            </a:endParaRPr>
          </a:p>
        </p:txBody>
      </p:sp>
      <p:sp>
        <p:nvSpPr>
          <p:cNvPr id="13" name="Content Placeholder 4">
            <a:extLst>
              <a:ext uri="{FF2B5EF4-FFF2-40B4-BE49-F238E27FC236}">
                <a16:creationId xmlns:a16="http://schemas.microsoft.com/office/drawing/2014/main" id="{B4E38C58-194B-B93E-8491-D065F3E65C34}"/>
              </a:ext>
            </a:extLst>
          </p:cNvPr>
          <p:cNvSpPr txBox="1">
            <a:spLocks/>
          </p:cNvSpPr>
          <p:nvPr/>
        </p:nvSpPr>
        <p:spPr>
          <a:xfrm>
            <a:off x="838201" y="3714719"/>
            <a:ext cx="5002731" cy="393226"/>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300"/>
              </a:spcBef>
              <a:buClr>
                <a:schemeClr val="bg1"/>
              </a:buClr>
              <a:buSzPct val="25000"/>
              <a:buFontTx/>
              <a:buNone/>
              <a:defRPr sz="1800" kern="1200">
                <a:solidFill>
                  <a:srgbClr val="C00000"/>
                </a:solidFill>
                <a:latin typeface="+mn-lt"/>
                <a:ea typeface="+mn-ea"/>
                <a:cs typeface="+mn-cs"/>
              </a:defRPr>
            </a:lvl1pPr>
            <a:lvl2pPr marL="0" indent="0" algn="l" defTabSz="914400" rtl="0" eaLnBrk="1" latinLnBrk="0" hangingPunct="1">
              <a:lnSpc>
                <a:spcPct val="114000"/>
              </a:lnSpc>
              <a:spcBef>
                <a:spcPts val="300"/>
              </a:spcBef>
              <a:buClr>
                <a:schemeClr val="bg1"/>
              </a:buClr>
              <a:buSzPct val="25000"/>
              <a:buFontTx/>
              <a:buNone/>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114000"/>
              </a:lnSpc>
              <a:spcBef>
                <a:spcPts val="300"/>
              </a:spcBef>
              <a:buClr>
                <a:schemeClr val="bg1"/>
              </a:buClr>
              <a:buSzPct val="25000"/>
              <a:buFontTx/>
              <a:buNone/>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114000"/>
              </a:lnSpc>
              <a:spcBef>
                <a:spcPts val="300"/>
              </a:spcBef>
              <a:buClr>
                <a:schemeClr val="bg1"/>
              </a:buClr>
              <a:buSzPct val="25000"/>
              <a:buFontTx/>
              <a:buNone/>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114000"/>
              </a:lnSpc>
              <a:spcBef>
                <a:spcPts val="300"/>
              </a:spcBef>
              <a:buClr>
                <a:schemeClr val="bg1"/>
              </a:buClr>
              <a:buSzPct val="25000"/>
              <a:buFontTx/>
              <a:buNone/>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Report </a:t>
            </a:r>
          </a:p>
          <a:p>
            <a:endParaRPr lang="en-US" dirty="0"/>
          </a:p>
        </p:txBody>
      </p:sp>
      <p:sp>
        <p:nvSpPr>
          <p:cNvPr id="14" name="Content Placeholder 5">
            <a:extLst>
              <a:ext uri="{FF2B5EF4-FFF2-40B4-BE49-F238E27FC236}">
                <a16:creationId xmlns:a16="http://schemas.microsoft.com/office/drawing/2014/main" id="{DAB4D402-C644-71A3-C618-C009ACEC5FD4}"/>
              </a:ext>
            </a:extLst>
          </p:cNvPr>
          <p:cNvSpPr txBox="1">
            <a:spLocks/>
          </p:cNvSpPr>
          <p:nvPr/>
        </p:nvSpPr>
        <p:spPr>
          <a:xfrm>
            <a:off x="838200" y="4107946"/>
            <a:ext cx="5002731" cy="179872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300"/>
              </a:spcBef>
              <a:buClr>
                <a:schemeClr val="bg1"/>
              </a:buClr>
              <a:buSzPct val="25000"/>
              <a:buFontTx/>
              <a:buNone/>
              <a:defRPr sz="1300" kern="1200">
                <a:solidFill>
                  <a:schemeClr val="tx1">
                    <a:lumMod val="75000"/>
                    <a:lumOff val="25000"/>
                  </a:schemeClr>
                </a:solidFill>
                <a:latin typeface="Segoe UI Variable Display" pitchFamily="2" charset="0"/>
                <a:ea typeface="+mn-ea"/>
                <a:cs typeface="+mn-cs"/>
              </a:defRPr>
            </a:lvl1pPr>
            <a:lvl2pPr marL="0" indent="0" algn="l" defTabSz="914400" rtl="0" eaLnBrk="1" latinLnBrk="0" hangingPunct="1">
              <a:lnSpc>
                <a:spcPct val="114000"/>
              </a:lnSpc>
              <a:spcBef>
                <a:spcPts val="300"/>
              </a:spcBef>
              <a:buClr>
                <a:schemeClr val="bg1"/>
              </a:buClr>
              <a:buSzPct val="25000"/>
              <a:buFontTx/>
              <a:buNone/>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114000"/>
              </a:lnSpc>
              <a:spcBef>
                <a:spcPts val="300"/>
              </a:spcBef>
              <a:buClr>
                <a:schemeClr val="bg1"/>
              </a:buClr>
              <a:buSzPct val="25000"/>
              <a:buFontTx/>
              <a:buNone/>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114000"/>
              </a:lnSpc>
              <a:spcBef>
                <a:spcPts val="300"/>
              </a:spcBef>
              <a:buClr>
                <a:schemeClr val="bg1"/>
              </a:buClr>
              <a:buSzPct val="25000"/>
              <a:buFontTx/>
              <a:buNone/>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114000"/>
              </a:lnSpc>
              <a:spcBef>
                <a:spcPts val="300"/>
              </a:spcBef>
              <a:buClr>
                <a:schemeClr val="bg1"/>
              </a:buClr>
              <a:buSzPct val="25000"/>
              <a:buFontTx/>
              <a:buNone/>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500"/>
              </a:spcBef>
            </a:pPr>
            <a:r>
              <a:rPr lang="en-US" dirty="0"/>
              <a:t>The case study presents customer insights of the Vietnamese coffee chain market, using simulated survey data collected from 2017 to 2019 and contextualized with current industry dynamics in 2025. Six major cities, Hanoi, Ho Chi Minh City, Da Nang, Can Tho, Hai Phong and Nha Trang, are focused and they provide insights about consumer needs, preferences and purchasing behaviors, shaping the competition of Vietnam’s beverage industry.</a:t>
            </a:r>
          </a:p>
        </p:txBody>
      </p:sp>
    </p:spTree>
    <p:extLst>
      <p:ext uri="{BB962C8B-B14F-4D97-AF65-F5344CB8AC3E}">
        <p14:creationId xmlns:p14="http://schemas.microsoft.com/office/powerpoint/2010/main" val="3909702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32E46-7317-28B0-88A9-AC470D87B3D7}"/>
              </a:ext>
            </a:extLst>
          </p:cNvPr>
          <p:cNvSpPr>
            <a:spLocks noGrp="1"/>
          </p:cNvSpPr>
          <p:nvPr>
            <p:ph type="title"/>
          </p:nvPr>
        </p:nvSpPr>
        <p:spPr/>
        <p:txBody>
          <a:bodyPr/>
          <a:lstStyle/>
          <a:p>
            <a:r>
              <a:rPr kumimoji="0" lang="en-US" sz="2800" b="0" i="0" u="none" strike="noStrike" kern="1200" cap="none" spc="0" normalizeH="0" baseline="0" noProof="0" dirty="0">
                <a:ln>
                  <a:noFill/>
                </a:ln>
                <a:solidFill>
                  <a:prstClr val="black"/>
                </a:solidFill>
                <a:effectLst/>
                <a:uLnTx/>
                <a:uFillTx/>
                <a:latin typeface="Segoe UI Semibold"/>
                <a:ea typeface="+mj-ea"/>
                <a:cs typeface="+mj-cs"/>
              </a:rPr>
              <a:t>Research Methodology</a:t>
            </a:r>
            <a:br>
              <a:rPr kumimoji="0" lang="en-US" sz="2800" b="0" i="0" u="none" strike="noStrike" kern="1200" cap="none" spc="0" normalizeH="0" baseline="0" noProof="0" dirty="0">
                <a:ln>
                  <a:noFill/>
                </a:ln>
                <a:solidFill>
                  <a:prstClr val="black"/>
                </a:solidFill>
                <a:effectLst/>
                <a:uLnTx/>
                <a:uFillTx/>
                <a:latin typeface="Segoe UI Semibold"/>
                <a:ea typeface="+mj-ea"/>
                <a:cs typeface="+mj-cs"/>
              </a:rPr>
            </a:br>
            <a:r>
              <a:rPr kumimoji="0" lang="en-US" sz="1300" b="0" i="0" u="none" strike="noStrike" kern="1200" cap="none" spc="0" normalizeH="0" baseline="0" noProof="0" dirty="0">
                <a:ln>
                  <a:noFill/>
                </a:ln>
                <a:solidFill>
                  <a:prstClr val="black">
                    <a:lumMod val="75000"/>
                    <a:lumOff val="25000"/>
                  </a:prstClr>
                </a:solidFill>
                <a:effectLst/>
                <a:uLnTx/>
                <a:uFillTx/>
                <a:latin typeface="Segoe UI Variable Small Semilig" pitchFamily="2" charset="0"/>
                <a:ea typeface="+mj-ea"/>
                <a:cs typeface="+mj-cs"/>
              </a:rPr>
              <a:t>Key findings from comprehensive customer research</a:t>
            </a:r>
            <a:endParaRPr lang="en-US" dirty="0"/>
          </a:p>
        </p:txBody>
      </p:sp>
      <p:sp>
        <p:nvSpPr>
          <p:cNvPr id="3" name="Content Placeholder 2">
            <a:extLst>
              <a:ext uri="{FF2B5EF4-FFF2-40B4-BE49-F238E27FC236}">
                <a16:creationId xmlns:a16="http://schemas.microsoft.com/office/drawing/2014/main" id="{E9EA0FD5-B9A4-46DA-8022-206E3492D31D}"/>
              </a:ext>
            </a:extLst>
          </p:cNvPr>
          <p:cNvSpPr>
            <a:spLocks noGrp="1"/>
          </p:cNvSpPr>
          <p:nvPr>
            <p:ph sz="half" idx="1"/>
          </p:nvPr>
        </p:nvSpPr>
        <p:spPr>
          <a:xfrm>
            <a:off x="838201" y="1330643"/>
            <a:ext cx="5002731" cy="384048"/>
          </a:xfrm>
        </p:spPr>
        <p:txBody>
          <a:bodyPr/>
          <a:lstStyle/>
          <a:p>
            <a:r>
              <a:rPr lang="en-US" dirty="0"/>
              <a:t>Sample Size</a:t>
            </a:r>
          </a:p>
        </p:txBody>
      </p:sp>
      <p:sp>
        <p:nvSpPr>
          <p:cNvPr id="4" name="Content Placeholder 3">
            <a:extLst>
              <a:ext uri="{FF2B5EF4-FFF2-40B4-BE49-F238E27FC236}">
                <a16:creationId xmlns:a16="http://schemas.microsoft.com/office/drawing/2014/main" id="{0AA6F121-260F-ACE5-1C00-DC6A9402A9C5}"/>
              </a:ext>
            </a:extLst>
          </p:cNvPr>
          <p:cNvSpPr>
            <a:spLocks noGrp="1"/>
          </p:cNvSpPr>
          <p:nvPr>
            <p:ph sz="half" idx="4294967295"/>
          </p:nvPr>
        </p:nvSpPr>
        <p:spPr>
          <a:xfrm>
            <a:off x="6351069" y="1330643"/>
            <a:ext cx="5002731" cy="4846320"/>
          </a:xfrm>
        </p:spPr>
        <p:txBody>
          <a:bodyPr/>
          <a:lstStyle/>
          <a:p>
            <a:endParaRPr lang="en-US" dirty="0"/>
          </a:p>
        </p:txBody>
      </p:sp>
      <p:sp>
        <p:nvSpPr>
          <p:cNvPr id="5" name="Content Placeholder 4">
            <a:extLst>
              <a:ext uri="{FF2B5EF4-FFF2-40B4-BE49-F238E27FC236}">
                <a16:creationId xmlns:a16="http://schemas.microsoft.com/office/drawing/2014/main" id="{560DA209-B11D-624E-8E0C-12A7637EF41E}"/>
              </a:ext>
            </a:extLst>
          </p:cNvPr>
          <p:cNvSpPr txBox="1">
            <a:spLocks/>
          </p:cNvSpPr>
          <p:nvPr/>
        </p:nvSpPr>
        <p:spPr>
          <a:xfrm>
            <a:off x="838200" y="1714501"/>
            <a:ext cx="5002731" cy="92336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bg1"/>
              </a:buClr>
              <a:buSzPct val="100000"/>
              <a:buFontTx/>
              <a:buChar char="‬"/>
              <a:defRPr sz="2000" kern="1200">
                <a:solidFill>
                  <a:srgbClr val="C00000"/>
                </a:solidFill>
                <a:latin typeface="+mn-lt"/>
                <a:ea typeface="+mn-ea"/>
                <a:cs typeface="+mn-cs"/>
              </a:defRPr>
            </a:lvl1pPr>
            <a:lvl2pPr marL="119063" indent="-119063" algn="l" defTabSz="914400" rtl="0" eaLnBrk="1" latinLnBrk="0" hangingPunct="1">
              <a:lnSpc>
                <a:spcPct val="90000"/>
              </a:lnSpc>
              <a:spcBef>
                <a:spcPts val="500"/>
              </a:spcBef>
              <a:buClr>
                <a:schemeClr val="bg1"/>
              </a:buClr>
              <a:buSzPct val="100000"/>
              <a:buFontTx/>
              <a:buChar char="‬"/>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90000"/>
              </a:lnSpc>
              <a:spcBef>
                <a:spcPts val="500"/>
              </a:spcBef>
              <a:buClr>
                <a:schemeClr val="bg1"/>
              </a:buClr>
              <a:buSzPct val="100000"/>
              <a:buFontTx/>
              <a:buChar char="‬"/>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90000"/>
              </a:lnSpc>
              <a:spcBef>
                <a:spcPts val="500"/>
              </a:spcBef>
              <a:buClr>
                <a:schemeClr val="bg1"/>
              </a:buClr>
              <a:buSzPct val="100000"/>
              <a:buFontTx/>
              <a:buChar char="‬"/>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90000"/>
              </a:lnSpc>
              <a:spcBef>
                <a:spcPts val="500"/>
              </a:spcBef>
              <a:buClr>
                <a:schemeClr val="bg1"/>
              </a:buClr>
              <a:buSzPct val="100000"/>
              <a:buFontTx/>
              <a:buChar char="‬"/>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spcBef>
                <a:spcPts val="500"/>
              </a:spcBef>
              <a:buNone/>
            </a:pPr>
            <a:r>
              <a:rPr lang="en-US" sz="1300" dirty="0">
                <a:solidFill>
                  <a:schemeClr val="tx1">
                    <a:lumMod val="75000"/>
                    <a:lumOff val="25000"/>
                  </a:schemeClr>
                </a:solidFill>
                <a:latin typeface="Segoe UI Variable Display" pitchFamily="2" charset="0"/>
              </a:rPr>
              <a:t>11,000 respondents aged from 16-45+, primary office workers, quotas set by gender, age, occupation, income and city representation.</a:t>
            </a:r>
          </a:p>
          <a:p>
            <a:pPr>
              <a:lnSpc>
                <a:spcPct val="114000"/>
              </a:lnSpc>
              <a:spcBef>
                <a:spcPts val="500"/>
              </a:spcBef>
              <a:buFontTx/>
              <a:buNone/>
            </a:pPr>
            <a:endParaRPr lang="en-US" sz="1300" dirty="0">
              <a:solidFill>
                <a:schemeClr val="tx1">
                  <a:lumMod val="75000"/>
                  <a:lumOff val="25000"/>
                </a:schemeClr>
              </a:solidFill>
              <a:latin typeface="Segoe UI Variable Display" pitchFamily="2" charset="0"/>
            </a:endParaRPr>
          </a:p>
        </p:txBody>
      </p:sp>
      <p:sp>
        <p:nvSpPr>
          <p:cNvPr id="6" name="Content Placeholder 2">
            <a:extLst>
              <a:ext uri="{FF2B5EF4-FFF2-40B4-BE49-F238E27FC236}">
                <a16:creationId xmlns:a16="http://schemas.microsoft.com/office/drawing/2014/main" id="{D9863D23-06ED-D5EC-7717-369D3B54572C}"/>
              </a:ext>
            </a:extLst>
          </p:cNvPr>
          <p:cNvSpPr txBox="1">
            <a:spLocks/>
          </p:cNvSpPr>
          <p:nvPr/>
        </p:nvSpPr>
        <p:spPr>
          <a:xfrm>
            <a:off x="838200" y="2637861"/>
            <a:ext cx="5002731" cy="38404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bg1"/>
              </a:buClr>
              <a:buSzPct val="25000"/>
              <a:buFontTx/>
              <a:buNone/>
              <a:defRPr sz="2000" kern="1200">
                <a:solidFill>
                  <a:srgbClr val="C00000"/>
                </a:solidFill>
                <a:latin typeface="+mn-lt"/>
                <a:ea typeface="+mn-ea"/>
                <a:cs typeface="+mn-cs"/>
              </a:defRPr>
            </a:lvl1pPr>
            <a:lvl2pPr marL="0" indent="0" algn="l" defTabSz="914400" rtl="0" eaLnBrk="1" latinLnBrk="0" hangingPunct="1">
              <a:lnSpc>
                <a:spcPct val="90000"/>
              </a:lnSpc>
              <a:spcBef>
                <a:spcPts val="500"/>
              </a:spcBef>
              <a:buClr>
                <a:schemeClr val="bg1"/>
              </a:buClr>
              <a:buSzPct val="25000"/>
              <a:buFontTx/>
              <a:buNone/>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90000"/>
              </a:lnSpc>
              <a:spcBef>
                <a:spcPts val="500"/>
              </a:spcBef>
              <a:buClr>
                <a:schemeClr val="bg1"/>
              </a:buClr>
              <a:buSzPct val="25000"/>
              <a:buFontTx/>
              <a:buNone/>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90000"/>
              </a:lnSpc>
              <a:spcBef>
                <a:spcPts val="500"/>
              </a:spcBef>
              <a:buClr>
                <a:schemeClr val="bg1"/>
              </a:buClr>
              <a:buSzPct val="25000"/>
              <a:buFontTx/>
              <a:buNone/>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90000"/>
              </a:lnSpc>
              <a:spcBef>
                <a:spcPts val="500"/>
              </a:spcBef>
              <a:buClr>
                <a:schemeClr val="bg1"/>
              </a:buClr>
              <a:buSzPct val="25000"/>
              <a:buFontTx/>
              <a:buNone/>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Geographic Coverage</a:t>
            </a:r>
          </a:p>
        </p:txBody>
      </p:sp>
      <p:sp>
        <p:nvSpPr>
          <p:cNvPr id="7" name="Content Placeholder 4">
            <a:extLst>
              <a:ext uri="{FF2B5EF4-FFF2-40B4-BE49-F238E27FC236}">
                <a16:creationId xmlns:a16="http://schemas.microsoft.com/office/drawing/2014/main" id="{59F9C625-1A1F-65CB-DA09-F769425ABA45}"/>
              </a:ext>
            </a:extLst>
          </p:cNvPr>
          <p:cNvSpPr txBox="1">
            <a:spLocks/>
          </p:cNvSpPr>
          <p:nvPr/>
        </p:nvSpPr>
        <p:spPr>
          <a:xfrm>
            <a:off x="838199" y="3021719"/>
            <a:ext cx="5002731" cy="52037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bg1"/>
              </a:buClr>
              <a:buSzPct val="100000"/>
              <a:buFontTx/>
              <a:buChar char="‬"/>
              <a:defRPr sz="2000" kern="1200">
                <a:solidFill>
                  <a:srgbClr val="C00000"/>
                </a:solidFill>
                <a:latin typeface="+mn-lt"/>
                <a:ea typeface="+mn-ea"/>
                <a:cs typeface="+mn-cs"/>
              </a:defRPr>
            </a:lvl1pPr>
            <a:lvl2pPr marL="119063" indent="-119063" algn="l" defTabSz="914400" rtl="0" eaLnBrk="1" latinLnBrk="0" hangingPunct="1">
              <a:lnSpc>
                <a:spcPct val="90000"/>
              </a:lnSpc>
              <a:spcBef>
                <a:spcPts val="500"/>
              </a:spcBef>
              <a:buClr>
                <a:schemeClr val="bg1"/>
              </a:buClr>
              <a:buSzPct val="100000"/>
              <a:buFontTx/>
              <a:buChar char="‬"/>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90000"/>
              </a:lnSpc>
              <a:spcBef>
                <a:spcPts val="500"/>
              </a:spcBef>
              <a:buClr>
                <a:schemeClr val="bg1"/>
              </a:buClr>
              <a:buSzPct val="100000"/>
              <a:buFontTx/>
              <a:buChar char="‬"/>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90000"/>
              </a:lnSpc>
              <a:spcBef>
                <a:spcPts val="500"/>
              </a:spcBef>
              <a:buClr>
                <a:schemeClr val="bg1"/>
              </a:buClr>
              <a:buSzPct val="100000"/>
              <a:buFontTx/>
              <a:buChar char="‬"/>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90000"/>
              </a:lnSpc>
              <a:spcBef>
                <a:spcPts val="500"/>
              </a:spcBef>
              <a:buClr>
                <a:schemeClr val="bg1"/>
              </a:buClr>
              <a:buSzPct val="100000"/>
              <a:buFontTx/>
              <a:buChar char="‬"/>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spcBef>
                <a:spcPts val="500"/>
              </a:spcBef>
              <a:buNone/>
            </a:pPr>
            <a:r>
              <a:rPr lang="en-US" sz="1300" dirty="0">
                <a:solidFill>
                  <a:schemeClr val="tx1">
                    <a:lumMod val="75000"/>
                    <a:lumOff val="25000"/>
                  </a:schemeClr>
                </a:solidFill>
                <a:latin typeface="Segoe UI Variable Display" pitchFamily="2" charset="0"/>
              </a:rPr>
              <a:t>Ho Chi Minh, Hanoi, Da Nang, Can Tho, Hai Phong, Nha Trang</a:t>
            </a:r>
          </a:p>
          <a:p>
            <a:pPr algn="just">
              <a:lnSpc>
                <a:spcPct val="114000"/>
              </a:lnSpc>
              <a:spcBef>
                <a:spcPts val="500"/>
              </a:spcBef>
              <a:buNone/>
            </a:pPr>
            <a:endParaRPr lang="en-US" sz="1300" dirty="0">
              <a:solidFill>
                <a:schemeClr val="tx1">
                  <a:lumMod val="75000"/>
                  <a:lumOff val="25000"/>
                </a:schemeClr>
              </a:solidFill>
              <a:latin typeface="Segoe UI Variable Display" pitchFamily="2" charset="0"/>
            </a:endParaRPr>
          </a:p>
          <a:p>
            <a:pPr>
              <a:lnSpc>
                <a:spcPct val="114000"/>
              </a:lnSpc>
              <a:spcBef>
                <a:spcPts val="500"/>
              </a:spcBef>
              <a:buFontTx/>
              <a:buNone/>
            </a:pPr>
            <a:endParaRPr lang="en-US" sz="1300" dirty="0">
              <a:solidFill>
                <a:schemeClr val="tx1">
                  <a:lumMod val="75000"/>
                  <a:lumOff val="25000"/>
                </a:schemeClr>
              </a:solidFill>
              <a:latin typeface="Segoe UI Variable Display" pitchFamily="2" charset="0"/>
            </a:endParaRPr>
          </a:p>
        </p:txBody>
      </p:sp>
      <p:sp>
        <p:nvSpPr>
          <p:cNvPr id="10" name="Content Placeholder 2">
            <a:extLst>
              <a:ext uri="{FF2B5EF4-FFF2-40B4-BE49-F238E27FC236}">
                <a16:creationId xmlns:a16="http://schemas.microsoft.com/office/drawing/2014/main" id="{FD8A6DDC-EA34-A5A1-BADC-F58361940CF4}"/>
              </a:ext>
            </a:extLst>
          </p:cNvPr>
          <p:cNvSpPr txBox="1">
            <a:spLocks/>
          </p:cNvSpPr>
          <p:nvPr/>
        </p:nvSpPr>
        <p:spPr>
          <a:xfrm>
            <a:off x="838200" y="3542097"/>
            <a:ext cx="5002731" cy="38404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bg1"/>
              </a:buClr>
              <a:buSzPct val="25000"/>
              <a:buFontTx/>
              <a:buNone/>
              <a:defRPr sz="2000" kern="1200">
                <a:solidFill>
                  <a:srgbClr val="C00000"/>
                </a:solidFill>
                <a:latin typeface="+mn-lt"/>
                <a:ea typeface="+mn-ea"/>
                <a:cs typeface="+mn-cs"/>
              </a:defRPr>
            </a:lvl1pPr>
            <a:lvl2pPr marL="0" indent="0" algn="l" defTabSz="914400" rtl="0" eaLnBrk="1" latinLnBrk="0" hangingPunct="1">
              <a:lnSpc>
                <a:spcPct val="90000"/>
              </a:lnSpc>
              <a:spcBef>
                <a:spcPts val="500"/>
              </a:spcBef>
              <a:buClr>
                <a:schemeClr val="bg1"/>
              </a:buClr>
              <a:buSzPct val="25000"/>
              <a:buFontTx/>
              <a:buNone/>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90000"/>
              </a:lnSpc>
              <a:spcBef>
                <a:spcPts val="500"/>
              </a:spcBef>
              <a:buClr>
                <a:schemeClr val="bg1"/>
              </a:buClr>
              <a:buSzPct val="25000"/>
              <a:buFontTx/>
              <a:buNone/>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90000"/>
              </a:lnSpc>
              <a:spcBef>
                <a:spcPts val="500"/>
              </a:spcBef>
              <a:buClr>
                <a:schemeClr val="bg1"/>
              </a:buClr>
              <a:buSzPct val="25000"/>
              <a:buFontTx/>
              <a:buNone/>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90000"/>
              </a:lnSpc>
              <a:spcBef>
                <a:spcPts val="500"/>
              </a:spcBef>
              <a:buClr>
                <a:schemeClr val="bg1"/>
              </a:buClr>
              <a:buSzPct val="25000"/>
              <a:buFontTx/>
              <a:buNone/>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Data Preprocessing</a:t>
            </a:r>
          </a:p>
        </p:txBody>
      </p:sp>
      <p:sp>
        <p:nvSpPr>
          <p:cNvPr id="11" name="Content Placeholder 4">
            <a:extLst>
              <a:ext uri="{FF2B5EF4-FFF2-40B4-BE49-F238E27FC236}">
                <a16:creationId xmlns:a16="http://schemas.microsoft.com/office/drawing/2014/main" id="{8AFA6612-0074-79B4-6D44-4A32C732756C}"/>
              </a:ext>
            </a:extLst>
          </p:cNvPr>
          <p:cNvSpPr txBox="1">
            <a:spLocks/>
          </p:cNvSpPr>
          <p:nvPr/>
        </p:nvSpPr>
        <p:spPr>
          <a:xfrm>
            <a:off x="838199" y="3925954"/>
            <a:ext cx="5002731" cy="9231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bg1"/>
              </a:buClr>
              <a:buSzPct val="100000"/>
              <a:buFontTx/>
              <a:buChar char="‬"/>
              <a:defRPr sz="2000" kern="1200">
                <a:solidFill>
                  <a:srgbClr val="C00000"/>
                </a:solidFill>
                <a:latin typeface="+mn-lt"/>
                <a:ea typeface="+mn-ea"/>
                <a:cs typeface="+mn-cs"/>
              </a:defRPr>
            </a:lvl1pPr>
            <a:lvl2pPr marL="119063" indent="-119063" algn="l" defTabSz="914400" rtl="0" eaLnBrk="1" latinLnBrk="0" hangingPunct="1">
              <a:lnSpc>
                <a:spcPct val="90000"/>
              </a:lnSpc>
              <a:spcBef>
                <a:spcPts val="500"/>
              </a:spcBef>
              <a:buClr>
                <a:schemeClr val="bg1"/>
              </a:buClr>
              <a:buSzPct val="100000"/>
              <a:buFontTx/>
              <a:buChar char="‬"/>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90000"/>
              </a:lnSpc>
              <a:spcBef>
                <a:spcPts val="500"/>
              </a:spcBef>
              <a:buClr>
                <a:schemeClr val="bg1"/>
              </a:buClr>
              <a:buSzPct val="100000"/>
              <a:buFontTx/>
              <a:buChar char="‬"/>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90000"/>
              </a:lnSpc>
              <a:spcBef>
                <a:spcPts val="500"/>
              </a:spcBef>
              <a:buClr>
                <a:schemeClr val="bg1"/>
              </a:buClr>
              <a:buSzPct val="100000"/>
              <a:buFontTx/>
              <a:buChar char="‬"/>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90000"/>
              </a:lnSpc>
              <a:spcBef>
                <a:spcPts val="500"/>
              </a:spcBef>
              <a:buClr>
                <a:schemeClr val="bg1"/>
              </a:buClr>
              <a:buSzPct val="100000"/>
              <a:buFontTx/>
              <a:buChar char="‬"/>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spcBef>
                <a:spcPts val="500"/>
              </a:spcBef>
              <a:buNone/>
            </a:pPr>
            <a:r>
              <a:rPr lang="en-US" sz="1300" dirty="0">
                <a:solidFill>
                  <a:schemeClr val="tx1">
                    <a:lumMod val="75000"/>
                    <a:lumOff val="25000"/>
                  </a:schemeClr>
                </a:solidFill>
                <a:latin typeface="Segoe UI Variable Display" pitchFamily="2" charset="0"/>
              </a:rPr>
              <a:t>Handling missing values, labelling and bucketing, building the data model, classifying respondents, and matching needs with brand attributes for satisfaction analysis.</a:t>
            </a:r>
          </a:p>
          <a:p>
            <a:pPr algn="just">
              <a:lnSpc>
                <a:spcPct val="114000"/>
              </a:lnSpc>
              <a:spcBef>
                <a:spcPts val="500"/>
              </a:spcBef>
              <a:buNone/>
            </a:pPr>
            <a:endParaRPr lang="en-US" sz="1300" dirty="0">
              <a:solidFill>
                <a:schemeClr val="tx1">
                  <a:lumMod val="75000"/>
                  <a:lumOff val="25000"/>
                </a:schemeClr>
              </a:solidFill>
              <a:latin typeface="Segoe UI Variable Display" pitchFamily="2" charset="0"/>
            </a:endParaRPr>
          </a:p>
        </p:txBody>
      </p:sp>
      <p:sp>
        <p:nvSpPr>
          <p:cNvPr id="12" name="Content Placeholder 2">
            <a:extLst>
              <a:ext uri="{FF2B5EF4-FFF2-40B4-BE49-F238E27FC236}">
                <a16:creationId xmlns:a16="http://schemas.microsoft.com/office/drawing/2014/main" id="{3DB21AFF-3240-E7EB-4697-FD3479191BB8}"/>
              </a:ext>
            </a:extLst>
          </p:cNvPr>
          <p:cNvSpPr txBox="1">
            <a:spLocks/>
          </p:cNvSpPr>
          <p:nvPr/>
        </p:nvSpPr>
        <p:spPr>
          <a:xfrm>
            <a:off x="838199" y="4848934"/>
            <a:ext cx="5002731" cy="38404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bg1"/>
              </a:buClr>
              <a:buSzPct val="25000"/>
              <a:buFontTx/>
              <a:buNone/>
              <a:defRPr sz="2000" kern="1200">
                <a:solidFill>
                  <a:srgbClr val="C00000"/>
                </a:solidFill>
                <a:latin typeface="+mn-lt"/>
                <a:ea typeface="+mn-ea"/>
                <a:cs typeface="+mn-cs"/>
              </a:defRPr>
            </a:lvl1pPr>
            <a:lvl2pPr marL="0" indent="0" algn="l" defTabSz="914400" rtl="0" eaLnBrk="1" latinLnBrk="0" hangingPunct="1">
              <a:lnSpc>
                <a:spcPct val="90000"/>
              </a:lnSpc>
              <a:spcBef>
                <a:spcPts val="500"/>
              </a:spcBef>
              <a:buClr>
                <a:schemeClr val="bg1"/>
              </a:buClr>
              <a:buSzPct val="25000"/>
              <a:buFontTx/>
              <a:buNone/>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90000"/>
              </a:lnSpc>
              <a:spcBef>
                <a:spcPts val="500"/>
              </a:spcBef>
              <a:buClr>
                <a:schemeClr val="bg1"/>
              </a:buClr>
              <a:buSzPct val="25000"/>
              <a:buFontTx/>
              <a:buNone/>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90000"/>
              </a:lnSpc>
              <a:spcBef>
                <a:spcPts val="500"/>
              </a:spcBef>
              <a:buClr>
                <a:schemeClr val="bg1"/>
              </a:buClr>
              <a:buSzPct val="25000"/>
              <a:buFontTx/>
              <a:buNone/>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90000"/>
              </a:lnSpc>
              <a:spcBef>
                <a:spcPts val="500"/>
              </a:spcBef>
              <a:buClr>
                <a:schemeClr val="bg1"/>
              </a:buClr>
              <a:buSzPct val="25000"/>
              <a:buFontTx/>
              <a:buNone/>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Reporting</a:t>
            </a:r>
          </a:p>
        </p:txBody>
      </p:sp>
      <p:sp>
        <p:nvSpPr>
          <p:cNvPr id="13" name="Content Placeholder 4">
            <a:extLst>
              <a:ext uri="{FF2B5EF4-FFF2-40B4-BE49-F238E27FC236}">
                <a16:creationId xmlns:a16="http://schemas.microsoft.com/office/drawing/2014/main" id="{0487D5CB-A03B-F78E-153F-A421E517F53E}"/>
              </a:ext>
            </a:extLst>
          </p:cNvPr>
          <p:cNvSpPr txBox="1">
            <a:spLocks/>
          </p:cNvSpPr>
          <p:nvPr/>
        </p:nvSpPr>
        <p:spPr>
          <a:xfrm>
            <a:off x="838198" y="5232791"/>
            <a:ext cx="5002731" cy="9231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bg1"/>
              </a:buClr>
              <a:buSzPct val="100000"/>
              <a:buFontTx/>
              <a:buChar char="‬"/>
              <a:defRPr sz="2000" kern="1200">
                <a:solidFill>
                  <a:srgbClr val="C00000"/>
                </a:solidFill>
                <a:latin typeface="+mn-lt"/>
                <a:ea typeface="+mn-ea"/>
                <a:cs typeface="+mn-cs"/>
              </a:defRPr>
            </a:lvl1pPr>
            <a:lvl2pPr marL="119063" indent="-119063" algn="l" defTabSz="914400" rtl="0" eaLnBrk="1" latinLnBrk="0" hangingPunct="1">
              <a:lnSpc>
                <a:spcPct val="90000"/>
              </a:lnSpc>
              <a:spcBef>
                <a:spcPts val="500"/>
              </a:spcBef>
              <a:buClr>
                <a:schemeClr val="bg1"/>
              </a:buClr>
              <a:buSzPct val="100000"/>
              <a:buFontTx/>
              <a:buChar char="‬"/>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90000"/>
              </a:lnSpc>
              <a:spcBef>
                <a:spcPts val="500"/>
              </a:spcBef>
              <a:buClr>
                <a:schemeClr val="bg1"/>
              </a:buClr>
              <a:buSzPct val="100000"/>
              <a:buFontTx/>
              <a:buChar char="‬"/>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90000"/>
              </a:lnSpc>
              <a:spcBef>
                <a:spcPts val="500"/>
              </a:spcBef>
              <a:buClr>
                <a:schemeClr val="bg1"/>
              </a:buClr>
              <a:buSzPct val="100000"/>
              <a:buFontTx/>
              <a:buChar char="‬"/>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90000"/>
              </a:lnSpc>
              <a:spcBef>
                <a:spcPts val="500"/>
              </a:spcBef>
              <a:buClr>
                <a:schemeClr val="bg1"/>
              </a:buClr>
              <a:buSzPct val="100000"/>
              <a:buFontTx/>
              <a:buChar char="‬"/>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spcBef>
                <a:spcPts val="500"/>
              </a:spcBef>
              <a:buNone/>
            </a:pPr>
            <a:r>
              <a:rPr lang="en-US" sz="1300" dirty="0">
                <a:solidFill>
                  <a:schemeClr val="tx1">
                    <a:lumMod val="75000"/>
                    <a:lumOff val="25000"/>
                  </a:schemeClr>
                </a:solidFill>
                <a:latin typeface="Segoe UI Variable Display" pitchFamily="2" charset="0"/>
              </a:rPr>
              <a:t>Building Power BI dashboards to analyze the competitive landscape, consumer trends and churn analysis.</a:t>
            </a:r>
          </a:p>
        </p:txBody>
      </p:sp>
      <p:sp>
        <p:nvSpPr>
          <p:cNvPr id="8" name="Slide Number Placeholder 7">
            <a:extLst>
              <a:ext uri="{FF2B5EF4-FFF2-40B4-BE49-F238E27FC236}">
                <a16:creationId xmlns:a16="http://schemas.microsoft.com/office/drawing/2014/main" id="{12794FCC-F11A-7A40-D5A4-59D3D745FF7A}"/>
              </a:ext>
            </a:extLst>
          </p:cNvPr>
          <p:cNvSpPr>
            <a:spLocks noGrp="1"/>
          </p:cNvSpPr>
          <p:nvPr>
            <p:ph type="sldNum" sz="quarter" idx="12"/>
          </p:nvPr>
        </p:nvSpPr>
        <p:spPr/>
        <p:txBody>
          <a:bodyPr/>
          <a:lstStyle/>
          <a:p>
            <a:fld id="{2D2776A3-3430-4A99-9DCB-D67D51D6910E}" type="slidenum">
              <a:rPr lang="en-US" smtClean="0"/>
              <a:t>3</a:t>
            </a:fld>
            <a:endParaRPr lang="en-US"/>
          </a:p>
        </p:txBody>
      </p:sp>
    </p:spTree>
    <p:extLst>
      <p:ext uri="{BB962C8B-B14F-4D97-AF65-F5344CB8AC3E}">
        <p14:creationId xmlns:p14="http://schemas.microsoft.com/office/powerpoint/2010/main" val="1641349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3EA0-B14C-5D7C-A046-FF27232A0AF3}"/>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Segoe UI Semibold"/>
                <a:ea typeface="+mj-ea"/>
                <a:cs typeface="+mj-cs"/>
              </a:rPr>
              <a:t>Market Structure and Expansion Speed</a:t>
            </a:r>
            <a:endParaRPr lang="en-US" dirty="0"/>
          </a:p>
        </p:txBody>
      </p:sp>
      <p:sp>
        <p:nvSpPr>
          <p:cNvPr id="5" name="Content Placeholder 2">
            <a:extLst>
              <a:ext uri="{FF2B5EF4-FFF2-40B4-BE49-F238E27FC236}">
                <a16:creationId xmlns:a16="http://schemas.microsoft.com/office/drawing/2014/main" id="{D04F5857-C758-ACD5-423C-9089B8B684CE}"/>
              </a:ext>
            </a:extLst>
          </p:cNvPr>
          <p:cNvSpPr>
            <a:spLocks noGrp="1"/>
          </p:cNvSpPr>
          <p:nvPr>
            <p:ph sz="half" idx="1"/>
          </p:nvPr>
        </p:nvSpPr>
        <p:spPr>
          <a:xfrm>
            <a:off x="838201" y="1330644"/>
            <a:ext cx="5002731" cy="484150"/>
          </a:xfrm>
        </p:spPr>
        <p:txBody>
          <a:bodyPr>
            <a:normAutofit/>
          </a:bodyPr>
          <a:lstStyle/>
          <a:p>
            <a:r>
              <a:rPr lang="en-US" sz="1800" b="1" dirty="0"/>
              <a:t>Leading Coffee Chains by Store Count</a:t>
            </a:r>
          </a:p>
        </p:txBody>
      </p:sp>
      <p:sp>
        <p:nvSpPr>
          <p:cNvPr id="15" name="Content Placeholder 14">
            <a:extLst>
              <a:ext uri="{FF2B5EF4-FFF2-40B4-BE49-F238E27FC236}">
                <a16:creationId xmlns:a16="http://schemas.microsoft.com/office/drawing/2014/main" id="{3CBD672F-A417-3045-02EC-21B1F7FDD6E2}"/>
              </a:ext>
            </a:extLst>
          </p:cNvPr>
          <p:cNvSpPr>
            <a:spLocks noGrp="1"/>
          </p:cNvSpPr>
          <p:nvPr>
            <p:ph sz="half" idx="4294967295"/>
          </p:nvPr>
        </p:nvSpPr>
        <p:spPr>
          <a:xfrm>
            <a:off x="6351069" y="1330643"/>
            <a:ext cx="5002731" cy="484149"/>
          </a:xfrm>
        </p:spPr>
        <p:txBody>
          <a:bodyPr vert="horz" lIns="91440" tIns="45720" rIns="91440" bIns="45720" rtlCol="0">
            <a:normAutofit/>
          </a:bodyPr>
          <a:lstStyle/>
          <a:p>
            <a:r>
              <a:rPr lang="en-US" b="1" dirty="0"/>
              <a:t>Growth Rate From 2024-2025 and 2019-2024</a:t>
            </a:r>
          </a:p>
        </p:txBody>
      </p:sp>
      <p:graphicFrame>
        <p:nvGraphicFramePr>
          <p:cNvPr id="14" name="Chart 13">
            <a:extLst>
              <a:ext uri="{FF2B5EF4-FFF2-40B4-BE49-F238E27FC236}">
                <a16:creationId xmlns:a16="http://schemas.microsoft.com/office/drawing/2014/main" id="{B16B2F4C-D172-4D27-E408-438889351EC4}"/>
              </a:ext>
            </a:extLst>
          </p:cNvPr>
          <p:cNvGraphicFramePr>
            <a:graphicFrameLocks/>
          </p:cNvGraphicFramePr>
          <p:nvPr>
            <p:extLst>
              <p:ext uri="{D42A27DB-BD31-4B8C-83A1-F6EECF244321}">
                <p14:modId xmlns:p14="http://schemas.microsoft.com/office/powerpoint/2010/main" val="3409585847"/>
              </p:ext>
            </p:extLst>
          </p:nvPr>
        </p:nvGraphicFramePr>
        <p:xfrm>
          <a:off x="838200" y="1814792"/>
          <a:ext cx="5002731" cy="2928658"/>
        </p:xfrm>
        <a:graphic>
          <a:graphicData uri="http://schemas.openxmlformats.org/drawingml/2006/chart">
            <c:chart xmlns:c="http://schemas.openxmlformats.org/drawingml/2006/chart" xmlns:r="http://schemas.openxmlformats.org/officeDocument/2006/relationships" r:id="rId2"/>
          </a:graphicData>
        </a:graphic>
      </p:graphicFrame>
      <p:sp>
        <p:nvSpPr>
          <p:cNvPr id="17" name="Content Placeholder 2">
            <a:extLst>
              <a:ext uri="{FF2B5EF4-FFF2-40B4-BE49-F238E27FC236}">
                <a16:creationId xmlns:a16="http://schemas.microsoft.com/office/drawing/2014/main" id="{BD925B44-8B9F-AFD8-FB46-DA6DA01B3E9A}"/>
              </a:ext>
            </a:extLst>
          </p:cNvPr>
          <p:cNvSpPr txBox="1">
            <a:spLocks/>
          </p:cNvSpPr>
          <p:nvPr/>
        </p:nvSpPr>
        <p:spPr>
          <a:xfrm rot="10800000" flipV="1">
            <a:off x="2867025" y="4933951"/>
            <a:ext cx="8486768" cy="1422398"/>
          </a:xfrm>
          <a:prstGeom prst="rect">
            <a:avLst/>
          </a:prstGeom>
        </p:spPr>
        <p:txBody>
          <a:bodyPr vert="horz" lIns="91440" tIns="45720" rIns="91440" bIns="45720" rtlCol="0">
            <a:noAutofit/>
          </a:bodyPr>
          <a:lstStyle>
            <a:defPPr>
              <a:defRPr lang="en-US"/>
            </a:defPPr>
            <a:lvl1pPr indent="0" algn="just">
              <a:lnSpc>
                <a:spcPct val="114000"/>
              </a:lnSpc>
              <a:spcBef>
                <a:spcPts val="500"/>
              </a:spcBef>
              <a:buClr>
                <a:schemeClr val="bg1"/>
              </a:buClr>
              <a:buSzPct val="100000"/>
              <a:buFontTx/>
              <a:buNone/>
              <a:defRPr sz="1300">
                <a:solidFill>
                  <a:schemeClr val="tx1">
                    <a:lumMod val="75000"/>
                    <a:lumOff val="25000"/>
                  </a:schemeClr>
                </a:solidFill>
                <a:latin typeface="Segoe UI Variable Display" pitchFamily="2" charset="0"/>
              </a:defRPr>
            </a:lvl1pPr>
            <a:lvl2pPr marL="119063" indent="-119063">
              <a:lnSpc>
                <a:spcPct val="90000"/>
              </a:lnSpc>
              <a:spcBef>
                <a:spcPts val="500"/>
              </a:spcBef>
              <a:buClr>
                <a:schemeClr val="bg1"/>
              </a:buClr>
              <a:buSzPct val="100000"/>
              <a:buFontTx/>
              <a:buChar char="‬"/>
              <a:defRPr sz="1600">
                <a:latin typeface="Segoe UI Variable Display" pitchFamily="2" charset="0"/>
              </a:defRPr>
            </a:lvl2pPr>
            <a:lvl3pPr marL="0" indent="0">
              <a:lnSpc>
                <a:spcPct val="90000"/>
              </a:lnSpc>
              <a:spcBef>
                <a:spcPts val="500"/>
              </a:spcBef>
              <a:buClr>
                <a:schemeClr val="bg1"/>
              </a:buClr>
              <a:buSzPct val="100000"/>
              <a:buFontTx/>
              <a:buChar char="‬"/>
              <a:defRPr sz="1400">
                <a:latin typeface="Segoe UI Variable Display" pitchFamily="2" charset="0"/>
              </a:defRPr>
            </a:lvl3pPr>
            <a:lvl4pPr marL="169862" indent="0">
              <a:lnSpc>
                <a:spcPct val="90000"/>
              </a:lnSpc>
              <a:spcBef>
                <a:spcPts val="500"/>
              </a:spcBef>
              <a:buClr>
                <a:schemeClr val="bg1"/>
              </a:buClr>
              <a:buSzPct val="100000"/>
              <a:buFontTx/>
              <a:buChar char="‬"/>
              <a:defRPr sz="1200">
                <a:latin typeface="Segoe UI Variable Display" pitchFamily="2" charset="0"/>
              </a:defRPr>
            </a:lvl4pPr>
            <a:lvl5pPr marL="169863" indent="0">
              <a:lnSpc>
                <a:spcPct val="90000"/>
              </a:lnSpc>
              <a:spcBef>
                <a:spcPts val="500"/>
              </a:spcBef>
              <a:buClr>
                <a:schemeClr val="bg1"/>
              </a:buClr>
              <a:buSzPct val="100000"/>
              <a:buFontTx/>
              <a:buChar char="‬"/>
              <a:defRPr sz="1100">
                <a:latin typeface="Segoe UI Variable Display"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Vietnamese coffee market is </a:t>
            </a:r>
            <a:r>
              <a:rPr lang="en-US" b="1" dirty="0">
                <a:solidFill>
                  <a:srgbClr val="C00000"/>
                </a:solidFill>
              </a:rPr>
              <a:t>fragmented significantly</a:t>
            </a:r>
            <a:r>
              <a:rPr lang="en-US" dirty="0"/>
              <a:t>, with Highlands Coffee and Phúc Long </a:t>
            </a:r>
            <a:r>
              <a:rPr lang="en-US" b="1" dirty="0">
                <a:solidFill>
                  <a:srgbClr val="C00000"/>
                </a:solidFill>
              </a:rPr>
              <a:t>accounting for approximately 72% of the top 6 brands’ coffee stores.</a:t>
            </a:r>
          </a:p>
          <a:p>
            <a:r>
              <a:rPr lang="en-US" dirty="0"/>
              <a:t>From 2019 to 2024, The Coffee House and </a:t>
            </a:r>
            <a:r>
              <a:rPr lang="en-US" dirty="0" err="1"/>
              <a:t>Cộng</a:t>
            </a:r>
            <a:r>
              <a:rPr lang="en-US" dirty="0"/>
              <a:t> </a:t>
            </a:r>
            <a:r>
              <a:rPr lang="en-US" dirty="0" err="1"/>
              <a:t>Cà</a:t>
            </a:r>
            <a:r>
              <a:rPr lang="en-US" dirty="0"/>
              <a:t> </a:t>
            </a:r>
            <a:r>
              <a:rPr lang="en-US" dirty="0" err="1"/>
              <a:t>Phê</a:t>
            </a:r>
            <a:r>
              <a:rPr lang="en-US" dirty="0"/>
              <a:t> exhibited limited expansion relative to the market. In contrast, Highlands Coffee and Phúc Long </a:t>
            </a:r>
            <a:r>
              <a:rPr lang="en-US" b="1" dirty="0">
                <a:solidFill>
                  <a:srgbClr val="C00000"/>
                </a:solidFill>
              </a:rPr>
              <a:t>doubled or even tripled their store count</a:t>
            </a:r>
            <a:r>
              <a:rPr lang="en-US" dirty="0"/>
              <a:t> over the same period and continue to sustain strong growth momentum into 2025.</a:t>
            </a:r>
          </a:p>
        </p:txBody>
      </p:sp>
      <p:graphicFrame>
        <p:nvGraphicFramePr>
          <p:cNvPr id="19" name="Chart 18">
            <a:extLst>
              <a:ext uri="{FF2B5EF4-FFF2-40B4-BE49-F238E27FC236}">
                <a16:creationId xmlns:a16="http://schemas.microsoft.com/office/drawing/2014/main" id="{C3F8F7CB-5F00-98C0-8967-B3BB7E909FDB}"/>
              </a:ext>
            </a:extLst>
          </p:cNvPr>
          <p:cNvGraphicFramePr>
            <a:graphicFrameLocks/>
          </p:cNvGraphicFramePr>
          <p:nvPr>
            <p:extLst>
              <p:ext uri="{D42A27DB-BD31-4B8C-83A1-F6EECF244321}">
                <p14:modId xmlns:p14="http://schemas.microsoft.com/office/powerpoint/2010/main" val="1801003744"/>
              </p:ext>
            </p:extLst>
          </p:nvPr>
        </p:nvGraphicFramePr>
        <p:xfrm>
          <a:off x="6351066" y="1814792"/>
          <a:ext cx="5002731" cy="2928658"/>
        </p:xfrm>
        <a:graphic>
          <a:graphicData uri="http://schemas.openxmlformats.org/drawingml/2006/chart">
            <c:chart xmlns:c="http://schemas.openxmlformats.org/drawingml/2006/chart" xmlns:r="http://schemas.openxmlformats.org/officeDocument/2006/relationships" r:id="rId3"/>
          </a:graphicData>
        </a:graphic>
      </p:graphicFrame>
      <p:sp>
        <p:nvSpPr>
          <p:cNvPr id="21" name="Content Placeholder 2">
            <a:extLst>
              <a:ext uri="{FF2B5EF4-FFF2-40B4-BE49-F238E27FC236}">
                <a16:creationId xmlns:a16="http://schemas.microsoft.com/office/drawing/2014/main" id="{F8F81036-4C01-E462-C712-24C5E06FB4C1}"/>
              </a:ext>
            </a:extLst>
          </p:cNvPr>
          <p:cNvSpPr txBox="1">
            <a:spLocks/>
          </p:cNvSpPr>
          <p:nvPr/>
        </p:nvSpPr>
        <p:spPr>
          <a:xfrm>
            <a:off x="838202" y="4933950"/>
            <a:ext cx="2028823" cy="1422399"/>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300"/>
              </a:spcBef>
              <a:buClr>
                <a:schemeClr val="bg1"/>
              </a:buClr>
              <a:buSzPct val="25000"/>
              <a:buFontTx/>
              <a:buNone/>
              <a:defRPr sz="1800" kern="1200">
                <a:solidFill>
                  <a:srgbClr val="C00000"/>
                </a:solidFill>
                <a:latin typeface="+mn-lt"/>
                <a:ea typeface="+mn-ea"/>
                <a:cs typeface="+mn-cs"/>
              </a:defRPr>
            </a:lvl1pPr>
            <a:lvl2pPr marL="0" indent="0" algn="l" defTabSz="914400" rtl="0" eaLnBrk="1" latinLnBrk="0" hangingPunct="1">
              <a:lnSpc>
                <a:spcPct val="114000"/>
              </a:lnSpc>
              <a:spcBef>
                <a:spcPts val="300"/>
              </a:spcBef>
              <a:buClr>
                <a:schemeClr val="bg1"/>
              </a:buClr>
              <a:buSzPct val="25000"/>
              <a:buFontTx/>
              <a:buNone/>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114000"/>
              </a:lnSpc>
              <a:spcBef>
                <a:spcPts val="300"/>
              </a:spcBef>
              <a:buClr>
                <a:schemeClr val="bg1"/>
              </a:buClr>
              <a:buSzPct val="25000"/>
              <a:buFontTx/>
              <a:buNone/>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114000"/>
              </a:lnSpc>
              <a:spcBef>
                <a:spcPts val="300"/>
              </a:spcBef>
              <a:buClr>
                <a:schemeClr val="bg1"/>
              </a:buClr>
              <a:buSzPct val="25000"/>
              <a:buFontTx/>
              <a:buNone/>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114000"/>
              </a:lnSpc>
              <a:spcBef>
                <a:spcPts val="300"/>
              </a:spcBef>
              <a:buClr>
                <a:schemeClr val="bg1"/>
              </a:buClr>
              <a:buSzPct val="25000"/>
              <a:buFontTx/>
              <a:buNone/>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Market </a:t>
            </a:r>
          </a:p>
          <a:p>
            <a:r>
              <a:rPr lang="en-US" sz="2000" b="1" dirty="0"/>
              <a:t>Concentration </a:t>
            </a:r>
          </a:p>
          <a:p>
            <a:r>
              <a:rPr lang="en-US" sz="2000" b="1" dirty="0"/>
              <a:t>Analysis</a:t>
            </a:r>
          </a:p>
        </p:txBody>
      </p:sp>
      <p:sp>
        <p:nvSpPr>
          <p:cNvPr id="23" name="Slide Number Placeholder 22">
            <a:extLst>
              <a:ext uri="{FF2B5EF4-FFF2-40B4-BE49-F238E27FC236}">
                <a16:creationId xmlns:a16="http://schemas.microsoft.com/office/drawing/2014/main" id="{489EA31D-3D85-93D7-0069-DB690CB0B077}"/>
              </a:ext>
            </a:extLst>
          </p:cNvPr>
          <p:cNvSpPr>
            <a:spLocks noGrp="1"/>
          </p:cNvSpPr>
          <p:nvPr>
            <p:ph type="sldNum" sz="quarter" idx="12"/>
          </p:nvPr>
        </p:nvSpPr>
        <p:spPr/>
        <p:txBody>
          <a:bodyPr/>
          <a:lstStyle/>
          <a:p>
            <a:fld id="{2D2776A3-3430-4A99-9DCB-D67D51D6910E}" type="slidenum">
              <a:rPr lang="en-US" smtClean="0"/>
              <a:t>4</a:t>
            </a:fld>
            <a:endParaRPr lang="en-US" dirty="0"/>
          </a:p>
        </p:txBody>
      </p:sp>
    </p:spTree>
    <p:extLst>
      <p:ext uri="{BB962C8B-B14F-4D97-AF65-F5344CB8AC3E}">
        <p14:creationId xmlns:p14="http://schemas.microsoft.com/office/powerpoint/2010/main" val="1995910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FF360-551B-35B4-B35E-43D86F35E129}"/>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Segoe UI Semibold"/>
                <a:ea typeface="+mj-ea"/>
                <a:cs typeface="+mj-cs"/>
              </a:rPr>
              <a:t>Brand Positioning and Store Network</a:t>
            </a:r>
            <a:endParaRPr lang="en-US" dirty="0"/>
          </a:p>
        </p:txBody>
      </p:sp>
      <p:graphicFrame>
        <p:nvGraphicFramePr>
          <p:cNvPr id="6" name="Table 5">
            <a:extLst>
              <a:ext uri="{FF2B5EF4-FFF2-40B4-BE49-F238E27FC236}">
                <a16:creationId xmlns:a16="http://schemas.microsoft.com/office/drawing/2014/main" id="{4F15604E-20E8-E5E6-F399-BE53A7DE6944}"/>
              </a:ext>
            </a:extLst>
          </p:cNvPr>
          <p:cNvGraphicFramePr>
            <a:graphicFrameLocks noGrp="1"/>
          </p:cNvGraphicFramePr>
          <p:nvPr>
            <p:extLst>
              <p:ext uri="{D42A27DB-BD31-4B8C-83A1-F6EECF244321}">
                <p14:modId xmlns:p14="http://schemas.microsoft.com/office/powerpoint/2010/main" val="1950459079"/>
              </p:ext>
            </p:extLst>
          </p:nvPr>
        </p:nvGraphicFramePr>
        <p:xfrm>
          <a:off x="838201" y="2781878"/>
          <a:ext cx="10515599" cy="3351518"/>
        </p:xfrm>
        <a:graphic>
          <a:graphicData uri="http://schemas.openxmlformats.org/drawingml/2006/table">
            <a:tbl>
              <a:tblPr firstRow="1" bandRow="1">
                <a:tableStyleId>{5C22544A-7EE6-4342-B048-85BDC9FD1C3A}</a:tableStyleId>
              </a:tblPr>
              <a:tblGrid>
                <a:gridCol w="1523090">
                  <a:extLst>
                    <a:ext uri="{9D8B030D-6E8A-4147-A177-3AD203B41FA5}">
                      <a16:colId xmlns:a16="http://schemas.microsoft.com/office/drawing/2014/main" val="719616282"/>
                    </a:ext>
                  </a:extLst>
                </a:gridCol>
                <a:gridCol w="2862645">
                  <a:extLst>
                    <a:ext uri="{9D8B030D-6E8A-4147-A177-3AD203B41FA5}">
                      <a16:colId xmlns:a16="http://schemas.microsoft.com/office/drawing/2014/main" val="3722599472"/>
                    </a:ext>
                  </a:extLst>
                </a:gridCol>
                <a:gridCol w="3500964">
                  <a:extLst>
                    <a:ext uri="{9D8B030D-6E8A-4147-A177-3AD203B41FA5}">
                      <a16:colId xmlns:a16="http://schemas.microsoft.com/office/drawing/2014/main" val="911510731"/>
                    </a:ext>
                  </a:extLst>
                </a:gridCol>
                <a:gridCol w="2628900">
                  <a:extLst>
                    <a:ext uri="{9D8B030D-6E8A-4147-A177-3AD203B41FA5}">
                      <a16:colId xmlns:a16="http://schemas.microsoft.com/office/drawing/2014/main" val="793144167"/>
                    </a:ext>
                  </a:extLst>
                </a:gridCol>
              </a:tblGrid>
              <a:tr h="271861">
                <a:tc>
                  <a:txBody>
                    <a:bodyPr/>
                    <a:lstStyle/>
                    <a:p>
                      <a:r>
                        <a:rPr lang="en-US" sz="1200" dirty="0"/>
                        <a:t>Coffee Brand</a:t>
                      </a:r>
                    </a:p>
                  </a:txBody>
                  <a:tcPr>
                    <a:lnL w="28575" cap="flat" cmpd="sng" algn="ctr">
                      <a:solidFill>
                        <a:srgbClr val="C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28575" cap="flat" cmpd="sng" algn="ctr">
                      <a:solidFill>
                        <a:srgbClr val="C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r>
                        <a:rPr lang="en-US" sz="1200" dirty="0"/>
                        <a:t>Geographic Coverage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28575" cap="flat" cmpd="sng" algn="ctr">
                      <a:solidFill>
                        <a:srgbClr val="C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r>
                        <a:rPr lang="en-US" sz="1200" dirty="0"/>
                        <a:t>Value Positioning</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28575" cap="flat" cmpd="sng" algn="ctr">
                      <a:solidFill>
                        <a:srgbClr val="C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r>
                        <a:rPr lang="en-US" sz="1200" dirty="0"/>
                        <a:t>Target Customer</a:t>
                      </a:r>
                    </a:p>
                  </a:txBody>
                  <a:tcPr>
                    <a:lnL w="12700" cap="flat" cmpd="sng" algn="ctr">
                      <a:solidFill>
                        <a:schemeClr val="bg1">
                          <a:lumMod val="75000"/>
                        </a:schemeClr>
                      </a:solidFill>
                      <a:prstDash val="solid"/>
                      <a:round/>
                      <a:headEnd type="none" w="med" len="med"/>
                      <a:tailEnd type="none" w="med" len="med"/>
                    </a:lnL>
                    <a:lnR w="28575" cap="flat" cmpd="sng" algn="ctr">
                      <a:solidFill>
                        <a:srgbClr val="C00000"/>
                      </a:solidFill>
                      <a:prstDash val="solid"/>
                      <a:round/>
                      <a:headEnd type="none" w="med" len="med"/>
                      <a:tailEnd type="none" w="med" len="med"/>
                    </a:lnR>
                    <a:lnT w="28575" cap="flat" cmpd="sng" algn="ctr">
                      <a:solidFill>
                        <a:srgbClr val="C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152722531"/>
                  </a:ext>
                </a:extLst>
              </a:tr>
              <a:tr h="454888">
                <a:tc>
                  <a:txBody>
                    <a:bodyPr/>
                    <a:lstStyle/>
                    <a:p>
                      <a:r>
                        <a:rPr lang="en-US" sz="1200" b="0" dirty="0">
                          <a:solidFill>
                            <a:schemeClr val="tx1">
                              <a:lumMod val="75000"/>
                              <a:lumOff val="25000"/>
                            </a:schemeClr>
                          </a:solidFill>
                          <a:latin typeface="Segoe UI Variable Display" pitchFamily="2" charset="0"/>
                        </a:rPr>
                        <a:t>Highlands Coffee</a:t>
                      </a:r>
                    </a:p>
                  </a:txBody>
                  <a:tcPr anchor="ctr">
                    <a:lnL w="28575" cap="flat" cmpd="sng" algn="ctr">
                      <a:solidFill>
                        <a:srgbClr val="C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Southeast Asia (Vietnam, Malaysia, Philippines)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Affordability and convenience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Students, office workers and middle-aged customers</a:t>
                      </a:r>
                    </a:p>
                  </a:txBody>
                  <a:tcPr anchor="ctr">
                    <a:lnL w="12700" cap="flat" cmpd="sng" algn="ctr">
                      <a:solidFill>
                        <a:schemeClr val="bg1">
                          <a:lumMod val="75000"/>
                        </a:schemeClr>
                      </a:solidFill>
                      <a:prstDash val="solid"/>
                      <a:round/>
                      <a:headEnd type="none" w="med" len="med"/>
                      <a:tailEnd type="none" w="med" len="med"/>
                    </a:lnL>
                    <a:lnR w="28575" cap="flat" cmpd="sng" algn="ctr">
                      <a:solidFill>
                        <a:srgbClr val="C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3253841269"/>
                  </a:ext>
                </a:extLst>
              </a:tr>
              <a:tr h="454888">
                <a:tc>
                  <a:txBody>
                    <a:bodyPr/>
                    <a:lstStyle/>
                    <a:p>
                      <a:r>
                        <a:rPr lang="en-US" sz="1200" b="0" dirty="0">
                          <a:solidFill>
                            <a:schemeClr val="tx1">
                              <a:lumMod val="75000"/>
                              <a:lumOff val="25000"/>
                            </a:schemeClr>
                          </a:solidFill>
                          <a:latin typeface="Segoe UI Variable Display" pitchFamily="2" charset="0"/>
                        </a:rPr>
                        <a:t>Phúc Long</a:t>
                      </a:r>
                    </a:p>
                  </a:txBody>
                  <a:tcPr anchor="ctr">
                    <a:lnL w="28575" cap="flat" cmpd="sng" algn="ctr">
                      <a:solidFill>
                        <a:srgbClr val="C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Nationwide and a few stores in the USA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Affordable and quality tea products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Students and office workers</a:t>
                      </a:r>
                    </a:p>
                  </a:txBody>
                  <a:tcPr anchor="ctr">
                    <a:lnL w="12700" cap="flat" cmpd="sng" algn="ctr">
                      <a:solidFill>
                        <a:schemeClr val="bg1">
                          <a:lumMod val="75000"/>
                        </a:schemeClr>
                      </a:solidFill>
                      <a:prstDash val="solid"/>
                      <a:round/>
                      <a:headEnd type="none" w="med" len="med"/>
                      <a:tailEnd type="none" w="med" len="med"/>
                    </a:lnL>
                    <a:lnR w="28575" cap="flat" cmpd="sng" algn="ctr">
                      <a:solidFill>
                        <a:srgbClr val="C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3747081619"/>
                  </a:ext>
                </a:extLst>
              </a:tr>
              <a:tr h="454888">
                <a:tc>
                  <a:txBody>
                    <a:bodyPr/>
                    <a:lstStyle/>
                    <a:p>
                      <a:r>
                        <a:rPr lang="en-US" sz="1200" b="0" dirty="0">
                          <a:solidFill>
                            <a:schemeClr val="tx1">
                              <a:lumMod val="75000"/>
                              <a:lumOff val="25000"/>
                            </a:schemeClr>
                          </a:solidFill>
                          <a:latin typeface="Segoe UI Variable Display" pitchFamily="2" charset="0"/>
                        </a:rPr>
                        <a:t>Starbucks</a:t>
                      </a:r>
                    </a:p>
                  </a:txBody>
                  <a:tcPr anchor="ctr">
                    <a:lnL w="28575" cap="flat" cmpd="sng" algn="ctr">
                      <a:solidFill>
                        <a:srgbClr val="C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Global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Creative, premium and varied menu</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Students, office workers and businessmen with disposable income</a:t>
                      </a:r>
                    </a:p>
                  </a:txBody>
                  <a:tcPr anchor="ctr">
                    <a:lnL w="12700" cap="flat" cmpd="sng" algn="ctr">
                      <a:solidFill>
                        <a:schemeClr val="bg1">
                          <a:lumMod val="75000"/>
                        </a:schemeClr>
                      </a:solidFill>
                      <a:prstDash val="solid"/>
                      <a:round/>
                      <a:headEnd type="none" w="med" len="med"/>
                      <a:tailEnd type="none" w="med" len="med"/>
                    </a:lnL>
                    <a:lnR w="28575" cap="flat" cmpd="sng" algn="ctr">
                      <a:solidFill>
                        <a:srgbClr val="C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882525591"/>
                  </a:ext>
                </a:extLst>
              </a:tr>
              <a:tr h="443773">
                <a:tc>
                  <a:txBody>
                    <a:bodyPr/>
                    <a:lstStyle/>
                    <a:p>
                      <a:r>
                        <a:rPr lang="en-US" sz="1200" b="0" dirty="0">
                          <a:solidFill>
                            <a:schemeClr val="tx1">
                              <a:lumMod val="75000"/>
                              <a:lumOff val="25000"/>
                            </a:schemeClr>
                          </a:solidFill>
                          <a:latin typeface="Segoe UI Variable Display" pitchFamily="2" charset="0"/>
                        </a:rPr>
                        <a:t>Trung Nguyên</a:t>
                      </a:r>
                    </a:p>
                  </a:txBody>
                  <a:tcPr anchor="ctr">
                    <a:lnL w="28575" cap="flat" cmpd="sng" algn="ctr">
                      <a:solidFill>
                        <a:srgbClr val="C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Vietnam, China, and North America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High-quality Vietnamese coffee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Middle-aged businessmen</a:t>
                      </a:r>
                    </a:p>
                  </a:txBody>
                  <a:tcPr anchor="ctr">
                    <a:lnL w="12700" cap="flat" cmpd="sng" algn="ctr">
                      <a:solidFill>
                        <a:schemeClr val="bg1">
                          <a:lumMod val="75000"/>
                        </a:schemeClr>
                      </a:solidFill>
                      <a:prstDash val="solid"/>
                      <a:round/>
                      <a:headEnd type="none" w="med" len="med"/>
                      <a:tailEnd type="none" w="med" len="med"/>
                    </a:lnL>
                    <a:lnR w="28575" cap="flat" cmpd="sng" algn="ctr">
                      <a:solidFill>
                        <a:srgbClr val="C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2867263561"/>
                  </a:ext>
                </a:extLst>
              </a:tr>
              <a:tr h="454888">
                <a:tc>
                  <a:txBody>
                    <a:bodyPr/>
                    <a:lstStyle/>
                    <a:p>
                      <a:r>
                        <a:rPr lang="en-US" sz="1200" b="0" dirty="0">
                          <a:solidFill>
                            <a:schemeClr val="tx1">
                              <a:lumMod val="75000"/>
                              <a:lumOff val="25000"/>
                            </a:schemeClr>
                          </a:solidFill>
                          <a:latin typeface="Segoe UI Variable Display" pitchFamily="2" charset="0"/>
                        </a:rPr>
                        <a:t>The Coffee House</a:t>
                      </a:r>
                    </a:p>
                  </a:txBody>
                  <a:tcPr anchor="ctr">
                    <a:lnL w="28575" cap="flat" cmpd="sng" algn="ctr">
                      <a:solidFill>
                        <a:srgbClr val="C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Nationwide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Quality product and comfortable environment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Students, office workers, and freelancers</a:t>
                      </a:r>
                    </a:p>
                  </a:txBody>
                  <a:tcPr anchor="ctr">
                    <a:lnL w="12700" cap="flat" cmpd="sng" algn="ctr">
                      <a:solidFill>
                        <a:schemeClr val="bg1">
                          <a:lumMod val="75000"/>
                        </a:schemeClr>
                      </a:solidFill>
                      <a:prstDash val="solid"/>
                      <a:round/>
                      <a:headEnd type="none" w="med" len="med"/>
                      <a:tailEnd type="none" w="med" len="med"/>
                    </a:lnL>
                    <a:lnR w="28575" cap="flat" cmpd="sng" algn="ctr">
                      <a:solidFill>
                        <a:srgbClr val="C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3362792061"/>
                  </a:ext>
                </a:extLst>
              </a:tr>
              <a:tr h="624057">
                <a:tc>
                  <a:txBody>
                    <a:bodyPr/>
                    <a:lstStyle/>
                    <a:p>
                      <a:r>
                        <a:rPr lang="en-US" sz="1200" b="0" dirty="0" err="1">
                          <a:solidFill>
                            <a:schemeClr val="tx1">
                              <a:lumMod val="75000"/>
                              <a:lumOff val="25000"/>
                            </a:schemeClr>
                          </a:solidFill>
                          <a:latin typeface="Segoe UI Variable Display" pitchFamily="2" charset="0"/>
                        </a:rPr>
                        <a:t>Cộng</a:t>
                      </a:r>
                      <a:r>
                        <a:rPr lang="en-US" sz="1200" b="0" dirty="0">
                          <a:solidFill>
                            <a:schemeClr val="tx1">
                              <a:lumMod val="75000"/>
                              <a:lumOff val="25000"/>
                            </a:schemeClr>
                          </a:solidFill>
                          <a:latin typeface="Segoe UI Variable Display" pitchFamily="2" charset="0"/>
                        </a:rPr>
                        <a:t> </a:t>
                      </a:r>
                      <a:r>
                        <a:rPr lang="en-US" sz="1200" b="0" dirty="0" err="1">
                          <a:solidFill>
                            <a:schemeClr val="tx1">
                              <a:lumMod val="75000"/>
                              <a:lumOff val="25000"/>
                            </a:schemeClr>
                          </a:solidFill>
                          <a:latin typeface="Segoe UI Variable Display" pitchFamily="2" charset="0"/>
                        </a:rPr>
                        <a:t>Cà</a:t>
                      </a:r>
                      <a:r>
                        <a:rPr lang="en-US" sz="1200" b="0" dirty="0">
                          <a:solidFill>
                            <a:schemeClr val="tx1">
                              <a:lumMod val="75000"/>
                              <a:lumOff val="25000"/>
                            </a:schemeClr>
                          </a:solidFill>
                          <a:latin typeface="Segoe UI Variable Display" pitchFamily="2" charset="0"/>
                        </a:rPr>
                        <a:t> </a:t>
                      </a:r>
                      <a:r>
                        <a:rPr lang="en-US" sz="1200" b="0" dirty="0" err="1">
                          <a:solidFill>
                            <a:schemeClr val="tx1">
                              <a:lumMod val="75000"/>
                              <a:lumOff val="25000"/>
                            </a:schemeClr>
                          </a:solidFill>
                          <a:latin typeface="Segoe UI Variable Display" pitchFamily="2" charset="0"/>
                        </a:rPr>
                        <a:t>Phê</a:t>
                      </a:r>
                      <a:endParaRPr lang="en-US" sz="1200" b="0" dirty="0">
                        <a:solidFill>
                          <a:schemeClr val="tx1">
                            <a:lumMod val="75000"/>
                            <a:lumOff val="25000"/>
                          </a:schemeClr>
                        </a:solidFill>
                        <a:latin typeface="Segoe UI Variable Display" pitchFamily="2" charset="0"/>
                      </a:endParaRPr>
                    </a:p>
                  </a:txBody>
                  <a:tcPr anchor="ctr">
                    <a:lnL w="28575" cap="flat" cmpd="sng" algn="ctr">
                      <a:solidFill>
                        <a:srgbClr val="C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Nationwide and a few stores in Korea, Canada, Taiwan and Malaysia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Unique Hanoian drinks and Subsidy Period interior design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r>
                        <a:rPr lang="en-US" sz="1200" b="0" dirty="0">
                          <a:solidFill>
                            <a:schemeClr val="tx1">
                              <a:lumMod val="75000"/>
                              <a:lumOff val="25000"/>
                            </a:schemeClr>
                          </a:solidFill>
                          <a:latin typeface="Segoe UI Variable Display" pitchFamily="2" charset="0"/>
                        </a:rPr>
                        <a:t>Tourists and culture lovers</a:t>
                      </a:r>
                    </a:p>
                  </a:txBody>
                  <a:tcPr anchor="ctr">
                    <a:lnL w="12700" cap="flat" cmpd="sng" algn="ctr">
                      <a:solidFill>
                        <a:schemeClr val="bg1">
                          <a:lumMod val="75000"/>
                        </a:schemeClr>
                      </a:solidFill>
                      <a:prstDash val="solid"/>
                      <a:round/>
                      <a:headEnd type="none" w="med" len="med"/>
                      <a:tailEnd type="none" w="med" len="med"/>
                    </a:lnL>
                    <a:lnR w="28575" cap="flat" cmpd="sng" algn="ctr">
                      <a:solidFill>
                        <a:srgbClr val="C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585314856"/>
                  </a:ext>
                </a:extLst>
              </a:tr>
            </a:tbl>
          </a:graphicData>
        </a:graphic>
      </p:graphicFrame>
      <p:sp>
        <p:nvSpPr>
          <p:cNvPr id="7" name="Content Placeholder 2">
            <a:extLst>
              <a:ext uri="{FF2B5EF4-FFF2-40B4-BE49-F238E27FC236}">
                <a16:creationId xmlns:a16="http://schemas.microsoft.com/office/drawing/2014/main" id="{A0D3C8DA-BF78-7BCF-B49F-A8EF1CBC7E79}"/>
              </a:ext>
            </a:extLst>
          </p:cNvPr>
          <p:cNvSpPr txBox="1">
            <a:spLocks/>
          </p:cNvSpPr>
          <p:nvPr/>
        </p:nvSpPr>
        <p:spPr>
          <a:xfrm rot="10800000" flipV="1">
            <a:off x="2136806" y="1317813"/>
            <a:ext cx="9130357" cy="1172834"/>
          </a:xfrm>
          <a:prstGeom prst="rect">
            <a:avLst/>
          </a:prstGeom>
        </p:spPr>
        <p:txBody>
          <a:bodyPr vert="horz" lIns="91440" tIns="45720" rIns="91440" bIns="45720" rtlCol="0">
            <a:noAutofit/>
          </a:bodyPr>
          <a:lstStyle>
            <a:defPPr>
              <a:defRPr lang="en-US"/>
            </a:defPPr>
            <a:lvl1pPr indent="0" algn="just">
              <a:lnSpc>
                <a:spcPct val="114000"/>
              </a:lnSpc>
              <a:spcBef>
                <a:spcPts val="500"/>
              </a:spcBef>
              <a:buClr>
                <a:schemeClr val="bg1"/>
              </a:buClr>
              <a:buSzPct val="100000"/>
              <a:buFontTx/>
              <a:buNone/>
              <a:defRPr sz="1300">
                <a:solidFill>
                  <a:schemeClr val="tx1">
                    <a:lumMod val="75000"/>
                    <a:lumOff val="25000"/>
                  </a:schemeClr>
                </a:solidFill>
                <a:latin typeface="Segoe UI Variable Display" pitchFamily="2" charset="0"/>
              </a:defRPr>
            </a:lvl1pPr>
            <a:lvl2pPr marL="119063" indent="-119063">
              <a:lnSpc>
                <a:spcPct val="90000"/>
              </a:lnSpc>
              <a:spcBef>
                <a:spcPts val="500"/>
              </a:spcBef>
              <a:buClr>
                <a:schemeClr val="bg1"/>
              </a:buClr>
              <a:buSzPct val="100000"/>
              <a:buFontTx/>
              <a:buChar char="‬"/>
              <a:defRPr sz="1600">
                <a:latin typeface="Segoe UI Variable Display" pitchFamily="2" charset="0"/>
              </a:defRPr>
            </a:lvl2pPr>
            <a:lvl3pPr marL="0" indent="0">
              <a:lnSpc>
                <a:spcPct val="90000"/>
              </a:lnSpc>
              <a:spcBef>
                <a:spcPts val="500"/>
              </a:spcBef>
              <a:buClr>
                <a:schemeClr val="bg1"/>
              </a:buClr>
              <a:buSzPct val="100000"/>
              <a:buFontTx/>
              <a:buChar char="‬"/>
              <a:defRPr sz="1400">
                <a:latin typeface="Segoe UI Variable Display" pitchFamily="2" charset="0"/>
              </a:defRPr>
            </a:lvl3pPr>
            <a:lvl4pPr marL="169862" indent="0">
              <a:lnSpc>
                <a:spcPct val="90000"/>
              </a:lnSpc>
              <a:spcBef>
                <a:spcPts val="500"/>
              </a:spcBef>
              <a:buClr>
                <a:schemeClr val="bg1"/>
              </a:buClr>
              <a:buSzPct val="100000"/>
              <a:buFontTx/>
              <a:buChar char="‬"/>
              <a:defRPr sz="1200">
                <a:latin typeface="Segoe UI Variable Display" pitchFamily="2" charset="0"/>
              </a:defRPr>
            </a:lvl4pPr>
            <a:lvl5pPr marL="169863" indent="0">
              <a:lnSpc>
                <a:spcPct val="90000"/>
              </a:lnSpc>
              <a:spcBef>
                <a:spcPts val="500"/>
              </a:spcBef>
              <a:buClr>
                <a:schemeClr val="bg1"/>
              </a:buClr>
              <a:buSzPct val="100000"/>
              <a:buFontTx/>
              <a:buChar char="‬"/>
              <a:defRPr sz="1100">
                <a:latin typeface="Segoe UI Variable Display"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just" defTabSz="914400" rtl="0" eaLnBrk="1" fontAlgn="auto" latinLnBrk="0" hangingPunct="1">
              <a:lnSpc>
                <a:spcPct val="114000"/>
              </a:lnSpc>
              <a:spcBef>
                <a:spcPts val="500"/>
              </a:spcBef>
              <a:spcAft>
                <a:spcPts val="0"/>
              </a:spcAft>
              <a:buClrTx/>
              <a:buSzTx/>
              <a:buFontTx/>
              <a:buNone/>
              <a:tabLst/>
              <a:defRPr/>
            </a:pPr>
            <a:r>
              <a:rPr kumimoji="0" lang="en-US" sz="1300" b="1" i="0" u="none" strike="noStrike" kern="1200" cap="none" spc="0" normalizeH="0" baseline="0" noProof="0" dirty="0">
                <a:ln>
                  <a:noFill/>
                </a:ln>
                <a:solidFill>
                  <a:srgbClr val="C00000"/>
                </a:solidFill>
                <a:effectLst/>
                <a:uLnTx/>
                <a:uFillTx/>
                <a:latin typeface="Segoe UI Variable Display" pitchFamily="2" charset="0"/>
                <a:ea typeface="+mn-ea"/>
                <a:cs typeface="+mn-cs"/>
              </a:rPr>
              <a:t>Four out of five major Vietnamese brands have expanded beyond Vietnam</a:t>
            </a:r>
            <a:r>
              <a:rPr kumimoji="0" lang="en-US" sz="1300" b="0" i="0" u="none" strike="noStrike" kern="1200" cap="none" spc="0" normalizeH="0" baseline="0" noProof="0" dirty="0">
                <a:ln>
                  <a:noFill/>
                </a:ln>
                <a:solidFill>
                  <a:prstClr val="black">
                    <a:lumMod val="75000"/>
                    <a:lumOff val="25000"/>
                  </a:prstClr>
                </a:solidFill>
                <a:effectLst/>
                <a:uLnTx/>
                <a:uFillTx/>
                <a:latin typeface="Segoe UI Variable Display" pitchFamily="2" charset="0"/>
                <a:ea typeface="+mn-ea"/>
                <a:cs typeface="+mn-cs"/>
              </a:rPr>
              <a:t>, into Southeast Asia and North America. </a:t>
            </a:r>
          </a:p>
          <a:p>
            <a:pPr marL="0" marR="0" lvl="0" indent="0" algn="just" defTabSz="914400" rtl="0" eaLnBrk="1" fontAlgn="auto" latinLnBrk="0" hangingPunct="1">
              <a:lnSpc>
                <a:spcPct val="114000"/>
              </a:lnSpc>
              <a:spcBef>
                <a:spcPts val="500"/>
              </a:spcBef>
              <a:spcAft>
                <a:spcPts val="0"/>
              </a:spcAft>
              <a:buClrTx/>
              <a:buSzTx/>
              <a:buFontTx/>
              <a:buNone/>
              <a:tabLst/>
              <a:defRPr/>
            </a:pPr>
            <a:r>
              <a:rPr kumimoji="0" lang="en-US" sz="1300" b="0" i="0" u="none" strike="noStrike" kern="1200" cap="none" spc="0" normalizeH="0" baseline="0" noProof="0" dirty="0">
                <a:ln>
                  <a:noFill/>
                </a:ln>
                <a:solidFill>
                  <a:prstClr val="black">
                    <a:lumMod val="75000"/>
                    <a:lumOff val="25000"/>
                  </a:prstClr>
                </a:solidFill>
                <a:effectLst/>
                <a:uLnTx/>
                <a:uFillTx/>
                <a:latin typeface="Segoe UI Variable Display" pitchFamily="2" charset="0"/>
                <a:ea typeface="+mn-ea"/>
                <a:cs typeface="+mn-cs"/>
              </a:rPr>
              <a:t>Competition </a:t>
            </a:r>
            <a:r>
              <a:rPr kumimoji="0" lang="en-US" sz="1300" b="0" i="0" u="none" strike="noStrike" kern="1200" cap="none" spc="0" normalizeH="0" baseline="0" noProof="0" dirty="0">
                <a:ln>
                  <a:noFill/>
                </a:ln>
                <a:solidFill>
                  <a:prstClr val="black"/>
                </a:solidFill>
                <a:effectLst/>
                <a:uLnTx/>
                <a:uFillTx/>
                <a:latin typeface="Segoe UI Variable Display" pitchFamily="2" charset="0"/>
                <a:ea typeface="+mn-ea"/>
                <a:cs typeface="+mn-cs"/>
              </a:rPr>
              <a:t>is </a:t>
            </a:r>
            <a:r>
              <a:rPr kumimoji="0" lang="en-US" sz="1300" b="1" i="0" u="none" strike="noStrike" kern="1200" cap="none" spc="0" normalizeH="0" baseline="0" noProof="0" dirty="0">
                <a:ln>
                  <a:noFill/>
                </a:ln>
                <a:solidFill>
                  <a:srgbClr val="C00000"/>
                </a:solidFill>
                <a:effectLst/>
                <a:uLnTx/>
                <a:uFillTx/>
                <a:latin typeface="Segoe UI Variable Display" pitchFamily="2" charset="0"/>
                <a:ea typeface="+mn-ea"/>
                <a:cs typeface="+mn-cs"/>
              </a:rPr>
              <a:t>driven by product quality, menu variety, and experiential store design</a:t>
            </a:r>
            <a:r>
              <a:rPr kumimoji="0" lang="en-US" sz="1300" b="0" i="0" u="none" strike="noStrike" kern="1200" cap="none" spc="0" normalizeH="0" baseline="0" noProof="0" dirty="0">
                <a:ln>
                  <a:noFill/>
                </a:ln>
                <a:solidFill>
                  <a:prstClr val="black">
                    <a:lumMod val="75000"/>
                    <a:lumOff val="25000"/>
                  </a:prstClr>
                </a:solidFill>
                <a:effectLst/>
                <a:uLnTx/>
                <a:uFillTx/>
                <a:latin typeface="Segoe UI Variable Display" pitchFamily="2" charset="0"/>
                <a:ea typeface="+mn-ea"/>
                <a:cs typeface="+mn-cs"/>
              </a:rPr>
              <a:t>, with a heavy focus on </a:t>
            </a:r>
            <a:r>
              <a:rPr kumimoji="0" lang="en-US" sz="1300" b="1" i="0" u="none" strike="noStrike" kern="1200" cap="none" spc="0" normalizeH="0" baseline="0" noProof="0" dirty="0">
                <a:ln>
                  <a:noFill/>
                </a:ln>
                <a:solidFill>
                  <a:srgbClr val="C00000"/>
                </a:solidFill>
                <a:effectLst/>
                <a:uLnTx/>
                <a:uFillTx/>
                <a:latin typeface="Segoe UI Variable Display" pitchFamily="2" charset="0"/>
                <a:ea typeface="+mn-ea"/>
                <a:cs typeface="+mn-cs"/>
              </a:rPr>
              <a:t>Gen Y and Gen Z</a:t>
            </a:r>
            <a:r>
              <a:rPr kumimoji="0" lang="en-US" sz="1300" b="1" i="0" u="none" strike="noStrike" kern="1200" cap="none" spc="0" normalizeH="0" baseline="0" noProof="0" dirty="0">
                <a:ln>
                  <a:noFill/>
                </a:ln>
                <a:solidFill>
                  <a:prstClr val="black"/>
                </a:solidFill>
                <a:effectLst/>
                <a:uLnTx/>
                <a:uFillTx/>
                <a:latin typeface="Segoe UI Variable Display" pitchFamily="2" charset="0"/>
                <a:ea typeface="+mn-ea"/>
                <a:cs typeface="+mn-cs"/>
              </a:rPr>
              <a:t> </a:t>
            </a:r>
            <a:r>
              <a:rPr kumimoji="0" lang="en-US" sz="1300" b="0" i="0" u="none" strike="noStrike" kern="1200" cap="none" spc="0" normalizeH="0" baseline="0" noProof="0" dirty="0">
                <a:ln>
                  <a:noFill/>
                </a:ln>
                <a:solidFill>
                  <a:prstClr val="black">
                    <a:lumMod val="75000"/>
                    <a:lumOff val="25000"/>
                  </a:prstClr>
                </a:solidFill>
                <a:effectLst/>
                <a:uLnTx/>
                <a:uFillTx/>
                <a:latin typeface="Segoe UI Variable Display" pitchFamily="2" charset="0"/>
                <a:ea typeface="+mn-ea"/>
                <a:cs typeface="+mn-cs"/>
              </a:rPr>
              <a:t>as core customer segments. Starbucks and Trung Nguyen stand out with premium and creative offerings, attracting the young and businessmen with high disposable income.</a:t>
            </a:r>
          </a:p>
        </p:txBody>
      </p:sp>
      <p:sp>
        <p:nvSpPr>
          <p:cNvPr id="8" name="Content Placeholder 2">
            <a:extLst>
              <a:ext uri="{FF2B5EF4-FFF2-40B4-BE49-F238E27FC236}">
                <a16:creationId xmlns:a16="http://schemas.microsoft.com/office/drawing/2014/main" id="{F1A07E2E-FF46-AED3-AE92-22B2DA6347BB}"/>
              </a:ext>
            </a:extLst>
          </p:cNvPr>
          <p:cNvSpPr txBox="1">
            <a:spLocks/>
          </p:cNvSpPr>
          <p:nvPr/>
        </p:nvSpPr>
        <p:spPr>
          <a:xfrm>
            <a:off x="838198" y="1442595"/>
            <a:ext cx="1385234" cy="923270"/>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300"/>
              </a:spcBef>
              <a:buClr>
                <a:schemeClr val="bg1"/>
              </a:buClr>
              <a:buSzPct val="25000"/>
              <a:buFontTx/>
              <a:buNone/>
              <a:defRPr sz="1800" kern="1200">
                <a:solidFill>
                  <a:srgbClr val="C00000"/>
                </a:solidFill>
                <a:latin typeface="+mn-lt"/>
                <a:ea typeface="+mn-ea"/>
                <a:cs typeface="+mn-cs"/>
              </a:defRPr>
            </a:lvl1pPr>
            <a:lvl2pPr marL="0" indent="0" algn="l" defTabSz="914400" rtl="0" eaLnBrk="1" latinLnBrk="0" hangingPunct="1">
              <a:lnSpc>
                <a:spcPct val="114000"/>
              </a:lnSpc>
              <a:spcBef>
                <a:spcPts val="300"/>
              </a:spcBef>
              <a:buClr>
                <a:schemeClr val="bg1"/>
              </a:buClr>
              <a:buSzPct val="25000"/>
              <a:buFontTx/>
              <a:buNone/>
              <a:defRPr sz="1600" kern="1200">
                <a:solidFill>
                  <a:schemeClr val="tx1"/>
                </a:solidFill>
                <a:latin typeface="Segoe UI Variable Display" pitchFamily="2" charset="0"/>
                <a:ea typeface="+mn-ea"/>
                <a:cs typeface="+mn-cs"/>
              </a:defRPr>
            </a:lvl2pPr>
            <a:lvl3pPr marL="0" indent="0" algn="l" defTabSz="914400" rtl="0" eaLnBrk="1" latinLnBrk="0" hangingPunct="1">
              <a:lnSpc>
                <a:spcPct val="114000"/>
              </a:lnSpc>
              <a:spcBef>
                <a:spcPts val="300"/>
              </a:spcBef>
              <a:buClr>
                <a:schemeClr val="bg1"/>
              </a:buClr>
              <a:buSzPct val="25000"/>
              <a:buFontTx/>
              <a:buNone/>
              <a:defRPr sz="1400" kern="1200">
                <a:solidFill>
                  <a:schemeClr val="tx1"/>
                </a:solidFill>
                <a:latin typeface="Segoe UI Variable Display" pitchFamily="2" charset="0"/>
                <a:ea typeface="+mn-ea"/>
                <a:cs typeface="+mn-cs"/>
              </a:defRPr>
            </a:lvl3pPr>
            <a:lvl4pPr marL="169862" indent="0" algn="l" defTabSz="914400" rtl="0" eaLnBrk="1" latinLnBrk="0" hangingPunct="1">
              <a:lnSpc>
                <a:spcPct val="114000"/>
              </a:lnSpc>
              <a:spcBef>
                <a:spcPts val="300"/>
              </a:spcBef>
              <a:buClr>
                <a:schemeClr val="bg1"/>
              </a:buClr>
              <a:buSzPct val="25000"/>
              <a:buFontTx/>
              <a:buNone/>
              <a:defRPr sz="1200" kern="1200">
                <a:solidFill>
                  <a:schemeClr val="tx1"/>
                </a:solidFill>
                <a:latin typeface="Segoe UI Variable Display" pitchFamily="2" charset="0"/>
                <a:ea typeface="+mn-ea"/>
                <a:cs typeface="+mn-cs"/>
              </a:defRPr>
            </a:lvl4pPr>
            <a:lvl5pPr marL="169863" indent="0" algn="l" defTabSz="914400" rtl="0" eaLnBrk="1" latinLnBrk="0" hangingPunct="1">
              <a:lnSpc>
                <a:spcPct val="114000"/>
              </a:lnSpc>
              <a:spcBef>
                <a:spcPts val="300"/>
              </a:spcBef>
              <a:buClr>
                <a:schemeClr val="bg1"/>
              </a:buClr>
              <a:buSzPct val="25000"/>
              <a:buFontTx/>
              <a:buNone/>
              <a:defRPr sz="1100" kern="1200">
                <a:solidFill>
                  <a:schemeClr val="tx1"/>
                </a:solidFill>
                <a:latin typeface="Segoe UI Variable Display"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Key </a:t>
            </a:r>
          </a:p>
          <a:p>
            <a:r>
              <a:rPr lang="en-US" sz="2000" dirty="0"/>
              <a:t>Insights</a:t>
            </a:r>
          </a:p>
        </p:txBody>
      </p:sp>
      <p:sp>
        <p:nvSpPr>
          <p:cNvPr id="11" name="Slide Number Placeholder 10">
            <a:extLst>
              <a:ext uri="{FF2B5EF4-FFF2-40B4-BE49-F238E27FC236}">
                <a16:creationId xmlns:a16="http://schemas.microsoft.com/office/drawing/2014/main" id="{1FDB6E37-2A90-DB7F-CF00-5D6DBF157EC2}"/>
              </a:ext>
            </a:extLst>
          </p:cNvPr>
          <p:cNvSpPr>
            <a:spLocks noGrp="1"/>
          </p:cNvSpPr>
          <p:nvPr>
            <p:ph type="sldNum" sz="quarter" idx="12"/>
          </p:nvPr>
        </p:nvSpPr>
        <p:spPr/>
        <p:txBody>
          <a:bodyPr/>
          <a:lstStyle/>
          <a:p>
            <a:fld id="{2D2776A3-3430-4A99-9DCB-D67D51D6910E}" type="slidenum">
              <a:rPr lang="en-US" smtClean="0"/>
              <a:t>5</a:t>
            </a:fld>
            <a:endParaRPr lang="en-US"/>
          </a:p>
        </p:txBody>
      </p:sp>
    </p:spTree>
    <p:extLst>
      <p:ext uri="{BB962C8B-B14F-4D97-AF65-F5344CB8AC3E}">
        <p14:creationId xmlns:p14="http://schemas.microsoft.com/office/powerpoint/2010/main" val="3818678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7DCE3-859D-DFC8-89BD-B6AAF900A8A8}"/>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Segoe UI Semibold"/>
                <a:ea typeface="+mj-ea"/>
                <a:cs typeface="+mj-cs"/>
              </a:rPr>
              <a:t>Structure of </a:t>
            </a:r>
            <a:r>
              <a:rPr lang="en-US" dirty="0">
                <a:solidFill>
                  <a:prstClr val="black"/>
                </a:solidFill>
                <a:latin typeface="Segoe UI Semibold"/>
              </a:rPr>
              <a:t>Respondent Demographics</a:t>
            </a:r>
            <a:endParaRPr lang="en-US" dirty="0"/>
          </a:p>
        </p:txBody>
      </p:sp>
      <p:sp>
        <p:nvSpPr>
          <p:cNvPr id="4" name="Slide Number Placeholder 3">
            <a:extLst>
              <a:ext uri="{FF2B5EF4-FFF2-40B4-BE49-F238E27FC236}">
                <a16:creationId xmlns:a16="http://schemas.microsoft.com/office/drawing/2014/main" id="{37B5C03D-39DE-5A4A-8C8E-58C7FE97994B}"/>
              </a:ext>
            </a:extLst>
          </p:cNvPr>
          <p:cNvSpPr>
            <a:spLocks noGrp="1"/>
          </p:cNvSpPr>
          <p:nvPr>
            <p:ph type="sldNum" sz="quarter" idx="12"/>
          </p:nvPr>
        </p:nvSpPr>
        <p:spPr/>
        <p:txBody>
          <a:bodyPr/>
          <a:lstStyle/>
          <a:p>
            <a:fld id="{2D2776A3-3430-4A99-9DCB-D67D51D6910E}" type="slidenum">
              <a:rPr lang="en-US" smtClean="0"/>
              <a:t>6</a:t>
            </a:fld>
            <a:endParaRPr lang="en-US"/>
          </a:p>
        </p:txBody>
      </p:sp>
      <p:sp>
        <p:nvSpPr>
          <p:cNvPr id="13" name="Content Placeholder 12">
            <a:extLst>
              <a:ext uri="{FF2B5EF4-FFF2-40B4-BE49-F238E27FC236}">
                <a16:creationId xmlns:a16="http://schemas.microsoft.com/office/drawing/2014/main" id="{61A2CB57-E93A-A1DD-29E0-DCD3E52076FA}"/>
              </a:ext>
            </a:extLst>
          </p:cNvPr>
          <p:cNvSpPr>
            <a:spLocks noGrp="1"/>
          </p:cNvSpPr>
          <p:nvPr>
            <p:ph sz="half" idx="13"/>
          </p:nvPr>
        </p:nvSpPr>
        <p:spPr>
          <a:xfrm>
            <a:off x="838200" y="1330644"/>
            <a:ext cx="5002731" cy="590704"/>
          </a:xfrm>
        </p:spPr>
        <p:txBody>
          <a:bodyPr/>
          <a:lstStyle/>
          <a:p>
            <a:r>
              <a:rPr lang="en-US" dirty="0"/>
              <a:t>The primary data were collected from 3,549 respondents, with 58% from Ho Chi Minh City and Hanoi. </a:t>
            </a:r>
          </a:p>
        </p:txBody>
      </p:sp>
      <p:sp>
        <p:nvSpPr>
          <p:cNvPr id="15" name="Content Placeholder 14">
            <a:extLst>
              <a:ext uri="{FF2B5EF4-FFF2-40B4-BE49-F238E27FC236}">
                <a16:creationId xmlns:a16="http://schemas.microsoft.com/office/drawing/2014/main" id="{C85461B3-28A0-F5B0-A93E-3CBC2BE426B8}"/>
              </a:ext>
            </a:extLst>
          </p:cNvPr>
          <p:cNvSpPr>
            <a:spLocks noGrp="1"/>
          </p:cNvSpPr>
          <p:nvPr>
            <p:ph sz="half" idx="15"/>
          </p:nvPr>
        </p:nvSpPr>
        <p:spPr>
          <a:xfrm>
            <a:off x="6351067" y="1330644"/>
            <a:ext cx="5002731" cy="393226"/>
          </a:xfrm>
        </p:spPr>
        <p:txBody>
          <a:bodyPr/>
          <a:lstStyle/>
          <a:p>
            <a:endParaRPr lang="en-US"/>
          </a:p>
        </p:txBody>
      </p:sp>
      <p:sp>
        <p:nvSpPr>
          <p:cNvPr id="30" name="Content Placeholder 29">
            <a:extLst>
              <a:ext uri="{FF2B5EF4-FFF2-40B4-BE49-F238E27FC236}">
                <a16:creationId xmlns:a16="http://schemas.microsoft.com/office/drawing/2014/main" id="{D6F005BF-FC2A-FD8F-20EA-99A277DBF692}"/>
              </a:ext>
            </a:extLst>
          </p:cNvPr>
          <p:cNvSpPr>
            <a:spLocks noGrp="1"/>
          </p:cNvSpPr>
          <p:nvPr>
            <p:ph sz="half" idx="14"/>
          </p:nvPr>
        </p:nvSpPr>
        <p:spPr/>
        <p:txBody>
          <a:bodyPr/>
          <a:lstStyle/>
          <a:p>
            <a:endParaRPr lang="en-US" dirty="0"/>
          </a:p>
        </p:txBody>
      </p:sp>
      <p:graphicFrame>
        <p:nvGraphicFramePr>
          <p:cNvPr id="40" name="Chart 39">
            <a:extLst>
              <a:ext uri="{FF2B5EF4-FFF2-40B4-BE49-F238E27FC236}">
                <a16:creationId xmlns:a16="http://schemas.microsoft.com/office/drawing/2014/main" id="{0DAAC606-4589-B3DA-84DC-D8E4B481394B}"/>
              </a:ext>
            </a:extLst>
          </p:cNvPr>
          <p:cNvGraphicFramePr>
            <a:graphicFrameLocks/>
          </p:cNvGraphicFramePr>
          <p:nvPr>
            <p:extLst>
              <p:ext uri="{D42A27DB-BD31-4B8C-83A1-F6EECF244321}">
                <p14:modId xmlns:p14="http://schemas.microsoft.com/office/powerpoint/2010/main" val="2040150978"/>
              </p:ext>
            </p:extLst>
          </p:nvPr>
        </p:nvGraphicFramePr>
        <p:xfrm>
          <a:off x="708851" y="1907958"/>
          <a:ext cx="2624900" cy="22195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3" name="Chart 42">
            <a:extLst>
              <a:ext uri="{FF2B5EF4-FFF2-40B4-BE49-F238E27FC236}">
                <a16:creationId xmlns:a16="http://schemas.microsoft.com/office/drawing/2014/main" id="{795B0F63-AD46-0DD7-D8EC-473F3C6C7D25}"/>
              </a:ext>
            </a:extLst>
          </p:cNvPr>
          <p:cNvGraphicFramePr>
            <a:graphicFrameLocks/>
          </p:cNvGraphicFramePr>
          <p:nvPr>
            <p:extLst>
              <p:ext uri="{D42A27DB-BD31-4B8C-83A1-F6EECF244321}">
                <p14:modId xmlns:p14="http://schemas.microsoft.com/office/powerpoint/2010/main" val="2739270507"/>
              </p:ext>
            </p:extLst>
          </p:nvPr>
        </p:nvGraphicFramePr>
        <p:xfrm>
          <a:off x="3333752" y="1907958"/>
          <a:ext cx="2507180" cy="22195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Chart 45">
            <a:extLst>
              <a:ext uri="{FF2B5EF4-FFF2-40B4-BE49-F238E27FC236}">
                <a16:creationId xmlns:a16="http://schemas.microsoft.com/office/drawing/2014/main" id="{4AF51241-D0CB-D974-3BC3-1802EF9F158F}"/>
              </a:ext>
            </a:extLst>
          </p:cNvPr>
          <p:cNvGraphicFramePr>
            <a:graphicFrameLocks/>
          </p:cNvGraphicFramePr>
          <p:nvPr>
            <p:extLst>
              <p:ext uri="{D42A27DB-BD31-4B8C-83A1-F6EECF244321}">
                <p14:modId xmlns:p14="http://schemas.microsoft.com/office/powerpoint/2010/main" val="2238867280"/>
              </p:ext>
            </p:extLst>
          </p:nvPr>
        </p:nvGraphicFramePr>
        <p:xfrm>
          <a:off x="838200" y="4467225"/>
          <a:ext cx="5257800" cy="17097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64917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1D5A2-3E1D-8914-1CA5-7296C7D66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27716-6527-DCA9-82A8-CAB5E74E19BD}"/>
              </a:ext>
            </a:extLst>
          </p:cNvPr>
          <p:cNvSpPr>
            <a:spLocks noGrp="1"/>
          </p:cNvSpPr>
          <p:nvPr>
            <p:ph type="title"/>
          </p:nvPr>
        </p:nvSpPr>
        <p:spPr/>
        <p:txBody>
          <a:bodyPr>
            <a:normAutofit/>
          </a:bodyPr>
          <a:lstStyle/>
          <a:p>
            <a:r>
              <a:rPr lang="en-US" dirty="0">
                <a:solidFill>
                  <a:prstClr val="black"/>
                </a:solidFill>
                <a:latin typeface="Segoe UI Semibold"/>
              </a:rPr>
              <a:t>Market Sentiment</a:t>
            </a:r>
            <a:endParaRPr lang="en-US" dirty="0"/>
          </a:p>
        </p:txBody>
      </p:sp>
      <p:sp>
        <p:nvSpPr>
          <p:cNvPr id="4" name="Slide Number Placeholder 3">
            <a:extLst>
              <a:ext uri="{FF2B5EF4-FFF2-40B4-BE49-F238E27FC236}">
                <a16:creationId xmlns:a16="http://schemas.microsoft.com/office/drawing/2014/main" id="{CE775E79-439D-AFE5-E836-C22F4061E249}"/>
              </a:ext>
            </a:extLst>
          </p:cNvPr>
          <p:cNvSpPr>
            <a:spLocks noGrp="1"/>
          </p:cNvSpPr>
          <p:nvPr>
            <p:ph type="sldNum" sz="quarter" idx="12"/>
          </p:nvPr>
        </p:nvSpPr>
        <p:spPr/>
        <p:txBody>
          <a:bodyPr/>
          <a:lstStyle/>
          <a:p>
            <a:fld id="{2D2776A3-3430-4A99-9DCB-D67D51D6910E}" type="slidenum">
              <a:rPr lang="en-US" smtClean="0"/>
              <a:t>7</a:t>
            </a:fld>
            <a:endParaRPr lang="en-US"/>
          </a:p>
        </p:txBody>
      </p:sp>
      <p:sp>
        <p:nvSpPr>
          <p:cNvPr id="13" name="Content Placeholder 12">
            <a:extLst>
              <a:ext uri="{FF2B5EF4-FFF2-40B4-BE49-F238E27FC236}">
                <a16:creationId xmlns:a16="http://schemas.microsoft.com/office/drawing/2014/main" id="{CB337747-541E-7E6F-8E19-7CB6CC4BCAD7}"/>
              </a:ext>
            </a:extLst>
          </p:cNvPr>
          <p:cNvSpPr>
            <a:spLocks noGrp="1"/>
          </p:cNvSpPr>
          <p:nvPr>
            <p:ph sz="half" idx="13"/>
          </p:nvPr>
        </p:nvSpPr>
        <p:spPr>
          <a:xfrm>
            <a:off x="838200" y="1330644"/>
            <a:ext cx="5002731" cy="590704"/>
          </a:xfrm>
        </p:spPr>
        <p:txBody>
          <a:bodyPr/>
          <a:lstStyle/>
          <a:p>
            <a:r>
              <a:rPr lang="en-US" dirty="0"/>
              <a:t>The primary data were collected from 3,549 respondents, with 58% from Ho Chi Minh City and Hanoi. </a:t>
            </a:r>
          </a:p>
        </p:txBody>
      </p:sp>
      <p:sp>
        <p:nvSpPr>
          <p:cNvPr id="15" name="Content Placeholder 14">
            <a:extLst>
              <a:ext uri="{FF2B5EF4-FFF2-40B4-BE49-F238E27FC236}">
                <a16:creationId xmlns:a16="http://schemas.microsoft.com/office/drawing/2014/main" id="{78C06DF6-4AFB-E204-90F3-1DA50E41A5DA}"/>
              </a:ext>
            </a:extLst>
          </p:cNvPr>
          <p:cNvSpPr>
            <a:spLocks noGrp="1"/>
          </p:cNvSpPr>
          <p:nvPr>
            <p:ph sz="half" idx="15"/>
          </p:nvPr>
        </p:nvSpPr>
        <p:spPr>
          <a:xfrm>
            <a:off x="6351067" y="1330644"/>
            <a:ext cx="5002731" cy="393226"/>
          </a:xfrm>
        </p:spPr>
        <p:txBody>
          <a:bodyPr/>
          <a:lstStyle/>
          <a:p>
            <a:endParaRPr lang="en-US" dirty="0"/>
          </a:p>
        </p:txBody>
      </p:sp>
      <p:sp>
        <p:nvSpPr>
          <p:cNvPr id="30" name="Content Placeholder 29">
            <a:extLst>
              <a:ext uri="{FF2B5EF4-FFF2-40B4-BE49-F238E27FC236}">
                <a16:creationId xmlns:a16="http://schemas.microsoft.com/office/drawing/2014/main" id="{8A42D0CE-2FB7-4199-F741-3547EF12D152}"/>
              </a:ext>
            </a:extLst>
          </p:cNvPr>
          <p:cNvSpPr>
            <a:spLocks noGrp="1"/>
          </p:cNvSpPr>
          <p:nvPr>
            <p:ph sz="half" idx="14"/>
          </p:nvPr>
        </p:nvSpPr>
        <p:spPr/>
        <p:txBody>
          <a:bodyPr/>
          <a:lstStyle/>
          <a:p>
            <a:endParaRPr lang="en-US" dirty="0"/>
          </a:p>
        </p:txBody>
      </p:sp>
      <p:graphicFrame>
        <p:nvGraphicFramePr>
          <p:cNvPr id="40" name="Chart 39">
            <a:extLst>
              <a:ext uri="{FF2B5EF4-FFF2-40B4-BE49-F238E27FC236}">
                <a16:creationId xmlns:a16="http://schemas.microsoft.com/office/drawing/2014/main" id="{35BEE9F9-8FF6-3F6B-271D-7044BD56636D}"/>
              </a:ext>
            </a:extLst>
          </p:cNvPr>
          <p:cNvGraphicFramePr>
            <a:graphicFrameLocks/>
          </p:cNvGraphicFramePr>
          <p:nvPr/>
        </p:nvGraphicFramePr>
        <p:xfrm>
          <a:off x="708851" y="1907958"/>
          <a:ext cx="2624900" cy="22195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3" name="Chart 42">
            <a:extLst>
              <a:ext uri="{FF2B5EF4-FFF2-40B4-BE49-F238E27FC236}">
                <a16:creationId xmlns:a16="http://schemas.microsoft.com/office/drawing/2014/main" id="{60EF816F-F386-835E-8E15-0AC951B960FB}"/>
              </a:ext>
            </a:extLst>
          </p:cNvPr>
          <p:cNvGraphicFramePr>
            <a:graphicFrameLocks/>
          </p:cNvGraphicFramePr>
          <p:nvPr/>
        </p:nvGraphicFramePr>
        <p:xfrm>
          <a:off x="3333752" y="1907958"/>
          <a:ext cx="2507180" cy="22195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Chart 45">
            <a:extLst>
              <a:ext uri="{FF2B5EF4-FFF2-40B4-BE49-F238E27FC236}">
                <a16:creationId xmlns:a16="http://schemas.microsoft.com/office/drawing/2014/main" id="{D55952F7-DC3A-599F-C7F7-F442EB2478BB}"/>
              </a:ext>
            </a:extLst>
          </p:cNvPr>
          <p:cNvGraphicFramePr>
            <a:graphicFrameLocks/>
          </p:cNvGraphicFramePr>
          <p:nvPr/>
        </p:nvGraphicFramePr>
        <p:xfrm>
          <a:off x="838200" y="4467225"/>
          <a:ext cx="5257800" cy="17097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56555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BD635-1B90-8A9B-368E-F940F5951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1A323-0597-652F-F46B-4FCA407F0406}"/>
              </a:ext>
            </a:extLst>
          </p:cNvPr>
          <p:cNvSpPr>
            <a:spLocks noGrp="1"/>
          </p:cNvSpPr>
          <p:nvPr>
            <p:ph type="title"/>
          </p:nvPr>
        </p:nvSpPr>
        <p:spPr/>
        <p:txBody>
          <a:bodyPr>
            <a:normAutofit/>
          </a:bodyPr>
          <a:lstStyle/>
          <a:p>
            <a:r>
              <a:rPr lang="en-US" dirty="0">
                <a:solidFill>
                  <a:prstClr val="black"/>
                </a:solidFill>
                <a:latin typeface="Segoe UI Semibold"/>
              </a:rPr>
              <a:t>Market Sentiment</a:t>
            </a:r>
            <a:endParaRPr lang="en-US" dirty="0"/>
          </a:p>
        </p:txBody>
      </p:sp>
      <p:sp>
        <p:nvSpPr>
          <p:cNvPr id="4" name="Slide Number Placeholder 3">
            <a:extLst>
              <a:ext uri="{FF2B5EF4-FFF2-40B4-BE49-F238E27FC236}">
                <a16:creationId xmlns:a16="http://schemas.microsoft.com/office/drawing/2014/main" id="{08E5386E-8B51-B6CD-65C3-C71CA6367D13}"/>
              </a:ext>
            </a:extLst>
          </p:cNvPr>
          <p:cNvSpPr>
            <a:spLocks noGrp="1"/>
          </p:cNvSpPr>
          <p:nvPr>
            <p:ph type="sldNum" sz="quarter" idx="12"/>
          </p:nvPr>
        </p:nvSpPr>
        <p:spPr/>
        <p:txBody>
          <a:bodyPr/>
          <a:lstStyle/>
          <a:p>
            <a:fld id="{2D2776A3-3430-4A99-9DCB-D67D51D6910E}" type="slidenum">
              <a:rPr lang="en-US" smtClean="0"/>
              <a:t>8</a:t>
            </a:fld>
            <a:endParaRPr lang="en-US"/>
          </a:p>
        </p:txBody>
      </p:sp>
      <p:sp>
        <p:nvSpPr>
          <p:cNvPr id="13" name="Content Placeholder 12">
            <a:extLst>
              <a:ext uri="{FF2B5EF4-FFF2-40B4-BE49-F238E27FC236}">
                <a16:creationId xmlns:a16="http://schemas.microsoft.com/office/drawing/2014/main" id="{C3E33FBE-9040-36A3-1433-F98B9A51B361}"/>
              </a:ext>
            </a:extLst>
          </p:cNvPr>
          <p:cNvSpPr>
            <a:spLocks noGrp="1"/>
          </p:cNvSpPr>
          <p:nvPr>
            <p:ph sz="half" idx="13"/>
          </p:nvPr>
        </p:nvSpPr>
        <p:spPr>
          <a:xfrm>
            <a:off x="838200" y="1330644"/>
            <a:ext cx="5002731" cy="590704"/>
          </a:xfrm>
        </p:spPr>
        <p:txBody>
          <a:bodyPr/>
          <a:lstStyle/>
          <a:p>
            <a:r>
              <a:rPr lang="en-US" dirty="0"/>
              <a:t>The primary data were collected from 3,549 respondents, with 58% from Ho Chi Minh City and Hanoi. </a:t>
            </a:r>
          </a:p>
        </p:txBody>
      </p:sp>
      <p:sp>
        <p:nvSpPr>
          <p:cNvPr id="15" name="Content Placeholder 14">
            <a:extLst>
              <a:ext uri="{FF2B5EF4-FFF2-40B4-BE49-F238E27FC236}">
                <a16:creationId xmlns:a16="http://schemas.microsoft.com/office/drawing/2014/main" id="{BB2D54B4-A6C5-E2BC-76F4-9DC9134E9518}"/>
              </a:ext>
            </a:extLst>
          </p:cNvPr>
          <p:cNvSpPr>
            <a:spLocks noGrp="1"/>
          </p:cNvSpPr>
          <p:nvPr>
            <p:ph sz="half" idx="15"/>
          </p:nvPr>
        </p:nvSpPr>
        <p:spPr>
          <a:xfrm>
            <a:off x="6351067" y="1330644"/>
            <a:ext cx="5002731" cy="393226"/>
          </a:xfrm>
        </p:spPr>
        <p:txBody>
          <a:bodyPr/>
          <a:lstStyle/>
          <a:p>
            <a:endParaRPr lang="en-US" dirty="0"/>
          </a:p>
        </p:txBody>
      </p:sp>
      <p:sp>
        <p:nvSpPr>
          <p:cNvPr id="30" name="Content Placeholder 29">
            <a:extLst>
              <a:ext uri="{FF2B5EF4-FFF2-40B4-BE49-F238E27FC236}">
                <a16:creationId xmlns:a16="http://schemas.microsoft.com/office/drawing/2014/main" id="{00ED3CC6-1F2F-68C0-151D-BE8DF0251533}"/>
              </a:ext>
            </a:extLst>
          </p:cNvPr>
          <p:cNvSpPr>
            <a:spLocks noGrp="1"/>
          </p:cNvSpPr>
          <p:nvPr>
            <p:ph sz="half" idx="14"/>
          </p:nvPr>
        </p:nvSpPr>
        <p:spPr/>
        <p:txBody>
          <a:bodyPr/>
          <a:lstStyle/>
          <a:p>
            <a:endParaRPr lang="en-US" dirty="0"/>
          </a:p>
        </p:txBody>
      </p:sp>
      <p:graphicFrame>
        <p:nvGraphicFramePr>
          <p:cNvPr id="40" name="Chart 39">
            <a:extLst>
              <a:ext uri="{FF2B5EF4-FFF2-40B4-BE49-F238E27FC236}">
                <a16:creationId xmlns:a16="http://schemas.microsoft.com/office/drawing/2014/main" id="{EE2617BD-F24C-6F80-4617-ECC6973614BC}"/>
              </a:ext>
            </a:extLst>
          </p:cNvPr>
          <p:cNvGraphicFramePr>
            <a:graphicFrameLocks/>
          </p:cNvGraphicFramePr>
          <p:nvPr/>
        </p:nvGraphicFramePr>
        <p:xfrm>
          <a:off x="708851" y="1907958"/>
          <a:ext cx="2624900" cy="22195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3" name="Chart 42">
            <a:extLst>
              <a:ext uri="{FF2B5EF4-FFF2-40B4-BE49-F238E27FC236}">
                <a16:creationId xmlns:a16="http://schemas.microsoft.com/office/drawing/2014/main" id="{2A0422C4-F5E9-4E93-FB94-6CD68E614953}"/>
              </a:ext>
            </a:extLst>
          </p:cNvPr>
          <p:cNvGraphicFramePr>
            <a:graphicFrameLocks/>
          </p:cNvGraphicFramePr>
          <p:nvPr/>
        </p:nvGraphicFramePr>
        <p:xfrm>
          <a:off x="3333752" y="1907958"/>
          <a:ext cx="2507180" cy="22195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Chart 45">
            <a:extLst>
              <a:ext uri="{FF2B5EF4-FFF2-40B4-BE49-F238E27FC236}">
                <a16:creationId xmlns:a16="http://schemas.microsoft.com/office/drawing/2014/main" id="{01283AFD-E82E-88C5-4EE5-2E4BF130BF05}"/>
              </a:ext>
            </a:extLst>
          </p:cNvPr>
          <p:cNvGraphicFramePr>
            <a:graphicFrameLocks/>
          </p:cNvGraphicFramePr>
          <p:nvPr/>
        </p:nvGraphicFramePr>
        <p:xfrm>
          <a:off x="838200" y="4467225"/>
          <a:ext cx="5257800" cy="17097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99725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Segoe UI Semibold"/>
        <a:ea typeface=""/>
        <a:cs typeface=""/>
      </a:majorFont>
      <a:minorFont>
        <a:latin typeface="Segoe UI Variable Display Semi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3540</TotalTime>
  <Words>779</Words>
  <Application>Microsoft Office PowerPoint</Application>
  <PresentationFormat>Widescreen</PresentationFormat>
  <Paragraphs>94</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Arial</vt:lpstr>
      <vt:lpstr>Segoe UI Semibold</vt:lpstr>
      <vt:lpstr>Segoe UI Variable Display</vt:lpstr>
      <vt:lpstr>Segoe UI Variable Display Semib</vt:lpstr>
      <vt:lpstr>Segoe UI Variable Small Semilig</vt:lpstr>
      <vt:lpstr>Office Theme</vt:lpstr>
      <vt:lpstr>Executive Summary Key findings from comprehensive customer research</vt:lpstr>
      <vt:lpstr>Executive Summary Key findings from comprehensive customer research</vt:lpstr>
      <vt:lpstr>Research Methodology Key findings from comprehensive customer research</vt:lpstr>
      <vt:lpstr>Market Structure and Expansion Speed</vt:lpstr>
      <vt:lpstr>Brand Positioning and Store Network</vt:lpstr>
      <vt:lpstr>Structure of Respondent Demographics</vt:lpstr>
      <vt:lpstr>Market Sentiment</vt:lpstr>
      <vt:lpstr>Market Sentiment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Truong Nguyen Tran Xuan</dc:creator>
  <cp:lastModifiedBy>Truong Nguyen Tran Xuan</cp:lastModifiedBy>
  <cp:revision>12</cp:revision>
  <dcterms:created xsi:type="dcterms:W3CDTF">2025-11-28T18:22:41Z</dcterms:created>
  <dcterms:modified xsi:type="dcterms:W3CDTF">2025-12-06T19:45:37Z</dcterms:modified>
</cp:coreProperties>
</file>