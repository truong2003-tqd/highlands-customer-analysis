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1.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4" r:id="rId9"/>
    <p:sldId id="265" r:id="rId10"/>
    <p:sldId id="263"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F200"/>
    <a:srgbClr val="FF5D5D"/>
    <a:srgbClr val="C1927D"/>
    <a:srgbClr val="9B644B"/>
    <a:srgbClr val="D1AFA0"/>
    <a:srgbClr val="6E46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668" autoAdjust="0"/>
    <p:restoredTop sz="94660"/>
  </p:normalViewPr>
  <p:slideViewPr>
    <p:cSldViewPr snapToGrid="0">
      <p:cViewPr varScale="1">
        <p:scale>
          <a:sx n="101" d="100"/>
          <a:sy n="101" d="100"/>
        </p:scale>
        <p:origin x="133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TRUONG\Highlands\simple-pipeline\Power%20BI%20Report\Data%20Recreate\New%20Microsoft%20Excel%20Workshee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TRUONG\Highlands\simple-pipeline\Power%20BI%20Report\Data%20Recreate\New%20Microsoft%20Excel%20Worksheet.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TRUONG\Highlands\simple-pipeline\Power%20BI%20Report\Data%20Recreate\gender.csv"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TRUONG\Highlands\simple-pipeline\Power%20BI%20Report\Data%20Recreate\gender.csv"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oleObject" Target="file:///C:\Users\TRUONG\Highlands\simple-pipeline\Power%20BI%20Report\Data%20Recreate\New%20Microsoft%20Excel%20Worksheet.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Sheet1!$C$2</c:f>
              <c:strCache>
                <c:ptCount val="1"/>
                <c:pt idx="0">
                  <c:v>2019</c:v>
                </c:pt>
              </c:strCache>
            </c:strRef>
          </c:tx>
          <c:spPr>
            <a:solidFill>
              <a:schemeClr val="bg2">
                <a:lumMod val="90000"/>
              </a:schemeClr>
            </a:solidFill>
            <a:ln>
              <a:noFill/>
            </a:ln>
            <a:effectLst/>
          </c:spPr>
          <c:invertIfNegative val="0"/>
          <c:dLbls>
            <c:delete val="1"/>
          </c:dLbls>
          <c:cat>
            <c:strRef>
              <c:f>Sheet1!$B$3:$B$8</c:f>
              <c:strCache>
                <c:ptCount val="6"/>
                <c:pt idx="0">
                  <c:v>Cộng cà phê</c:v>
                </c:pt>
                <c:pt idx="1">
                  <c:v>The Coffee House</c:v>
                </c:pt>
                <c:pt idx="2">
                  <c:v>Trung Nguyên</c:v>
                </c:pt>
                <c:pt idx="3">
                  <c:v>Starbucks</c:v>
                </c:pt>
                <c:pt idx="4">
                  <c:v>Phúc Long</c:v>
                </c:pt>
                <c:pt idx="5">
                  <c:v>Highlands Coffee</c:v>
                </c:pt>
              </c:strCache>
            </c:strRef>
          </c:cat>
          <c:val>
            <c:numRef>
              <c:f>Sheet1!$C$3:$C$8</c:f>
              <c:numCache>
                <c:formatCode>General</c:formatCode>
                <c:ptCount val="6"/>
                <c:pt idx="0">
                  <c:v>63</c:v>
                </c:pt>
                <c:pt idx="1">
                  <c:v>147</c:v>
                </c:pt>
                <c:pt idx="2">
                  <c:v>64</c:v>
                </c:pt>
                <c:pt idx="3">
                  <c:v>56</c:v>
                </c:pt>
                <c:pt idx="4">
                  <c:v>49</c:v>
                </c:pt>
                <c:pt idx="5">
                  <c:v>305</c:v>
                </c:pt>
              </c:numCache>
            </c:numRef>
          </c:val>
          <c:extLst>
            <c:ext xmlns:c16="http://schemas.microsoft.com/office/drawing/2014/chart" uri="{C3380CC4-5D6E-409C-BE32-E72D297353CC}">
              <c16:uniqueId val="{00000002-0947-4298-87F7-D8A837838DB7}"/>
            </c:ext>
          </c:extLst>
        </c:ser>
        <c:ser>
          <c:idx val="1"/>
          <c:order val="1"/>
          <c:tx>
            <c:strRef>
              <c:f>Sheet1!$D$2</c:f>
              <c:strCache>
                <c:ptCount val="1"/>
                <c:pt idx="0">
                  <c:v>2024</c:v>
                </c:pt>
              </c:strCache>
            </c:strRef>
          </c:tx>
          <c:spPr>
            <a:solidFill>
              <a:schemeClr val="tx1">
                <a:lumMod val="50000"/>
                <a:lumOff val="50000"/>
              </a:schemeClr>
            </a:solidFill>
            <a:ln>
              <a:noFill/>
            </a:ln>
            <a:effectLst/>
          </c:spPr>
          <c:invertIfNegative val="0"/>
          <c:dLbls>
            <c:delete val="1"/>
          </c:dLbls>
          <c:cat>
            <c:strRef>
              <c:f>Sheet1!$B$3:$B$8</c:f>
              <c:strCache>
                <c:ptCount val="6"/>
                <c:pt idx="0">
                  <c:v>Cộng cà phê</c:v>
                </c:pt>
                <c:pt idx="1">
                  <c:v>The Coffee House</c:v>
                </c:pt>
                <c:pt idx="2">
                  <c:v>Trung Nguyên</c:v>
                </c:pt>
                <c:pt idx="3">
                  <c:v>Starbucks</c:v>
                </c:pt>
                <c:pt idx="4">
                  <c:v>Phúc Long</c:v>
                </c:pt>
                <c:pt idx="5">
                  <c:v>Highlands Coffee</c:v>
                </c:pt>
              </c:strCache>
            </c:strRef>
          </c:cat>
          <c:val>
            <c:numRef>
              <c:f>Sheet1!$D$3:$D$8</c:f>
              <c:numCache>
                <c:formatCode>General</c:formatCode>
                <c:ptCount val="6"/>
                <c:pt idx="0">
                  <c:v>75</c:v>
                </c:pt>
                <c:pt idx="1">
                  <c:v>141</c:v>
                </c:pt>
                <c:pt idx="2">
                  <c:v>116</c:v>
                </c:pt>
                <c:pt idx="3">
                  <c:v>110</c:v>
                </c:pt>
                <c:pt idx="4">
                  <c:v>158</c:v>
                </c:pt>
                <c:pt idx="5">
                  <c:v>777</c:v>
                </c:pt>
              </c:numCache>
            </c:numRef>
          </c:val>
          <c:extLst>
            <c:ext xmlns:c16="http://schemas.microsoft.com/office/drawing/2014/chart" uri="{C3380CC4-5D6E-409C-BE32-E72D297353CC}">
              <c16:uniqueId val="{00000001-0947-4298-87F7-D8A837838DB7}"/>
            </c:ext>
          </c:extLst>
        </c:ser>
        <c:ser>
          <c:idx val="2"/>
          <c:order val="2"/>
          <c:tx>
            <c:strRef>
              <c:f>Sheet1!$E$2</c:f>
              <c:strCache>
                <c:ptCount val="1"/>
                <c:pt idx="0">
                  <c:v>2025</c:v>
                </c:pt>
              </c:strCache>
            </c:strRef>
          </c:tx>
          <c:spPr>
            <a:solidFill>
              <a:srgbClr val="C00000"/>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Sheet1!$B$3:$B$8</c:f>
              <c:strCache>
                <c:ptCount val="6"/>
                <c:pt idx="0">
                  <c:v>Cộng cà phê</c:v>
                </c:pt>
                <c:pt idx="1">
                  <c:v>The Coffee House</c:v>
                </c:pt>
                <c:pt idx="2">
                  <c:v>Trung Nguyên</c:v>
                </c:pt>
                <c:pt idx="3">
                  <c:v>Starbucks</c:v>
                </c:pt>
                <c:pt idx="4">
                  <c:v>Phúc Long</c:v>
                </c:pt>
                <c:pt idx="5">
                  <c:v>Highlands Coffee</c:v>
                </c:pt>
              </c:strCache>
            </c:strRef>
          </c:cat>
          <c:val>
            <c:numRef>
              <c:f>Sheet1!$E$3:$E$8</c:f>
              <c:numCache>
                <c:formatCode>General</c:formatCode>
                <c:ptCount val="6"/>
                <c:pt idx="0">
                  <c:v>90</c:v>
                </c:pt>
                <c:pt idx="1">
                  <c:v>93</c:v>
                </c:pt>
                <c:pt idx="2">
                  <c:v>106</c:v>
                </c:pt>
                <c:pt idx="3">
                  <c:v>127</c:v>
                </c:pt>
                <c:pt idx="4">
                  <c:v>237</c:v>
                </c:pt>
                <c:pt idx="5">
                  <c:v>855</c:v>
                </c:pt>
              </c:numCache>
            </c:numRef>
          </c:val>
          <c:extLst>
            <c:ext xmlns:c16="http://schemas.microsoft.com/office/drawing/2014/chart" uri="{C3380CC4-5D6E-409C-BE32-E72D297353CC}">
              <c16:uniqueId val="{00000000-0947-4298-87F7-D8A837838DB7}"/>
            </c:ext>
          </c:extLst>
        </c:ser>
        <c:dLbls>
          <c:dLblPos val="outEnd"/>
          <c:showLegendKey val="0"/>
          <c:showVal val="1"/>
          <c:showCatName val="0"/>
          <c:showSerName val="0"/>
          <c:showPercent val="0"/>
          <c:showBubbleSize val="0"/>
        </c:dLbls>
        <c:gapWidth val="100"/>
        <c:axId val="1058295320"/>
        <c:axId val="1066301800"/>
      </c:barChart>
      <c:catAx>
        <c:axId val="1058295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lumMod val="50000"/>
                    <a:lumOff val="50000"/>
                  </a:schemeClr>
                </a:solidFill>
                <a:latin typeface="+mn-lt"/>
                <a:ea typeface="+mn-ea"/>
                <a:cs typeface="+mn-cs"/>
              </a:defRPr>
            </a:pPr>
            <a:endParaRPr lang="en-US"/>
          </a:p>
        </c:txPr>
        <c:crossAx val="1066301800"/>
        <c:crosses val="autoZero"/>
        <c:auto val="1"/>
        <c:lblAlgn val="ctr"/>
        <c:lblOffset val="50"/>
        <c:noMultiLvlLbl val="0"/>
      </c:catAx>
      <c:valAx>
        <c:axId val="1066301800"/>
        <c:scaling>
          <c:orientation val="minMax"/>
          <c:max val="900"/>
          <c:min val="0"/>
        </c:scaling>
        <c:delete val="0"/>
        <c:axPos val="l"/>
        <c:majorGridlines>
          <c:spPr>
            <a:ln w="9525" cap="flat" cmpd="sng" algn="ctr">
              <a:noFill/>
              <a:round/>
            </a:ln>
            <a:effectLst/>
          </c:spPr>
        </c:majorGridlines>
        <c:numFmt formatCode="General" sourceLinked="1"/>
        <c:majorTickMark val="none"/>
        <c:minorTickMark val="none"/>
        <c:tickLblPos val="low"/>
        <c:spPr>
          <a:noFill/>
          <a:ln>
            <a:noFill/>
          </a:ln>
          <a:effectLst/>
        </c:spPr>
        <c:txPr>
          <a:bodyPr rot="-60000000" spcFirstLastPara="1" vertOverflow="ellipsis" vert="horz" wrap="square" anchor="ctr" anchorCtr="1"/>
          <a:lstStyle/>
          <a:p>
            <a:pPr>
              <a:defRPr sz="900" b="0" i="0" u="none" strike="noStrike" kern="1200" baseline="0">
                <a:solidFill>
                  <a:schemeClr val="tx1">
                    <a:lumMod val="50000"/>
                    <a:lumOff val="50000"/>
                  </a:schemeClr>
                </a:solidFill>
                <a:latin typeface="+mn-lt"/>
                <a:ea typeface="+mn-ea"/>
                <a:cs typeface="+mn-cs"/>
              </a:defRPr>
            </a:pPr>
            <a:endParaRPr lang="en-US"/>
          </a:p>
        </c:txPr>
        <c:crossAx val="1058295320"/>
        <c:crosses val="autoZero"/>
        <c:crossBetween val="between"/>
        <c:majorUnit val="200"/>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50000"/>
                  <a:lumOff val="50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prstDash val="lgDash"/>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Sheet1!$F$2</c:f>
              <c:strCache>
                <c:ptCount val="1"/>
                <c:pt idx="0">
                  <c:v>2019-2024</c:v>
                </c:pt>
              </c:strCache>
            </c:strRef>
          </c:tx>
          <c:spPr>
            <a:solidFill>
              <a:schemeClr val="tx1">
                <a:lumMod val="50000"/>
                <a:lumOff val="50000"/>
              </a:schemeClr>
            </a:solidFill>
            <a:ln>
              <a:noFill/>
            </a:ln>
            <a:effectLst/>
          </c:spPr>
          <c:invertIfNegative val="0"/>
          <c:dLbls>
            <c:delete val="1"/>
          </c:dLbls>
          <c:cat>
            <c:strRef>
              <c:f>Sheet1!$B$3:$B$8</c:f>
              <c:strCache>
                <c:ptCount val="6"/>
                <c:pt idx="0">
                  <c:v>Cộng cà phê</c:v>
                </c:pt>
                <c:pt idx="1">
                  <c:v>The Coffee House</c:v>
                </c:pt>
                <c:pt idx="2">
                  <c:v>Trung Nguyên</c:v>
                </c:pt>
                <c:pt idx="3">
                  <c:v>Starbucks</c:v>
                </c:pt>
                <c:pt idx="4">
                  <c:v>Phúc Long</c:v>
                </c:pt>
                <c:pt idx="5">
                  <c:v>Highlands Coffee</c:v>
                </c:pt>
              </c:strCache>
            </c:strRef>
          </c:cat>
          <c:val>
            <c:numRef>
              <c:f>Sheet1!$F$3:$F$8</c:f>
              <c:numCache>
                <c:formatCode>0.00%</c:formatCode>
                <c:ptCount val="6"/>
                <c:pt idx="0">
                  <c:v>0.19047619047619047</c:v>
                </c:pt>
                <c:pt idx="1">
                  <c:v>-4.0816326530612242E-2</c:v>
                </c:pt>
                <c:pt idx="2">
                  <c:v>0.8125</c:v>
                </c:pt>
                <c:pt idx="3">
                  <c:v>0.9642857142857143</c:v>
                </c:pt>
                <c:pt idx="4">
                  <c:v>2.2244897959183674</c:v>
                </c:pt>
                <c:pt idx="5">
                  <c:v>1.5475409836065575</c:v>
                </c:pt>
              </c:numCache>
            </c:numRef>
          </c:val>
          <c:extLst>
            <c:ext xmlns:c16="http://schemas.microsoft.com/office/drawing/2014/chart" uri="{C3380CC4-5D6E-409C-BE32-E72D297353CC}">
              <c16:uniqueId val="{00000001-A633-46BE-9223-9C7C9BD4B5DF}"/>
            </c:ext>
          </c:extLst>
        </c:ser>
        <c:ser>
          <c:idx val="1"/>
          <c:order val="1"/>
          <c:tx>
            <c:strRef>
              <c:f>Sheet1!$G$2</c:f>
              <c:strCache>
                <c:ptCount val="1"/>
                <c:pt idx="0">
                  <c:v>2024-2025</c:v>
                </c:pt>
              </c:strCache>
            </c:strRef>
          </c:tx>
          <c:spPr>
            <a:solidFill>
              <a:srgbClr val="C00000"/>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Sheet1!$B$3:$B$8</c:f>
              <c:strCache>
                <c:ptCount val="6"/>
                <c:pt idx="0">
                  <c:v>Cộng cà phê</c:v>
                </c:pt>
                <c:pt idx="1">
                  <c:v>The Coffee House</c:v>
                </c:pt>
                <c:pt idx="2">
                  <c:v>Trung Nguyên</c:v>
                </c:pt>
                <c:pt idx="3">
                  <c:v>Starbucks</c:v>
                </c:pt>
                <c:pt idx="4">
                  <c:v>Phúc Long</c:v>
                </c:pt>
                <c:pt idx="5">
                  <c:v>Highlands Coffee</c:v>
                </c:pt>
              </c:strCache>
            </c:strRef>
          </c:cat>
          <c:val>
            <c:numRef>
              <c:f>Sheet1!$G$3:$G$8</c:f>
              <c:numCache>
                <c:formatCode>0.00%</c:formatCode>
                <c:ptCount val="6"/>
                <c:pt idx="0">
                  <c:v>0.2</c:v>
                </c:pt>
                <c:pt idx="1">
                  <c:v>-0.34042553191489361</c:v>
                </c:pt>
                <c:pt idx="2">
                  <c:v>-8.6206896551724144E-2</c:v>
                </c:pt>
                <c:pt idx="3">
                  <c:v>0.15454545454545454</c:v>
                </c:pt>
                <c:pt idx="4">
                  <c:v>0.5</c:v>
                </c:pt>
                <c:pt idx="5">
                  <c:v>0.10038610038610038</c:v>
                </c:pt>
              </c:numCache>
            </c:numRef>
          </c:val>
          <c:extLst>
            <c:ext xmlns:c16="http://schemas.microsoft.com/office/drawing/2014/chart" uri="{C3380CC4-5D6E-409C-BE32-E72D297353CC}">
              <c16:uniqueId val="{00000000-A633-46BE-9223-9C7C9BD4B5DF}"/>
            </c:ext>
          </c:extLst>
        </c:ser>
        <c:dLbls>
          <c:dLblPos val="outEnd"/>
          <c:showLegendKey val="0"/>
          <c:showVal val="1"/>
          <c:showCatName val="0"/>
          <c:showSerName val="0"/>
          <c:showPercent val="0"/>
          <c:showBubbleSize val="0"/>
        </c:dLbls>
        <c:gapWidth val="100"/>
        <c:axId val="1065771136"/>
        <c:axId val="1065768256"/>
      </c:barChart>
      <c:catAx>
        <c:axId val="1065771136"/>
        <c:scaling>
          <c:orientation val="minMax"/>
        </c:scaling>
        <c:delete val="0"/>
        <c:axPos val="l"/>
        <c:numFmt formatCode="General" sourceLinked="1"/>
        <c:majorTickMark val="none"/>
        <c:minorTickMark val="none"/>
        <c:tickLblPos val="low"/>
        <c:spPr>
          <a:noFill/>
          <a:ln w="15875" cap="flat" cmpd="sng" algn="ctr">
            <a:solidFill>
              <a:schemeClr val="tx1">
                <a:lumMod val="15000"/>
                <a:lumOff val="85000"/>
              </a:schemeClr>
            </a:solidFill>
            <a:round/>
          </a:ln>
          <a:effectLst/>
        </c:spPr>
        <c:txPr>
          <a:bodyPr rot="-60000000" spcFirstLastPara="1" vertOverflow="ellipsis" vert="horz" wrap="square" anchor="ctr" anchorCtr="1"/>
          <a:lstStyle/>
          <a:p>
            <a:pPr>
              <a:defRPr lang="en-US" sz="1000" b="0" i="0" u="none" strike="noStrike" kern="1200" baseline="0">
                <a:solidFill>
                  <a:schemeClr val="tx1">
                    <a:lumMod val="50000"/>
                    <a:lumOff val="50000"/>
                  </a:schemeClr>
                </a:solidFill>
                <a:latin typeface="+mn-lt"/>
                <a:ea typeface="+mn-ea"/>
                <a:cs typeface="+mn-cs"/>
              </a:defRPr>
            </a:pPr>
            <a:endParaRPr lang="en-US"/>
          </a:p>
        </c:txPr>
        <c:crossAx val="1065768256"/>
        <c:crosses val="autoZero"/>
        <c:auto val="1"/>
        <c:lblAlgn val="ctr"/>
        <c:lblOffset val="1000"/>
        <c:noMultiLvlLbl val="0"/>
      </c:catAx>
      <c:valAx>
        <c:axId val="1065768256"/>
        <c:scaling>
          <c:orientation val="minMax"/>
          <c:max val="2.2999999999999998"/>
          <c:min val="-0.4"/>
        </c:scaling>
        <c:delete val="0"/>
        <c:axPos val="b"/>
        <c:majorGridlines>
          <c:spPr>
            <a:ln w="9525" cap="flat" cmpd="sng" algn="ctr">
              <a:noFill/>
              <a:round/>
            </a:ln>
            <a:effectLst/>
          </c:spPr>
        </c:majorGridlines>
        <c:numFmt formatCode="0%" sourceLinked="0"/>
        <c:majorTickMark val="none"/>
        <c:minorTickMark val="none"/>
        <c:tickLblPos val="low"/>
        <c:spPr>
          <a:noFill/>
          <a:ln>
            <a:noFill/>
          </a:ln>
          <a:effectLst/>
        </c:spPr>
        <c:txPr>
          <a:bodyPr rot="-60000000" spcFirstLastPara="1" vertOverflow="ellipsis" vert="horz" wrap="square" anchor="ctr" anchorCtr="1"/>
          <a:lstStyle/>
          <a:p>
            <a:pPr>
              <a:defRPr lang="en-US" sz="900" b="0" i="0" u="none" strike="noStrike" kern="1200" baseline="0">
                <a:solidFill>
                  <a:schemeClr val="tx1">
                    <a:lumMod val="50000"/>
                    <a:lumOff val="50000"/>
                  </a:schemeClr>
                </a:solidFill>
                <a:latin typeface="+mn-lt"/>
                <a:ea typeface="+mn-ea"/>
                <a:cs typeface="+mn-cs"/>
              </a:defRPr>
            </a:pPr>
            <a:endParaRPr lang="en-US"/>
          </a:p>
        </c:txPr>
        <c:crossAx val="1065771136"/>
        <c:crosses val="autoZero"/>
        <c:crossBetween val="between"/>
        <c:majorUnit val="0.5"/>
      </c:valAx>
      <c:spPr>
        <a:noFill/>
        <a:ln>
          <a:noFill/>
        </a:ln>
        <a:effectLst/>
      </c:spPr>
    </c:plotArea>
    <c:legend>
      <c:legendPos val="b"/>
      <c:overlay val="0"/>
      <c:spPr>
        <a:noFill/>
        <a:ln>
          <a:noFill/>
        </a:ln>
        <a:effectLst/>
      </c:spPr>
      <c:txPr>
        <a:bodyPr rot="0" spcFirstLastPara="1" vertOverflow="ellipsis" vert="horz" wrap="square" anchor="ctr" anchorCtr="1"/>
        <a:lstStyle/>
        <a:p>
          <a:pPr>
            <a:defRPr lang="en-US" sz="900" b="0" i="0" u="none" strike="noStrike" kern="1200" baseline="0">
              <a:solidFill>
                <a:schemeClr val="tx1">
                  <a:lumMod val="50000"/>
                  <a:lumOff val="50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12700">
      <a:noFill/>
      <a:prstDash val="lgDash"/>
    </a:ln>
    <a:effectLst/>
  </c:spPr>
  <c:txPr>
    <a:bodyPr/>
    <a:lstStyle/>
    <a:p>
      <a:pPr>
        <a:defRPr lang="en-US" sz="1000" b="0" i="0" u="none" strike="noStrike" kern="1200" baseline="0">
          <a:solidFill>
            <a:schemeClr val="tx1"/>
          </a:solidFill>
          <a:latin typeface="+mn-lt"/>
          <a:ea typeface="+mn-ea"/>
          <a:cs typeface="+mn-cs"/>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spPr>
            <a:solidFill>
              <a:srgbClr val="C00000"/>
            </a:solidFill>
            <a:ln>
              <a:noFill/>
            </a:ln>
          </c:spPr>
          <c:dPt>
            <c:idx val="0"/>
            <c:bubble3D val="0"/>
            <c:spPr>
              <a:solidFill>
                <a:srgbClr val="C1927D"/>
              </a:solidFill>
              <a:ln w="19050">
                <a:noFill/>
              </a:ln>
              <a:effectLst/>
            </c:spPr>
            <c:extLst>
              <c:ext xmlns:c16="http://schemas.microsoft.com/office/drawing/2014/chart" uri="{C3380CC4-5D6E-409C-BE32-E72D297353CC}">
                <c16:uniqueId val="{00000001-096D-4CD5-B20D-DDE40DF41888}"/>
              </c:ext>
            </c:extLst>
          </c:dPt>
          <c:dPt>
            <c:idx val="1"/>
            <c:bubble3D val="0"/>
            <c:spPr>
              <a:solidFill>
                <a:srgbClr val="C00000"/>
              </a:solidFill>
              <a:ln w="19050">
                <a:noFill/>
              </a:ln>
              <a:effectLst/>
            </c:spPr>
            <c:extLst>
              <c:ext xmlns:c16="http://schemas.microsoft.com/office/drawing/2014/chart" uri="{C3380CC4-5D6E-409C-BE32-E72D297353CC}">
                <c16:uniqueId val="{00000003-096D-4CD5-B20D-DDE40DF41888}"/>
              </c:ext>
            </c:extLst>
          </c:dPt>
          <c:dLbls>
            <c:dLbl>
              <c:idx val="0"/>
              <c:layout>
                <c:manualLayout>
                  <c:x val="-0.20745780791649204"/>
                  <c:y val="2.3084502606619966E-2"/>
                </c:manualLayout>
              </c:layout>
              <c:dLblPos val="bestFi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96D-4CD5-B20D-DDE40DF41888}"/>
                </c:ext>
              </c:extLst>
            </c:dLbl>
            <c:dLbl>
              <c:idx val="1"/>
              <c:layout>
                <c:manualLayout>
                  <c:x val="0.23575412396662726"/>
                  <c:y val="-3.7448283226126484E-2"/>
                </c:manualLayout>
              </c:layout>
              <c:dLblPos val="bestFi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96D-4CD5-B20D-DDE40DF41888}"/>
                </c:ext>
              </c:extLst>
            </c:dLbl>
            <c:spPr>
              <a:noFill/>
              <a:ln>
                <a:noFill/>
              </a:ln>
              <a:effectLst/>
            </c:spPr>
            <c:txPr>
              <a:bodyPr rot="0" spcFirstLastPara="1" vertOverflow="overflow" horzOverflow="overflow" vert="horz" wrap="square" lIns="36576" tIns="19050" rIns="38100" bIns="19050" anchor="ctr" anchorCtr="0">
                <a:spAutoFit/>
              </a:bodyPr>
              <a:lstStyle/>
              <a:p>
                <a:pPr>
                  <a:defRPr lang="en-US" sz="900" b="0" i="0" u="none" strike="noStrike" kern="1200" baseline="0">
                    <a:solidFill>
                      <a:schemeClr val="bg1"/>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15:spPr xmlns:c15="http://schemas.microsoft.com/office/drawing/2012/chart">
                  <a:prstGeom prst="rect">
                    <a:avLst/>
                  </a:prstGeom>
                  <a:noFill/>
                  <a:ln>
                    <a:noFill/>
                  </a:ln>
                </c15:spPr>
              </c:ext>
            </c:extLst>
          </c:dLbls>
          <c:cat>
            <c:strRef>
              <c:f>gender!$A$2:$A$3</c:f>
              <c:strCache>
                <c:ptCount val="2"/>
                <c:pt idx="0">
                  <c:v>Male</c:v>
                </c:pt>
                <c:pt idx="1">
                  <c:v>Female</c:v>
                </c:pt>
              </c:strCache>
            </c:strRef>
          </c:cat>
          <c:val>
            <c:numRef>
              <c:f>gender!$B$2:$B$3</c:f>
              <c:numCache>
                <c:formatCode>0%</c:formatCode>
                <c:ptCount val="2"/>
                <c:pt idx="0">
                  <c:v>0.43871513102282333</c:v>
                </c:pt>
                <c:pt idx="1">
                  <c:v>0.56128486897717667</c:v>
                </c:pt>
              </c:numCache>
            </c:numRef>
          </c:val>
          <c:extLst>
            <c:ext xmlns:c16="http://schemas.microsoft.com/office/drawing/2014/chart" uri="{C3380CC4-5D6E-409C-BE32-E72D297353CC}">
              <c16:uniqueId val="{00000004-096D-4CD5-B20D-DDE40DF41888}"/>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US" sz="1000" b="0" i="0" u="none" strike="noStrike" kern="1200" baseline="0">
              <a:solidFill>
                <a:schemeClr val="tx1">
                  <a:lumMod val="50000"/>
                  <a:lumOff val="50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0" cap="flat" cmpd="sng" algn="ctr">
      <a:noFill/>
      <a:round/>
    </a:ln>
    <a:effectLst/>
  </c:spPr>
  <c:txPr>
    <a:bodyPr/>
    <a:lstStyle/>
    <a:p>
      <a:pPr>
        <a:defRPr lang="en-US" sz="1000" b="0" i="0" u="none" strike="noStrike" kern="1200" baseline="0">
          <a:solidFill>
            <a:schemeClr val="tx1"/>
          </a:solidFill>
          <a:latin typeface="+mn-lt"/>
          <a:ea typeface="+mn-ea"/>
          <a:cs typeface="+mn-cs"/>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1"/>
          <c:order val="0"/>
          <c:tx>
            <c:strRef>
              <c:f>'city'!$C$1</c:f>
              <c:strCache>
                <c:ptCount val="1"/>
                <c:pt idx="0">
                  <c:v>Column1</c:v>
                </c:pt>
              </c:strCache>
            </c:strRef>
          </c:tx>
          <c:spPr>
            <a:solidFill>
              <a:srgbClr val="C00000"/>
            </a:solidFill>
            <a:ln>
              <a:noFill/>
            </a:ln>
            <a:effectLst/>
          </c:spPr>
          <c:invertIfNegative val="0"/>
          <c:dPt>
            <c:idx val="0"/>
            <c:invertIfNegative val="0"/>
            <c:bubble3D val="0"/>
            <c:spPr>
              <a:solidFill>
                <a:schemeClr val="tx1">
                  <a:lumMod val="50000"/>
                  <a:lumOff val="50000"/>
                </a:schemeClr>
              </a:solidFill>
              <a:ln>
                <a:noFill/>
              </a:ln>
              <a:effectLst/>
            </c:spPr>
            <c:extLst>
              <c:ext xmlns:c16="http://schemas.microsoft.com/office/drawing/2014/chart" uri="{C3380CC4-5D6E-409C-BE32-E72D297353CC}">
                <c16:uniqueId val="{00000005-724B-49B4-979E-33899EA87DDF}"/>
              </c:ext>
            </c:extLst>
          </c:dPt>
          <c:dPt>
            <c:idx val="1"/>
            <c:invertIfNegative val="0"/>
            <c:bubble3D val="0"/>
            <c:spPr>
              <a:solidFill>
                <a:schemeClr val="tx1">
                  <a:lumMod val="50000"/>
                  <a:lumOff val="50000"/>
                </a:schemeClr>
              </a:solidFill>
              <a:ln>
                <a:noFill/>
              </a:ln>
              <a:effectLst/>
            </c:spPr>
            <c:extLst>
              <c:ext xmlns:c16="http://schemas.microsoft.com/office/drawing/2014/chart" uri="{C3380CC4-5D6E-409C-BE32-E72D297353CC}">
                <c16:uniqueId val="{00000004-724B-49B4-979E-33899EA87DDF}"/>
              </c:ext>
            </c:extLst>
          </c:dPt>
          <c:dPt>
            <c:idx val="2"/>
            <c:invertIfNegative val="0"/>
            <c:bubble3D val="0"/>
            <c:spPr>
              <a:solidFill>
                <a:schemeClr val="tx1">
                  <a:lumMod val="50000"/>
                  <a:lumOff val="50000"/>
                </a:schemeClr>
              </a:solidFill>
              <a:ln>
                <a:noFill/>
              </a:ln>
              <a:effectLst/>
            </c:spPr>
            <c:extLst>
              <c:ext xmlns:c16="http://schemas.microsoft.com/office/drawing/2014/chart" uri="{C3380CC4-5D6E-409C-BE32-E72D297353CC}">
                <c16:uniqueId val="{00000003-724B-49B4-979E-33899EA87DDF}"/>
              </c:ext>
            </c:extLst>
          </c:dPt>
          <c:dPt>
            <c:idx val="3"/>
            <c:invertIfNegative val="0"/>
            <c:bubble3D val="0"/>
            <c:spPr>
              <a:solidFill>
                <a:schemeClr val="tx1">
                  <a:lumMod val="50000"/>
                  <a:lumOff val="50000"/>
                </a:schemeClr>
              </a:solidFill>
              <a:ln>
                <a:noFill/>
              </a:ln>
              <a:effectLst/>
            </c:spPr>
            <c:extLst>
              <c:ext xmlns:c16="http://schemas.microsoft.com/office/drawing/2014/chart" uri="{C3380CC4-5D6E-409C-BE32-E72D297353CC}">
                <c16:uniqueId val="{00000002-724B-49B4-979E-33899EA87DDF}"/>
              </c:ext>
            </c:extLst>
          </c:dPt>
          <c:dLbls>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'city'!$A$2:$A$7</c:f>
              <c:strCache>
                <c:ptCount val="6"/>
                <c:pt idx="0">
                  <c:v>Nha Trang</c:v>
                </c:pt>
                <c:pt idx="1">
                  <c:v>Hải Phòng</c:v>
                </c:pt>
                <c:pt idx="2">
                  <c:v>Cần Thơ</c:v>
                </c:pt>
                <c:pt idx="3">
                  <c:v>Đà Nẵng</c:v>
                </c:pt>
                <c:pt idx="4">
                  <c:v>Hồ Chí Minh</c:v>
                </c:pt>
                <c:pt idx="5">
                  <c:v>Hà Nội</c:v>
                </c:pt>
              </c:strCache>
            </c:strRef>
          </c:cat>
          <c:val>
            <c:numRef>
              <c:f>'city'!$C$2:$C$7</c:f>
              <c:numCache>
                <c:formatCode>0%</c:formatCode>
                <c:ptCount val="6"/>
                <c:pt idx="0">
                  <c:v>7.3823612285150747E-2</c:v>
                </c:pt>
                <c:pt idx="1">
                  <c:v>0.11270780501549732</c:v>
                </c:pt>
                <c:pt idx="2">
                  <c:v>0.11468019160326853</c:v>
                </c:pt>
                <c:pt idx="3">
                  <c:v>0.11524373062834602</c:v>
                </c:pt>
                <c:pt idx="4">
                  <c:v>0.29163144547759934</c:v>
                </c:pt>
                <c:pt idx="5">
                  <c:v>0.29191321499013806</c:v>
                </c:pt>
              </c:numCache>
            </c:numRef>
          </c:val>
          <c:extLst>
            <c:ext xmlns:c16="http://schemas.microsoft.com/office/drawing/2014/chart" uri="{C3380CC4-5D6E-409C-BE32-E72D297353CC}">
              <c16:uniqueId val="{00000001-724B-49B4-979E-33899EA87DDF}"/>
            </c:ext>
          </c:extLst>
        </c:ser>
        <c:dLbls>
          <c:dLblPos val="outEnd"/>
          <c:showLegendKey val="0"/>
          <c:showVal val="1"/>
          <c:showCatName val="0"/>
          <c:showSerName val="0"/>
          <c:showPercent val="0"/>
          <c:showBubbleSize val="0"/>
        </c:dLbls>
        <c:gapWidth val="100"/>
        <c:axId val="1506282256"/>
        <c:axId val="1506281176"/>
      </c:barChart>
      <c:catAx>
        <c:axId val="1506282256"/>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en-US" sz="1000" b="0" i="0" u="none" strike="noStrike" kern="1200" baseline="0">
                <a:solidFill>
                  <a:schemeClr val="tx1">
                    <a:lumMod val="50000"/>
                    <a:lumOff val="50000"/>
                  </a:schemeClr>
                </a:solidFill>
                <a:latin typeface="+mn-lt"/>
                <a:ea typeface="+mn-ea"/>
                <a:cs typeface="+mn-cs"/>
              </a:defRPr>
            </a:pPr>
            <a:endParaRPr lang="en-US"/>
          </a:p>
        </c:txPr>
        <c:crossAx val="1506281176"/>
        <c:crosses val="autoZero"/>
        <c:auto val="1"/>
        <c:lblAlgn val="ctr"/>
        <c:lblOffset val="100"/>
        <c:noMultiLvlLbl val="0"/>
      </c:catAx>
      <c:valAx>
        <c:axId val="1506281176"/>
        <c:scaling>
          <c:orientation val="minMax"/>
        </c:scaling>
        <c:delete val="0"/>
        <c:axPos val="b"/>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lang="en-US" sz="900" b="0" i="0" u="none" strike="noStrike" kern="1200" baseline="0">
                <a:solidFill>
                  <a:schemeClr val="tx1">
                    <a:lumMod val="50000"/>
                    <a:lumOff val="50000"/>
                  </a:schemeClr>
                </a:solidFill>
                <a:latin typeface="+mn-lt"/>
                <a:ea typeface="+mn-ea"/>
                <a:cs typeface="+mn-cs"/>
              </a:defRPr>
            </a:pPr>
            <a:endParaRPr lang="en-US"/>
          </a:p>
        </c:txPr>
        <c:crossAx val="1506282256"/>
        <c:crosses val="autoZero"/>
        <c:crossBetween val="between"/>
      </c:valAx>
      <c:spPr>
        <a:noFill/>
        <a:ln>
          <a:noFill/>
        </a:ln>
        <a:effectLst/>
      </c:spPr>
    </c:plotArea>
    <c:plotVisOnly val="1"/>
    <c:dispBlanksAs val="gap"/>
    <c:showDLblsOverMax val="0"/>
  </c:chart>
  <c:spPr>
    <a:noFill/>
    <a:ln>
      <a:noFill/>
    </a:ln>
    <a:effectLst/>
  </c:spPr>
  <c:txPr>
    <a:bodyPr/>
    <a:lstStyle/>
    <a:p>
      <a:pPr>
        <a:defRPr lang="en-US" sz="1000" b="0" i="0" u="none" strike="noStrike" kern="1200" baseline="0">
          <a:solidFill>
            <a:schemeClr val="tx1"/>
          </a:solidFill>
          <a:latin typeface="+mn-lt"/>
          <a:ea typeface="+mn-ea"/>
          <a:cs typeface="+mn-cs"/>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barChart>
        <c:barDir val="bar"/>
        <c:grouping val="clustered"/>
        <c:varyColors val="0"/>
        <c:ser>
          <c:idx val="0"/>
          <c:order val="0"/>
          <c:tx>
            <c:strRef>
              <c:f>occupation!$B$1</c:f>
              <c:strCache>
                <c:ptCount val="1"/>
                <c:pt idx="0">
                  <c:v>%</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50000"/>
                        <a:lumOff val="50000"/>
                      </a:schemeClr>
                    </a:solidFill>
                    <a:latin typeface="Segoe UI Variable Display Semib (Body)" pitchFamily="2"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occupation!$A$2:$A$8</c:f>
              <c:strCache>
                <c:ptCount val="7"/>
                <c:pt idx="0">
                  <c:v>Professional</c:v>
                </c:pt>
                <c:pt idx="1">
                  <c:v>Student</c:v>
                </c:pt>
                <c:pt idx="2">
                  <c:v>Blue Collar</c:v>
                </c:pt>
                <c:pt idx="3">
                  <c:v>Non-working</c:v>
                </c:pt>
                <c:pt idx="4">
                  <c:v>Service &amp; Agriculture</c:v>
                </c:pt>
                <c:pt idx="5">
                  <c:v>Office Worker</c:v>
                </c:pt>
                <c:pt idx="6">
                  <c:v>Self Employed</c:v>
                </c:pt>
              </c:strCache>
            </c:strRef>
          </c:cat>
          <c:val>
            <c:numRef>
              <c:f>occupation!$B$2:$B$8</c:f>
              <c:numCache>
                <c:formatCode>0%</c:formatCode>
                <c:ptCount val="7"/>
                <c:pt idx="0">
                  <c:v>0.06</c:v>
                </c:pt>
                <c:pt idx="1">
                  <c:v>0.09</c:v>
                </c:pt>
                <c:pt idx="2">
                  <c:v>0.1</c:v>
                </c:pt>
                <c:pt idx="3">
                  <c:v>0.14000000000000001</c:v>
                </c:pt>
                <c:pt idx="4">
                  <c:v>0.18</c:v>
                </c:pt>
                <c:pt idx="5">
                  <c:v>0.2</c:v>
                </c:pt>
                <c:pt idx="6">
                  <c:v>0.23</c:v>
                </c:pt>
              </c:numCache>
            </c:numRef>
          </c:val>
          <c:extLst>
            <c:ext xmlns:c16="http://schemas.microsoft.com/office/drawing/2014/chart" uri="{C3380CC4-5D6E-409C-BE32-E72D297353CC}">
              <c16:uniqueId val="{00000000-BEFA-4E7D-BF76-44B8168ABE94}"/>
            </c:ext>
          </c:extLst>
        </c:ser>
        <c:dLbls>
          <c:showLegendKey val="0"/>
          <c:showVal val="1"/>
          <c:showCatName val="0"/>
          <c:showSerName val="0"/>
          <c:showPercent val="0"/>
          <c:showBubbleSize val="0"/>
        </c:dLbls>
        <c:gapWidth val="100"/>
        <c:axId val="2114485232"/>
        <c:axId val="2114488472"/>
      </c:barChart>
      <c:catAx>
        <c:axId val="2114485232"/>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50000"/>
                    <a:lumOff val="50000"/>
                  </a:schemeClr>
                </a:solidFill>
                <a:latin typeface="Segoe UI Variable Display Semib (Body)" pitchFamily="2" charset="0"/>
                <a:ea typeface="+mn-ea"/>
                <a:cs typeface="+mn-cs"/>
              </a:defRPr>
            </a:pPr>
            <a:endParaRPr lang="en-US"/>
          </a:p>
        </c:txPr>
        <c:crossAx val="2114488472"/>
        <c:crosses val="autoZero"/>
        <c:auto val="1"/>
        <c:lblAlgn val="ctr"/>
        <c:lblOffset val="100"/>
        <c:noMultiLvlLbl val="0"/>
      </c:catAx>
      <c:valAx>
        <c:axId val="2114488472"/>
        <c:scaling>
          <c:orientation val="minMax"/>
        </c:scaling>
        <c:delete val="1"/>
        <c:axPos val="b"/>
        <c:numFmt formatCode="0%" sourceLinked="1"/>
        <c:majorTickMark val="none"/>
        <c:minorTickMark val="none"/>
        <c:tickLblPos val="nextTo"/>
        <c:crossAx val="211448523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408E2B-7394-44D1-8F58-87C83FDD5359}" type="datetimeFigureOut">
              <a:rPr lang="en-US" smtClean="0"/>
              <a:t>12/29/2025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BD6273-57F7-49D0-8EB3-9DDB94DA1B1B}" type="slidenum">
              <a:rPr lang="en-US" smtClean="0"/>
              <a:t>‹#›</a:t>
            </a:fld>
            <a:endParaRPr lang="en-US"/>
          </a:p>
        </p:txBody>
      </p:sp>
    </p:spTree>
    <p:extLst>
      <p:ext uri="{BB962C8B-B14F-4D97-AF65-F5344CB8AC3E}">
        <p14:creationId xmlns:p14="http://schemas.microsoft.com/office/powerpoint/2010/main" val="2314272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BD1346-694C-DF75-3E41-D5630A211DAC}"/>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2188B7-59D6-9BF4-FB03-B0A3FC14EAB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6BBC647-5679-C4D0-99E0-4AA3E1A082E7}"/>
              </a:ext>
            </a:extLst>
          </p:cNvPr>
          <p:cNvSpPr>
            <a:spLocks noGrp="1"/>
          </p:cNvSpPr>
          <p:nvPr>
            <p:ph type="dt" sz="half" idx="10"/>
          </p:nvPr>
        </p:nvSpPr>
        <p:spPr>
          <a:xfrm>
            <a:off x="838200" y="6356350"/>
            <a:ext cx="2743200" cy="365125"/>
          </a:xfrm>
          <a:prstGeom prst="rect">
            <a:avLst/>
          </a:prstGeom>
        </p:spPr>
        <p:txBody>
          <a:bodyPr/>
          <a:lstStyle/>
          <a:p>
            <a:r>
              <a:rPr lang="en-US"/>
              <a:t>Source</a:t>
            </a:r>
          </a:p>
        </p:txBody>
      </p:sp>
      <p:sp>
        <p:nvSpPr>
          <p:cNvPr id="5" name="Footer Placeholder 4">
            <a:extLst>
              <a:ext uri="{FF2B5EF4-FFF2-40B4-BE49-F238E27FC236}">
                <a16:creationId xmlns:a16="http://schemas.microsoft.com/office/drawing/2014/main" id="{3071458F-5E9B-20F7-CA72-78612BAE1CB8}"/>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D77AC893-820B-759B-E5D6-967410DC9FD4}"/>
              </a:ext>
            </a:extLst>
          </p:cNvPr>
          <p:cNvSpPr>
            <a:spLocks noGrp="1"/>
          </p:cNvSpPr>
          <p:nvPr>
            <p:ph type="sldNum" sz="quarter" idx="12"/>
          </p:nvPr>
        </p:nvSpPr>
        <p:spPr>
          <a:xfrm>
            <a:off x="8610600" y="6356350"/>
            <a:ext cx="2743200" cy="365125"/>
          </a:xfrm>
          <a:prstGeom prst="rect">
            <a:avLst/>
          </a:prstGeom>
        </p:spPr>
        <p:txBody>
          <a:bodyPr/>
          <a:lstStyle/>
          <a:p>
            <a:fld id="{2D2776A3-3430-4A99-9DCB-D67D51D6910E}" type="slidenum">
              <a:rPr lang="en-US" smtClean="0"/>
              <a:t>‹#›</a:t>
            </a:fld>
            <a:endParaRPr lang="en-US"/>
          </a:p>
        </p:txBody>
      </p:sp>
    </p:spTree>
    <p:extLst>
      <p:ext uri="{BB962C8B-B14F-4D97-AF65-F5344CB8AC3E}">
        <p14:creationId xmlns:p14="http://schemas.microsoft.com/office/powerpoint/2010/main" val="6170335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55DC6-83B1-F073-BA08-547BB113DCAF}"/>
              </a:ext>
            </a:extLst>
          </p:cNvPr>
          <p:cNvSpPr>
            <a:spLocks noGrp="1"/>
          </p:cNvSpPr>
          <p:nvPr>
            <p:ph type="title"/>
          </p:nvPr>
        </p:nvSpPr>
        <p:spPr>
          <a:xfrm>
            <a:off x="838200" y="215156"/>
            <a:ext cx="10515600" cy="923270"/>
          </a:xfrm>
          <a:prstGeom prst="rect">
            <a:avLst/>
          </a:prstGeom>
        </p:spPr>
        <p:txBody>
          <a:bodyPr/>
          <a:lstStyle/>
          <a:p>
            <a:r>
              <a:rPr lang="en-US" dirty="0"/>
              <a:t>Click to edit Master title style</a:t>
            </a:r>
          </a:p>
        </p:txBody>
      </p:sp>
      <p:sp>
        <p:nvSpPr>
          <p:cNvPr id="13" name="Date Placeholder 12">
            <a:extLst>
              <a:ext uri="{FF2B5EF4-FFF2-40B4-BE49-F238E27FC236}">
                <a16:creationId xmlns:a16="http://schemas.microsoft.com/office/drawing/2014/main" id="{BA71E701-DF10-21F0-EE3D-E560605E44E6}"/>
              </a:ext>
            </a:extLst>
          </p:cNvPr>
          <p:cNvSpPr>
            <a:spLocks noGrp="1"/>
          </p:cNvSpPr>
          <p:nvPr>
            <p:ph type="dt" sz="half" idx="10"/>
          </p:nvPr>
        </p:nvSpPr>
        <p:spPr>
          <a:xfrm>
            <a:off x="838200" y="6356350"/>
            <a:ext cx="2743200" cy="365125"/>
          </a:xfrm>
          <a:prstGeom prst="rect">
            <a:avLst/>
          </a:prstGeom>
        </p:spPr>
        <p:txBody>
          <a:bodyPr/>
          <a:lstStyle/>
          <a:p>
            <a:r>
              <a:rPr lang="en-US"/>
              <a:t>Source</a:t>
            </a:r>
            <a:endParaRPr lang="en-US" dirty="0"/>
          </a:p>
        </p:txBody>
      </p:sp>
      <p:sp>
        <p:nvSpPr>
          <p:cNvPr id="14" name="Footer Placeholder 13">
            <a:extLst>
              <a:ext uri="{FF2B5EF4-FFF2-40B4-BE49-F238E27FC236}">
                <a16:creationId xmlns:a16="http://schemas.microsoft.com/office/drawing/2014/main" id="{D7A2B512-1A6F-C87A-B281-199373F182D6}"/>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15" name="Slide Number Placeholder 14">
            <a:extLst>
              <a:ext uri="{FF2B5EF4-FFF2-40B4-BE49-F238E27FC236}">
                <a16:creationId xmlns:a16="http://schemas.microsoft.com/office/drawing/2014/main" id="{1E434D71-109E-638D-A8F2-3520BF814CCA}"/>
              </a:ext>
            </a:extLst>
          </p:cNvPr>
          <p:cNvSpPr>
            <a:spLocks noGrp="1"/>
          </p:cNvSpPr>
          <p:nvPr>
            <p:ph type="sldNum" sz="quarter" idx="12"/>
          </p:nvPr>
        </p:nvSpPr>
        <p:spPr>
          <a:xfrm>
            <a:off x="8610600" y="6356350"/>
            <a:ext cx="2743200" cy="365125"/>
          </a:xfrm>
          <a:prstGeom prst="rect">
            <a:avLst/>
          </a:prstGeom>
        </p:spPr>
        <p:txBody>
          <a:bodyPr/>
          <a:lstStyle/>
          <a:p>
            <a:fld id="{2D2776A3-3430-4A99-9DCB-D67D51D6910E}" type="slidenum">
              <a:rPr lang="en-US" smtClean="0"/>
              <a:t>‹#›</a:t>
            </a:fld>
            <a:endParaRPr lang="en-US"/>
          </a:p>
        </p:txBody>
      </p:sp>
      <p:sp>
        <p:nvSpPr>
          <p:cNvPr id="6" name="Content Placeholder 2">
            <a:extLst>
              <a:ext uri="{FF2B5EF4-FFF2-40B4-BE49-F238E27FC236}">
                <a16:creationId xmlns:a16="http://schemas.microsoft.com/office/drawing/2014/main" id="{AFFAEDAA-03DF-5682-A86E-EEC651232C11}"/>
              </a:ext>
            </a:extLst>
          </p:cNvPr>
          <p:cNvSpPr>
            <a:spLocks noGrp="1"/>
          </p:cNvSpPr>
          <p:nvPr>
            <p:ph sz="half" idx="13"/>
          </p:nvPr>
        </p:nvSpPr>
        <p:spPr>
          <a:xfrm>
            <a:off x="838201" y="1317813"/>
            <a:ext cx="10515599" cy="393226"/>
          </a:xfrm>
        </p:spPr>
        <p:txBody>
          <a:bodyPr/>
          <a:lstStyle/>
          <a:p>
            <a:pPr lvl="0"/>
            <a:r>
              <a:rPr lang="en-US" dirty="0"/>
              <a:t>Click to edit Master text styles</a:t>
            </a:r>
          </a:p>
        </p:txBody>
      </p:sp>
      <p:sp>
        <p:nvSpPr>
          <p:cNvPr id="7" name="Content Placeholder 2">
            <a:extLst>
              <a:ext uri="{FF2B5EF4-FFF2-40B4-BE49-F238E27FC236}">
                <a16:creationId xmlns:a16="http://schemas.microsoft.com/office/drawing/2014/main" id="{2C7DA4CD-1849-FFBF-0635-1D11F6301BD3}"/>
              </a:ext>
            </a:extLst>
          </p:cNvPr>
          <p:cNvSpPr>
            <a:spLocks noGrp="1"/>
          </p:cNvSpPr>
          <p:nvPr>
            <p:ph sz="half" idx="14"/>
          </p:nvPr>
        </p:nvSpPr>
        <p:spPr>
          <a:xfrm>
            <a:off x="838200" y="1711039"/>
            <a:ext cx="10515599" cy="4465925"/>
          </a:xfrm>
        </p:spPr>
        <p:txBody>
          <a:bodyPr/>
          <a:lstStyle>
            <a:lvl1pPr>
              <a:defRPr sz="1300">
                <a:solidFill>
                  <a:schemeClr val="tx1">
                    <a:lumMod val="75000"/>
                    <a:lumOff val="25000"/>
                  </a:schemeClr>
                </a:solidFill>
                <a:latin typeface="Segoe UI Variable Display" pitchFamily="2" charset="0"/>
              </a:defRPr>
            </a:lvl1pPr>
          </a:lstStyle>
          <a:p>
            <a:pPr lvl="0"/>
            <a:r>
              <a:rPr lang="en-US" dirty="0"/>
              <a:t>Click to edit Master text styles</a:t>
            </a:r>
          </a:p>
        </p:txBody>
      </p:sp>
    </p:spTree>
    <p:extLst>
      <p:ext uri="{BB962C8B-B14F-4D97-AF65-F5344CB8AC3E}">
        <p14:creationId xmlns:p14="http://schemas.microsoft.com/office/powerpoint/2010/main" val="23433259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F9CFE1-F48F-0874-3398-465D78F61A8C}"/>
              </a:ext>
            </a:extLst>
          </p:cNvPr>
          <p:cNvSpPr>
            <a:spLocks noGrp="1"/>
          </p:cNvSpPr>
          <p:nvPr>
            <p:ph type="title"/>
          </p:nvPr>
        </p:nvSpPr>
        <p:spPr>
          <a:xfrm>
            <a:off x="838200" y="215158"/>
            <a:ext cx="10515600" cy="923360"/>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316552E2-253A-B506-7F18-3757E9DEE385}"/>
              </a:ext>
            </a:extLst>
          </p:cNvPr>
          <p:cNvSpPr>
            <a:spLocks noGrp="1"/>
          </p:cNvSpPr>
          <p:nvPr>
            <p:ph sz="half" idx="1"/>
          </p:nvPr>
        </p:nvSpPr>
        <p:spPr>
          <a:xfrm>
            <a:off x="838201" y="1330644"/>
            <a:ext cx="5002731" cy="393226"/>
          </a:xfrm>
        </p:spPr>
        <p:txBody>
          <a:bodyPr/>
          <a:lstStyle/>
          <a:p>
            <a:pPr lvl="0"/>
            <a:r>
              <a:rPr lang="en-US" dirty="0"/>
              <a:t>Click to edit Master text styles</a:t>
            </a:r>
          </a:p>
        </p:txBody>
      </p:sp>
      <p:sp>
        <p:nvSpPr>
          <p:cNvPr id="8" name="Date Placeholder 7">
            <a:extLst>
              <a:ext uri="{FF2B5EF4-FFF2-40B4-BE49-F238E27FC236}">
                <a16:creationId xmlns:a16="http://schemas.microsoft.com/office/drawing/2014/main" id="{2C762BB9-4A50-C723-F401-001B4BBCE868}"/>
              </a:ext>
            </a:extLst>
          </p:cNvPr>
          <p:cNvSpPr>
            <a:spLocks noGrp="1"/>
          </p:cNvSpPr>
          <p:nvPr>
            <p:ph type="dt" sz="half" idx="10"/>
          </p:nvPr>
        </p:nvSpPr>
        <p:spPr>
          <a:xfrm>
            <a:off x="838200" y="6356350"/>
            <a:ext cx="2743200" cy="365125"/>
          </a:xfrm>
          <a:prstGeom prst="rect">
            <a:avLst/>
          </a:prstGeom>
        </p:spPr>
        <p:txBody>
          <a:bodyPr/>
          <a:lstStyle/>
          <a:p>
            <a:r>
              <a:rPr lang="en-US" dirty="0"/>
              <a:t>Source</a:t>
            </a:r>
          </a:p>
        </p:txBody>
      </p:sp>
      <p:sp>
        <p:nvSpPr>
          <p:cNvPr id="9" name="Footer Placeholder 8">
            <a:extLst>
              <a:ext uri="{FF2B5EF4-FFF2-40B4-BE49-F238E27FC236}">
                <a16:creationId xmlns:a16="http://schemas.microsoft.com/office/drawing/2014/main" id="{9658862F-37C5-C648-63CD-0152A97F1CCD}"/>
              </a:ext>
            </a:extLst>
          </p:cNvPr>
          <p:cNvSpPr>
            <a:spLocks noGrp="1"/>
          </p:cNvSpPr>
          <p:nvPr>
            <p:ph type="ftr" sz="quarter" idx="11"/>
          </p:nvPr>
        </p:nvSpPr>
        <p:spPr>
          <a:xfrm>
            <a:off x="4038600" y="6356350"/>
            <a:ext cx="4114800" cy="365125"/>
          </a:xfrm>
          <a:prstGeom prst="rect">
            <a:avLst/>
          </a:prstGeom>
        </p:spPr>
        <p:txBody>
          <a:bodyPr/>
          <a:lstStyle>
            <a:lvl1pPr>
              <a:defRPr sz="1000"/>
            </a:lvl1pPr>
          </a:lstStyle>
          <a:p>
            <a:endParaRPr lang="en-US" sz="1000" dirty="0"/>
          </a:p>
        </p:txBody>
      </p:sp>
      <p:sp>
        <p:nvSpPr>
          <p:cNvPr id="10" name="Slide Number Placeholder 9">
            <a:extLst>
              <a:ext uri="{FF2B5EF4-FFF2-40B4-BE49-F238E27FC236}">
                <a16:creationId xmlns:a16="http://schemas.microsoft.com/office/drawing/2014/main" id="{80781E91-6B8A-F763-AADB-207C9680EEA3}"/>
              </a:ext>
            </a:extLst>
          </p:cNvPr>
          <p:cNvSpPr>
            <a:spLocks noGrp="1"/>
          </p:cNvSpPr>
          <p:nvPr>
            <p:ph type="sldNum" sz="quarter" idx="12"/>
          </p:nvPr>
        </p:nvSpPr>
        <p:spPr>
          <a:xfrm>
            <a:off x="8610600" y="6356350"/>
            <a:ext cx="2743200" cy="365125"/>
          </a:xfrm>
          <a:prstGeom prst="rect">
            <a:avLst/>
          </a:prstGeom>
        </p:spPr>
        <p:txBody>
          <a:bodyPr/>
          <a:lstStyle/>
          <a:p>
            <a:fld id="{2D2776A3-3430-4A99-9DCB-D67D51D6910E}" type="slidenum">
              <a:rPr lang="en-US" smtClean="0"/>
              <a:t>‹#›</a:t>
            </a:fld>
            <a:endParaRPr lang="en-US" dirty="0"/>
          </a:p>
        </p:txBody>
      </p:sp>
      <p:sp>
        <p:nvSpPr>
          <p:cNvPr id="5" name="Content Placeholder 2">
            <a:extLst>
              <a:ext uri="{FF2B5EF4-FFF2-40B4-BE49-F238E27FC236}">
                <a16:creationId xmlns:a16="http://schemas.microsoft.com/office/drawing/2014/main" id="{B4ABDDE9-5B66-BCA0-6AF8-44B42F20847C}"/>
              </a:ext>
            </a:extLst>
          </p:cNvPr>
          <p:cNvSpPr>
            <a:spLocks noGrp="1"/>
          </p:cNvSpPr>
          <p:nvPr>
            <p:ph sz="half" idx="13"/>
          </p:nvPr>
        </p:nvSpPr>
        <p:spPr>
          <a:xfrm>
            <a:off x="838200" y="1723870"/>
            <a:ext cx="5002731" cy="4453093"/>
          </a:xfrm>
        </p:spPr>
        <p:txBody>
          <a:bodyPr/>
          <a:lstStyle>
            <a:lvl1pPr>
              <a:defRPr sz="1300">
                <a:solidFill>
                  <a:schemeClr val="tx1">
                    <a:lumMod val="75000"/>
                    <a:lumOff val="25000"/>
                  </a:schemeClr>
                </a:solidFill>
                <a:latin typeface="Segoe UI Variable Display" pitchFamily="2" charset="0"/>
              </a:defRPr>
            </a:lvl1pPr>
          </a:lstStyle>
          <a:p>
            <a:pPr lvl="0"/>
            <a:r>
              <a:rPr lang="en-US" dirty="0"/>
              <a:t>Click to edit Master text styles</a:t>
            </a:r>
          </a:p>
        </p:txBody>
      </p:sp>
      <p:sp>
        <p:nvSpPr>
          <p:cNvPr id="6" name="Content Placeholder 2">
            <a:extLst>
              <a:ext uri="{FF2B5EF4-FFF2-40B4-BE49-F238E27FC236}">
                <a16:creationId xmlns:a16="http://schemas.microsoft.com/office/drawing/2014/main" id="{B08C925D-E478-F861-006E-76500665B520}"/>
              </a:ext>
            </a:extLst>
          </p:cNvPr>
          <p:cNvSpPr>
            <a:spLocks noGrp="1"/>
          </p:cNvSpPr>
          <p:nvPr>
            <p:ph sz="half" idx="14"/>
          </p:nvPr>
        </p:nvSpPr>
        <p:spPr>
          <a:xfrm>
            <a:off x="6351068" y="1723870"/>
            <a:ext cx="5002731" cy="4453093"/>
          </a:xfrm>
        </p:spPr>
        <p:txBody>
          <a:bodyPr/>
          <a:lstStyle>
            <a:lvl1pPr>
              <a:defRPr sz="1300">
                <a:solidFill>
                  <a:schemeClr val="tx1">
                    <a:lumMod val="75000"/>
                    <a:lumOff val="25000"/>
                  </a:schemeClr>
                </a:solidFill>
                <a:latin typeface="Segoe UI Variable Display" pitchFamily="2" charset="0"/>
              </a:defRPr>
            </a:lvl1pPr>
          </a:lstStyle>
          <a:p>
            <a:pPr lvl="0"/>
            <a:r>
              <a:rPr lang="en-US" dirty="0"/>
              <a:t>Click to edit Master text styles</a:t>
            </a:r>
          </a:p>
        </p:txBody>
      </p:sp>
      <p:sp>
        <p:nvSpPr>
          <p:cNvPr id="7" name="Content Placeholder 2">
            <a:extLst>
              <a:ext uri="{FF2B5EF4-FFF2-40B4-BE49-F238E27FC236}">
                <a16:creationId xmlns:a16="http://schemas.microsoft.com/office/drawing/2014/main" id="{B4B74264-C28A-D14E-E1AA-85CE2C74541C}"/>
              </a:ext>
            </a:extLst>
          </p:cNvPr>
          <p:cNvSpPr>
            <a:spLocks noGrp="1"/>
          </p:cNvSpPr>
          <p:nvPr>
            <p:ph sz="half" idx="15"/>
          </p:nvPr>
        </p:nvSpPr>
        <p:spPr>
          <a:xfrm>
            <a:off x="6351067" y="1330644"/>
            <a:ext cx="5002731" cy="393226"/>
          </a:xfrm>
        </p:spPr>
        <p:txBody>
          <a:bodyPr/>
          <a:lstStyle/>
          <a:p>
            <a:pPr lvl="0"/>
            <a:r>
              <a:rPr lang="en-US" dirty="0"/>
              <a:t>Click to edit Master text styles</a:t>
            </a:r>
          </a:p>
        </p:txBody>
      </p:sp>
    </p:spTree>
    <p:extLst>
      <p:ext uri="{BB962C8B-B14F-4D97-AF65-F5344CB8AC3E}">
        <p14:creationId xmlns:p14="http://schemas.microsoft.com/office/powerpoint/2010/main" val="3453800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B4055-853A-935C-C609-475BB0F125C6}"/>
              </a:ext>
            </a:extLst>
          </p:cNvPr>
          <p:cNvSpPr>
            <a:spLocks noGrp="1"/>
          </p:cNvSpPr>
          <p:nvPr>
            <p:ph type="title"/>
          </p:nvPr>
        </p:nvSpPr>
        <p:spPr>
          <a:xfrm>
            <a:off x="838200" y="215158"/>
            <a:ext cx="10515600" cy="923360"/>
          </a:xfrm>
          <a:prstGeom prst="rect">
            <a:avLst/>
          </a:prstGeom>
        </p:spPr>
        <p:txBody>
          <a:bodyPr/>
          <a:lstStyle/>
          <a:p>
            <a:r>
              <a:rPr lang="en-US"/>
              <a:t>Click to edit Master title style</a:t>
            </a:r>
          </a:p>
        </p:txBody>
      </p:sp>
      <p:sp>
        <p:nvSpPr>
          <p:cNvPr id="6" name="Date Placeholder 5">
            <a:extLst>
              <a:ext uri="{FF2B5EF4-FFF2-40B4-BE49-F238E27FC236}">
                <a16:creationId xmlns:a16="http://schemas.microsoft.com/office/drawing/2014/main" id="{D16294B6-8F6B-8134-BD81-732DA298C929}"/>
              </a:ext>
            </a:extLst>
          </p:cNvPr>
          <p:cNvSpPr>
            <a:spLocks noGrp="1"/>
          </p:cNvSpPr>
          <p:nvPr>
            <p:ph type="dt" sz="half" idx="10"/>
          </p:nvPr>
        </p:nvSpPr>
        <p:spPr>
          <a:xfrm>
            <a:off x="838200" y="6356350"/>
            <a:ext cx="2743200" cy="365125"/>
          </a:xfrm>
          <a:prstGeom prst="rect">
            <a:avLst/>
          </a:prstGeom>
        </p:spPr>
        <p:txBody>
          <a:bodyPr/>
          <a:lstStyle/>
          <a:p>
            <a:r>
              <a:rPr lang="en-US"/>
              <a:t>Source</a:t>
            </a:r>
            <a:endParaRPr lang="en-US" dirty="0"/>
          </a:p>
        </p:txBody>
      </p:sp>
      <p:sp>
        <p:nvSpPr>
          <p:cNvPr id="7" name="Footer Placeholder 6">
            <a:extLst>
              <a:ext uri="{FF2B5EF4-FFF2-40B4-BE49-F238E27FC236}">
                <a16:creationId xmlns:a16="http://schemas.microsoft.com/office/drawing/2014/main" id="{2ECDB3E3-00E2-9F14-293D-B6E4EC9F33D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8" name="Slide Number Placeholder 7">
            <a:extLst>
              <a:ext uri="{FF2B5EF4-FFF2-40B4-BE49-F238E27FC236}">
                <a16:creationId xmlns:a16="http://schemas.microsoft.com/office/drawing/2014/main" id="{F6999F76-7072-F741-31B7-A7AEDE951705}"/>
              </a:ext>
            </a:extLst>
          </p:cNvPr>
          <p:cNvSpPr>
            <a:spLocks noGrp="1"/>
          </p:cNvSpPr>
          <p:nvPr>
            <p:ph type="sldNum" sz="quarter" idx="12"/>
          </p:nvPr>
        </p:nvSpPr>
        <p:spPr>
          <a:xfrm>
            <a:off x="8610600" y="6356350"/>
            <a:ext cx="2743200" cy="365125"/>
          </a:xfrm>
          <a:prstGeom prst="rect">
            <a:avLst/>
          </a:prstGeom>
        </p:spPr>
        <p:txBody>
          <a:bodyPr/>
          <a:lstStyle/>
          <a:p>
            <a:fld id="{2D2776A3-3430-4A99-9DCB-D67D51D6910E}" type="slidenum">
              <a:rPr lang="en-US" smtClean="0"/>
              <a:t>‹#›</a:t>
            </a:fld>
            <a:endParaRPr lang="en-US"/>
          </a:p>
        </p:txBody>
      </p:sp>
    </p:spTree>
    <p:extLst>
      <p:ext uri="{BB962C8B-B14F-4D97-AF65-F5344CB8AC3E}">
        <p14:creationId xmlns:p14="http://schemas.microsoft.com/office/powerpoint/2010/main" val="29482571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5F6795FF-DC9B-F29A-C0B2-9DBC485DD15B}"/>
              </a:ext>
            </a:extLst>
          </p:cNvPr>
          <p:cNvSpPr>
            <a:spLocks noGrp="1"/>
          </p:cNvSpPr>
          <p:nvPr>
            <p:ph type="dt" sz="half" idx="10"/>
          </p:nvPr>
        </p:nvSpPr>
        <p:spPr>
          <a:xfrm>
            <a:off x="838200" y="6356350"/>
            <a:ext cx="2743200" cy="365125"/>
          </a:xfrm>
          <a:prstGeom prst="rect">
            <a:avLst/>
          </a:prstGeom>
        </p:spPr>
        <p:txBody>
          <a:bodyPr/>
          <a:lstStyle/>
          <a:p>
            <a:r>
              <a:rPr lang="en-US"/>
              <a:t>Source</a:t>
            </a:r>
            <a:endParaRPr lang="en-US" dirty="0"/>
          </a:p>
        </p:txBody>
      </p:sp>
      <p:sp>
        <p:nvSpPr>
          <p:cNvPr id="6" name="Footer Placeholder 5">
            <a:extLst>
              <a:ext uri="{FF2B5EF4-FFF2-40B4-BE49-F238E27FC236}">
                <a16:creationId xmlns:a16="http://schemas.microsoft.com/office/drawing/2014/main" id="{A30F1D63-C424-A881-C96B-1CCF84AFD0B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7101E19A-55D3-26D0-E7AB-82E7B98054C2}"/>
              </a:ext>
            </a:extLst>
          </p:cNvPr>
          <p:cNvSpPr>
            <a:spLocks noGrp="1"/>
          </p:cNvSpPr>
          <p:nvPr>
            <p:ph type="sldNum" sz="quarter" idx="12"/>
          </p:nvPr>
        </p:nvSpPr>
        <p:spPr>
          <a:xfrm>
            <a:off x="8610600" y="6356350"/>
            <a:ext cx="2743200" cy="365125"/>
          </a:xfrm>
          <a:prstGeom prst="rect">
            <a:avLst/>
          </a:prstGeom>
        </p:spPr>
        <p:txBody>
          <a:bodyPr/>
          <a:lstStyle/>
          <a:p>
            <a:fld id="{2D2776A3-3430-4A99-9DCB-D67D51D6910E}" type="slidenum">
              <a:rPr lang="en-US" smtClean="0"/>
              <a:t>‹#›</a:t>
            </a:fld>
            <a:endParaRPr lang="en-US"/>
          </a:p>
        </p:txBody>
      </p:sp>
    </p:spTree>
    <p:extLst>
      <p:ext uri="{BB962C8B-B14F-4D97-AF65-F5344CB8AC3E}">
        <p14:creationId xmlns:p14="http://schemas.microsoft.com/office/powerpoint/2010/main" val="262492128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97344EF-5E1A-A790-28F9-F0DB35D08191}"/>
              </a:ext>
            </a:extLst>
          </p:cNvPr>
          <p:cNvSpPr>
            <a:spLocks noGrp="1"/>
          </p:cNvSpPr>
          <p:nvPr>
            <p:ph type="body" idx="1"/>
          </p:nvPr>
        </p:nvSpPr>
        <p:spPr>
          <a:xfrm>
            <a:off x="838200" y="1272991"/>
            <a:ext cx="10515600" cy="490397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4AA0C60-3AAD-BDE7-D9C8-94F0034BD8FD}"/>
              </a:ext>
            </a:extLst>
          </p:cNvPr>
          <p:cNvSpPr>
            <a:spLocks noGrp="1"/>
          </p:cNvSpPr>
          <p:nvPr>
            <p:ph type="dt" sz="half" idx="2"/>
          </p:nvPr>
        </p:nvSpPr>
        <p:spPr>
          <a:xfrm>
            <a:off x="838200" y="6356350"/>
            <a:ext cx="5715000" cy="365125"/>
          </a:xfrm>
          <a:prstGeom prst="rect">
            <a:avLst/>
          </a:prstGeom>
        </p:spPr>
        <p:txBody>
          <a:bodyPr vert="horz" lIns="91440" tIns="45720" rIns="91440" bIns="45720" rtlCol="0" anchor="ctr"/>
          <a:lstStyle>
            <a:lvl1pPr algn="l">
              <a:defRPr sz="1000">
                <a:solidFill>
                  <a:schemeClr val="tx1">
                    <a:tint val="82000"/>
                  </a:schemeClr>
                </a:solidFill>
              </a:defRPr>
            </a:lvl1pPr>
          </a:lstStyle>
          <a:p>
            <a:r>
              <a:rPr lang="en-US"/>
              <a:t>Source</a:t>
            </a:r>
            <a:endParaRPr lang="en-US" sz="1000" dirty="0"/>
          </a:p>
        </p:txBody>
      </p:sp>
      <p:sp>
        <p:nvSpPr>
          <p:cNvPr id="6" name="Slide Number Placeholder 5">
            <a:extLst>
              <a:ext uri="{FF2B5EF4-FFF2-40B4-BE49-F238E27FC236}">
                <a16:creationId xmlns:a16="http://schemas.microsoft.com/office/drawing/2014/main" id="{F4EBF45C-9252-079B-82AD-07E3C17EDBC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000">
                <a:solidFill>
                  <a:schemeClr val="tx1">
                    <a:tint val="82000"/>
                  </a:schemeClr>
                </a:solidFill>
              </a:defRPr>
            </a:lvl1pPr>
          </a:lstStyle>
          <a:p>
            <a:fld id="{2D2776A3-3430-4A99-9DCB-D67D51D6910E}" type="slidenum">
              <a:rPr lang="en-US" smtClean="0"/>
              <a:pPr/>
              <a:t>‹#›</a:t>
            </a:fld>
            <a:endParaRPr lang="en-US" sz="1000" dirty="0"/>
          </a:p>
        </p:txBody>
      </p:sp>
      <p:cxnSp>
        <p:nvCxnSpPr>
          <p:cNvPr id="8" name="Straight Connector 7">
            <a:extLst>
              <a:ext uri="{FF2B5EF4-FFF2-40B4-BE49-F238E27FC236}">
                <a16:creationId xmlns:a16="http://schemas.microsoft.com/office/drawing/2014/main" id="{B4FF56F9-9FC8-41C2-3918-5CD4594477A5}"/>
              </a:ext>
            </a:extLst>
          </p:cNvPr>
          <p:cNvCxnSpPr>
            <a:cxnSpLocks/>
          </p:cNvCxnSpPr>
          <p:nvPr userDrawn="1"/>
        </p:nvCxnSpPr>
        <p:spPr>
          <a:xfrm>
            <a:off x="838200" y="1138518"/>
            <a:ext cx="10515600" cy="0"/>
          </a:xfrm>
          <a:prstGeom prst="line">
            <a:avLst/>
          </a:prstGeom>
          <a:ln w="9525"/>
        </p:spPr>
        <p:style>
          <a:lnRef idx="2">
            <a:schemeClr val="dk1"/>
          </a:lnRef>
          <a:fillRef idx="0">
            <a:schemeClr val="dk1"/>
          </a:fillRef>
          <a:effectRef idx="1">
            <a:schemeClr val="dk1"/>
          </a:effectRef>
          <a:fontRef idx="minor">
            <a:schemeClr val="tx1"/>
          </a:fontRef>
        </p:style>
      </p:cxnSp>
      <p:cxnSp>
        <p:nvCxnSpPr>
          <p:cNvPr id="7" name="Straight Connector 6">
            <a:extLst>
              <a:ext uri="{FF2B5EF4-FFF2-40B4-BE49-F238E27FC236}">
                <a16:creationId xmlns:a16="http://schemas.microsoft.com/office/drawing/2014/main" id="{D182231A-C1AC-D483-9E26-64736543C75B}"/>
              </a:ext>
            </a:extLst>
          </p:cNvPr>
          <p:cNvCxnSpPr>
            <a:cxnSpLocks/>
          </p:cNvCxnSpPr>
          <p:nvPr userDrawn="1"/>
        </p:nvCxnSpPr>
        <p:spPr>
          <a:xfrm>
            <a:off x="838200" y="6356350"/>
            <a:ext cx="10515600" cy="0"/>
          </a:xfrm>
          <a:prstGeom prst="line">
            <a:avLst/>
          </a:prstGeom>
          <a:ln w="9525"/>
        </p:spPr>
        <p:style>
          <a:lnRef idx="2">
            <a:schemeClr val="dk1"/>
          </a:lnRef>
          <a:fillRef idx="0">
            <a:schemeClr val="dk1"/>
          </a:fillRef>
          <a:effectRef idx="1">
            <a:schemeClr val="dk1"/>
          </a:effectRef>
          <a:fontRef idx="minor">
            <a:schemeClr val="tx1"/>
          </a:fontRef>
        </p:style>
      </p:cxnSp>
      <p:sp>
        <p:nvSpPr>
          <p:cNvPr id="5" name="Title Placeholder 4">
            <a:extLst>
              <a:ext uri="{FF2B5EF4-FFF2-40B4-BE49-F238E27FC236}">
                <a16:creationId xmlns:a16="http://schemas.microsoft.com/office/drawing/2014/main" id="{F380AB9B-8635-86E5-078D-D7756D772E39}"/>
              </a:ext>
            </a:extLst>
          </p:cNvPr>
          <p:cNvSpPr>
            <a:spLocks noGrp="1"/>
          </p:cNvSpPr>
          <p:nvPr>
            <p:ph type="title"/>
          </p:nvPr>
        </p:nvSpPr>
        <p:spPr>
          <a:xfrm>
            <a:off x="838200" y="365126"/>
            <a:ext cx="10515600" cy="773392"/>
          </a:xfrm>
          <a:prstGeom prst="rect">
            <a:avLst/>
          </a:prstGeom>
        </p:spPr>
        <p:txBody>
          <a:bodyPr vert="horz" lIns="91440" tIns="45720" rIns="91440" bIns="45720" rtlCol="0" anchor="ctr">
            <a:normAutofit/>
          </a:bodyPr>
          <a:lstStyle/>
          <a:p>
            <a:r>
              <a:rPr lang="en-US"/>
              <a:t>Click to edit Master title style</a:t>
            </a:r>
          </a:p>
        </p:txBody>
      </p:sp>
    </p:spTree>
    <p:extLst>
      <p:ext uri="{BB962C8B-B14F-4D97-AF65-F5344CB8AC3E}">
        <p14:creationId xmlns:p14="http://schemas.microsoft.com/office/powerpoint/2010/main" val="37495424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4" r:id="rId4"/>
    <p:sldLayoutId id="2147483655" r:id="rId5"/>
  </p:sldLayoutIdLst>
  <p:hf hdr="0" ftr="0" dt="0"/>
  <p:txStyles>
    <p:titleStyle>
      <a:lvl1pPr algn="l" defTabSz="914400" rtl="0" eaLnBrk="1" latinLnBrk="0" hangingPunct="1">
        <a:lnSpc>
          <a:spcPct val="114000"/>
        </a:lnSpc>
        <a:spcBef>
          <a:spcPts val="200"/>
        </a:spcBef>
        <a:buNone/>
        <a:defRPr sz="2800" kern="1200">
          <a:solidFill>
            <a:schemeClr val="tx1"/>
          </a:solidFill>
          <a:latin typeface="+mj-lt"/>
          <a:ea typeface="+mj-ea"/>
          <a:cs typeface="+mj-cs"/>
        </a:defRPr>
      </a:lvl1pPr>
    </p:titleStyle>
    <p:bodyStyle>
      <a:lvl1pPr marL="0" indent="0" algn="l" defTabSz="914400" rtl="0" eaLnBrk="1" latinLnBrk="0" hangingPunct="1">
        <a:lnSpc>
          <a:spcPct val="114000"/>
        </a:lnSpc>
        <a:spcBef>
          <a:spcPts val="300"/>
        </a:spcBef>
        <a:buClr>
          <a:schemeClr val="bg1"/>
        </a:buClr>
        <a:buSzPct val="25000"/>
        <a:buFontTx/>
        <a:buNone/>
        <a:defRPr sz="1800" kern="1200">
          <a:solidFill>
            <a:srgbClr val="C00000"/>
          </a:solidFill>
          <a:latin typeface="+mn-lt"/>
          <a:ea typeface="+mn-ea"/>
          <a:cs typeface="+mn-cs"/>
        </a:defRPr>
      </a:lvl1pPr>
      <a:lvl2pPr marL="0" indent="0" algn="l" defTabSz="914400" rtl="0" eaLnBrk="1" latinLnBrk="0" hangingPunct="1">
        <a:lnSpc>
          <a:spcPct val="114000"/>
        </a:lnSpc>
        <a:spcBef>
          <a:spcPts val="300"/>
        </a:spcBef>
        <a:buClr>
          <a:schemeClr val="bg1"/>
        </a:buClr>
        <a:buSzPct val="25000"/>
        <a:buFontTx/>
        <a:buNone/>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114000"/>
        </a:lnSpc>
        <a:spcBef>
          <a:spcPts val="300"/>
        </a:spcBef>
        <a:buClr>
          <a:schemeClr val="bg1"/>
        </a:buClr>
        <a:buSzPct val="25000"/>
        <a:buFontTx/>
        <a:buNone/>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114000"/>
        </a:lnSpc>
        <a:spcBef>
          <a:spcPts val="300"/>
        </a:spcBef>
        <a:buClr>
          <a:schemeClr val="bg1"/>
        </a:buClr>
        <a:buSzPct val="25000"/>
        <a:buFontTx/>
        <a:buNone/>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114000"/>
        </a:lnSpc>
        <a:spcBef>
          <a:spcPts val="300"/>
        </a:spcBef>
        <a:buClr>
          <a:schemeClr val="bg1"/>
        </a:buClr>
        <a:buSzPct val="25000"/>
        <a:buFontTx/>
        <a:buNone/>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3.xml"/><Relationship Id="rId4" Type="http://schemas.openxmlformats.org/officeDocument/2006/relationships/chart" Target="../charts/char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6387C4A-5806-6E69-973A-1FFEC5983594}"/>
              </a:ext>
            </a:extLst>
          </p:cNvPr>
          <p:cNvSpPr>
            <a:spLocks noGrp="1"/>
          </p:cNvSpPr>
          <p:nvPr>
            <p:ph type="title"/>
          </p:nvPr>
        </p:nvSpPr>
        <p:spPr/>
        <p:txBody>
          <a:bodyPr>
            <a:normAutofit/>
          </a:bodyPr>
          <a:lstStyle/>
          <a:p>
            <a:pPr>
              <a:lnSpc>
                <a:spcPct val="114000"/>
              </a:lnSpc>
            </a:pPr>
            <a:r>
              <a:rPr lang="en-US" dirty="0"/>
              <a:t>Executive Summary</a:t>
            </a:r>
            <a:br>
              <a:rPr lang="en-US" dirty="0"/>
            </a:br>
            <a:r>
              <a:rPr lang="en-US" sz="1400" dirty="0">
                <a:latin typeface="Segoe UI Variable Small Semilig" pitchFamily="2" charset="0"/>
              </a:rPr>
              <a:t>Key findings from comprehensive customer research</a:t>
            </a:r>
          </a:p>
        </p:txBody>
      </p:sp>
      <p:sp>
        <p:nvSpPr>
          <p:cNvPr id="2" name="Slide Number Placeholder 1">
            <a:extLst>
              <a:ext uri="{FF2B5EF4-FFF2-40B4-BE49-F238E27FC236}">
                <a16:creationId xmlns:a16="http://schemas.microsoft.com/office/drawing/2014/main" id="{0F899915-EF7D-0D82-026C-47C42E96DBEE}"/>
              </a:ext>
            </a:extLst>
          </p:cNvPr>
          <p:cNvSpPr>
            <a:spLocks noGrp="1"/>
          </p:cNvSpPr>
          <p:nvPr>
            <p:ph type="sldNum" sz="quarter" idx="12"/>
          </p:nvPr>
        </p:nvSpPr>
        <p:spPr/>
        <p:txBody>
          <a:bodyPr/>
          <a:lstStyle/>
          <a:p>
            <a:fld id="{2D2776A3-3430-4A99-9DCB-D67D51D6910E}" type="slidenum">
              <a:rPr lang="en-US" smtClean="0"/>
              <a:t>1</a:t>
            </a:fld>
            <a:endParaRPr lang="en-US"/>
          </a:p>
        </p:txBody>
      </p:sp>
      <p:sp>
        <p:nvSpPr>
          <p:cNvPr id="3" name="Content Placeholder 2">
            <a:extLst>
              <a:ext uri="{FF2B5EF4-FFF2-40B4-BE49-F238E27FC236}">
                <a16:creationId xmlns:a16="http://schemas.microsoft.com/office/drawing/2014/main" id="{5C1ADC19-8B94-5218-42DF-A1E3A6CCA958}"/>
              </a:ext>
            </a:extLst>
          </p:cNvPr>
          <p:cNvSpPr>
            <a:spLocks noGrp="1"/>
          </p:cNvSpPr>
          <p:nvPr>
            <p:ph sz="half" idx="13"/>
          </p:nvPr>
        </p:nvSpPr>
        <p:spPr>
          <a:xfrm>
            <a:off x="838200" y="1330644"/>
            <a:ext cx="5002731" cy="4846319"/>
          </a:xfrm>
        </p:spPr>
        <p:txBody>
          <a:bodyPr/>
          <a:lstStyle/>
          <a:p>
            <a:r>
              <a:rPr lang="en-US" dirty="0"/>
              <a:t>Industry Context </a:t>
            </a:r>
          </a:p>
          <a:p>
            <a:pPr marL="285750" indent="-285750">
              <a:buClr>
                <a:schemeClr val="tx1"/>
              </a:buClr>
              <a:buSzPct val="100000"/>
              <a:buFont typeface="Arial" panose="020B0604020202020204" pitchFamily="34" charset="0"/>
              <a:buChar char="•"/>
            </a:pPr>
            <a:r>
              <a:rPr lang="en-US" dirty="0"/>
              <a:t> About the industry  (growth, forecast, potential,…)</a:t>
            </a:r>
          </a:p>
          <a:p>
            <a:pPr marL="285750" indent="-285750">
              <a:buClr>
                <a:schemeClr val="tx1"/>
              </a:buClr>
              <a:buSzPct val="100000"/>
              <a:buFont typeface="Arial" panose="020B0604020202020204" pitchFamily="34" charset="0"/>
              <a:buChar char="•"/>
            </a:pPr>
            <a:r>
              <a:rPr lang="en-US" dirty="0"/>
              <a:t>Focus on major competitor (store growth, market share, brand value proposition</a:t>
            </a:r>
          </a:p>
          <a:p>
            <a:r>
              <a:rPr lang="en-US" dirty="0"/>
              <a:t>Survey Context</a:t>
            </a:r>
          </a:p>
          <a:p>
            <a:pPr marL="285750" indent="-285750">
              <a:buClrTx/>
              <a:buSzPct val="100000"/>
              <a:buFont typeface="Arial" panose="020B0604020202020204" pitchFamily="34" charset="0"/>
              <a:buChar char="•"/>
            </a:pPr>
            <a:r>
              <a:rPr lang="en-US" dirty="0"/>
              <a:t>Composition of respondents</a:t>
            </a:r>
          </a:p>
          <a:p>
            <a:pPr marL="285750" indent="-285750">
              <a:buClrTx/>
              <a:buSzPct val="100000"/>
              <a:buFont typeface="Arial" panose="020B0604020202020204" pitchFamily="34" charset="0"/>
              <a:buChar char="•"/>
            </a:pPr>
            <a:r>
              <a:rPr lang="en-US" dirty="0"/>
              <a:t>Consider segment the respondent based on major factors. Describe the persona of each segment. </a:t>
            </a:r>
          </a:p>
          <a:p>
            <a:pPr marL="285750" indent="-285750">
              <a:buClrTx/>
              <a:buSzPct val="100000"/>
              <a:buFont typeface="Arial" panose="020B0604020202020204" pitchFamily="34" charset="0"/>
              <a:buChar char="•"/>
            </a:pPr>
            <a:r>
              <a:rPr lang="en-US" dirty="0"/>
              <a:t>Divide the analysis into 2 parallel directions:</a:t>
            </a:r>
          </a:p>
          <a:p>
            <a:pPr marL="455612" lvl="3" indent="-285750">
              <a:buClrTx/>
              <a:buSzPct val="100000"/>
              <a:buFont typeface="Arial" panose="020B0604020202020204" pitchFamily="34" charset="0"/>
              <a:buChar char="•"/>
            </a:pPr>
            <a:r>
              <a:rPr lang="en-US" dirty="0"/>
              <a:t>Analyze difference between city</a:t>
            </a:r>
          </a:p>
          <a:p>
            <a:pPr marL="455612" lvl="3" indent="-285750">
              <a:buClrTx/>
              <a:buSzPct val="100000"/>
              <a:buFont typeface="Arial" panose="020B0604020202020204" pitchFamily="34" charset="0"/>
              <a:buChar char="•"/>
            </a:pPr>
            <a:r>
              <a:rPr lang="en-US" dirty="0"/>
              <a:t>Analyze difference between segment</a:t>
            </a:r>
          </a:p>
          <a:p>
            <a:pPr marL="285750" indent="-285750">
              <a:buClrTx/>
              <a:buSzPct val="100000"/>
              <a:buFont typeface="Arial" panose="020B0604020202020204" pitchFamily="34" charset="0"/>
              <a:buChar char="•"/>
            </a:pPr>
            <a:r>
              <a:rPr lang="en-US" dirty="0"/>
              <a:t>Purchasing frequency and average spending (</a:t>
            </a:r>
            <a:r>
              <a:rPr lang="en-US" dirty="0" err="1"/>
              <a:t>ppa</a:t>
            </a:r>
            <a:r>
              <a:rPr lang="en-US" dirty="0"/>
              <a:t>)</a:t>
            </a:r>
          </a:p>
          <a:p>
            <a:pPr marL="285750" indent="-285750">
              <a:buClrTx/>
              <a:buSzPct val="100000"/>
              <a:buFont typeface="Arial" panose="020B0604020202020204" pitchFamily="34" charset="0"/>
              <a:buChar char="•"/>
            </a:pPr>
            <a:r>
              <a:rPr lang="en-US" dirty="0"/>
              <a:t>Peak hours and peak days of week, average spending and visit and need state on these day time</a:t>
            </a:r>
          </a:p>
          <a:p>
            <a:pPr marL="285750" indent="-285750">
              <a:buClrTx/>
              <a:buSzPct val="100000"/>
              <a:buFont typeface="Arial" panose="020B0604020202020204" pitchFamily="34" charset="0"/>
              <a:buChar char="•"/>
            </a:pPr>
            <a:r>
              <a:rPr lang="en-US" dirty="0"/>
              <a:t>Perception of each city, age, occupation about brand attribute</a:t>
            </a:r>
          </a:p>
          <a:p>
            <a:pPr marL="455612" lvl="3" indent="-285750">
              <a:buClrTx/>
              <a:buSzPct val="100000"/>
              <a:buFont typeface="Arial" panose="020B0604020202020204" pitchFamily="34" charset="0"/>
              <a:buChar char="•"/>
            </a:pPr>
            <a:r>
              <a:rPr lang="en-US" dirty="0"/>
              <a:t>Show bar chart by attribute group</a:t>
            </a:r>
          </a:p>
          <a:p>
            <a:pPr marL="455612" lvl="3" indent="-285750">
              <a:buClrTx/>
              <a:buSzPct val="100000"/>
              <a:buFont typeface="Arial" panose="020B0604020202020204" pitchFamily="34" charset="0"/>
              <a:buChar char="•"/>
            </a:pPr>
            <a:r>
              <a:rPr lang="en-US" dirty="0"/>
              <a:t>Bar chart for average ranking of each attribute group to reflect the different in perception of each group</a:t>
            </a:r>
          </a:p>
          <a:p>
            <a:pPr marL="455612" lvl="3" indent="-285750">
              <a:buClrTx/>
              <a:buSzPct val="100000"/>
              <a:buFont typeface="Arial" panose="020B0604020202020204" pitchFamily="34" charset="0"/>
              <a:buChar char="•"/>
            </a:pPr>
            <a:endParaRPr lang="en-US" dirty="0"/>
          </a:p>
          <a:p>
            <a:pPr marL="285750" indent="-285750">
              <a:buClrTx/>
              <a:buSzPct val="100000"/>
              <a:buFont typeface="Arial" panose="020B0604020202020204" pitchFamily="34" charset="0"/>
              <a:buChar char="•"/>
            </a:pPr>
            <a:endParaRPr lang="en-US" dirty="0"/>
          </a:p>
          <a:p>
            <a:endParaRPr lang="en-US" dirty="0"/>
          </a:p>
        </p:txBody>
      </p:sp>
      <p:sp>
        <p:nvSpPr>
          <p:cNvPr id="8" name="Content Placeholder 7">
            <a:extLst>
              <a:ext uri="{FF2B5EF4-FFF2-40B4-BE49-F238E27FC236}">
                <a16:creationId xmlns:a16="http://schemas.microsoft.com/office/drawing/2014/main" id="{57848EDB-C09D-9DCF-170C-E1DA640A2F86}"/>
              </a:ext>
            </a:extLst>
          </p:cNvPr>
          <p:cNvSpPr>
            <a:spLocks noGrp="1"/>
          </p:cNvSpPr>
          <p:nvPr>
            <p:ph sz="half" idx="15"/>
          </p:nvPr>
        </p:nvSpPr>
        <p:spPr/>
        <p:txBody>
          <a:bodyPr/>
          <a:lstStyle/>
          <a:p>
            <a:endParaRPr lang="en-US"/>
          </a:p>
        </p:txBody>
      </p:sp>
      <p:sp>
        <p:nvSpPr>
          <p:cNvPr id="6" name="Content Placeholder 5">
            <a:extLst>
              <a:ext uri="{FF2B5EF4-FFF2-40B4-BE49-F238E27FC236}">
                <a16:creationId xmlns:a16="http://schemas.microsoft.com/office/drawing/2014/main" id="{B230FA77-4167-13BE-E193-7DD3382ED56F}"/>
              </a:ext>
            </a:extLst>
          </p:cNvPr>
          <p:cNvSpPr>
            <a:spLocks noGrp="1"/>
          </p:cNvSpPr>
          <p:nvPr>
            <p:ph sz="half" idx="14"/>
          </p:nvPr>
        </p:nvSpPr>
        <p:spPr/>
        <p:txBody>
          <a:bodyPr/>
          <a:lstStyle/>
          <a:p>
            <a:endParaRPr lang="en-US"/>
          </a:p>
        </p:txBody>
      </p:sp>
    </p:spTree>
    <p:extLst>
      <p:ext uri="{BB962C8B-B14F-4D97-AF65-F5344CB8AC3E}">
        <p14:creationId xmlns:p14="http://schemas.microsoft.com/office/powerpoint/2010/main" val="16100838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669F8B7-6ABE-48AE-C296-A7882BC0AD19}"/>
              </a:ext>
            </a:extLst>
          </p:cNvPr>
          <p:cNvSpPr>
            <a:spLocks noGrp="1"/>
          </p:cNvSpPr>
          <p:nvPr>
            <p:ph type="title"/>
          </p:nvPr>
        </p:nvSpPr>
        <p:spPr/>
        <p:txBody>
          <a:bodyPr/>
          <a:lstStyle/>
          <a:p>
            <a:r>
              <a:rPr kumimoji="0" lang="en-US" sz="2800" b="0" i="0" u="none" strike="noStrike" kern="1200" cap="none" spc="0" normalizeH="0" baseline="0" noProof="0" dirty="0">
                <a:ln>
                  <a:noFill/>
                </a:ln>
                <a:solidFill>
                  <a:prstClr val="black"/>
                </a:solidFill>
                <a:effectLst/>
                <a:uLnTx/>
                <a:uFillTx/>
                <a:latin typeface="Segoe UI Semibold"/>
                <a:ea typeface="+mj-ea"/>
                <a:cs typeface="+mj-cs"/>
              </a:rPr>
              <a:t>Executive Summary</a:t>
            </a:r>
            <a:br>
              <a:rPr kumimoji="0" lang="en-US" sz="2800" b="0" i="0" u="none" strike="noStrike" kern="1200" cap="none" spc="0" normalizeH="0" baseline="0" noProof="0" dirty="0">
                <a:ln>
                  <a:noFill/>
                </a:ln>
                <a:solidFill>
                  <a:prstClr val="black"/>
                </a:solidFill>
                <a:effectLst/>
                <a:uLnTx/>
                <a:uFillTx/>
                <a:latin typeface="Segoe UI Semibold"/>
                <a:ea typeface="+mj-ea"/>
                <a:cs typeface="+mj-cs"/>
              </a:rPr>
            </a:br>
            <a:r>
              <a:rPr kumimoji="0" lang="en-US" sz="1300" b="0" i="0" u="none" strike="noStrike" kern="1200" cap="none" spc="0" normalizeH="0" baseline="0" noProof="0" dirty="0">
                <a:ln>
                  <a:noFill/>
                </a:ln>
                <a:solidFill>
                  <a:schemeClr val="tx1">
                    <a:lumMod val="75000"/>
                    <a:lumOff val="25000"/>
                  </a:schemeClr>
                </a:solidFill>
                <a:effectLst/>
                <a:uLnTx/>
                <a:uFillTx/>
                <a:latin typeface="Segoe UI Variable Small Semilig" pitchFamily="2" charset="0"/>
                <a:ea typeface="+mj-ea"/>
                <a:cs typeface="+mj-cs"/>
              </a:rPr>
              <a:t>Key findings from comprehensive customer research</a:t>
            </a:r>
            <a:endParaRPr lang="en-US" sz="1300" dirty="0">
              <a:solidFill>
                <a:schemeClr val="tx1">
                  <a:lumMod val="75000"/>
                  <a:lumOff val="25000"/>
                </a:schemeClr>
              </a:solidFill>
            </a:endParaRPr>
          </a:p>
        </p:txBody>
      </p:sp>
      <p:sp>
        <p:nvSpPr>
          <p:cNvPr id="5" name="Content Placeholder 4">
            <a:extLst>
              <a:ext uri="{FF2B5EF4-FFF2-40B4-BE49-F238E27FC236}">
                <a16:creationId xmlns:a16="http://schemas.microsoft.com/office/drawing/2014/main" id="{A0978294-AFAF-13C3-9508-D6B6D4B5B807}"/>
              </a:ext>
            </a:extLst>
          </p:cNvPr>
          <p:cNvSpPr>
            <a:spLocks noGrp="1"/>
          </p:cNvSpPr>
          <p:nvPr>
            <p:ph sz="half" idx="1"/>
          </p:nvPr>
        </p:nvSpPr>
        <p:spPr/>
        <p:txBody>
          <a:bodyPr>
            <a:normAutofit lnSpcReduction="10000"/>
          </a:bodyPr>
          <a:lstStyle/>
          <a:p>
            <a:r>
              <a:rPr lang="en-US" dirty="0"/>
              <a:t>Market Context</a:t>
            </a:r>
          </a:p>
          <a:p>
            <a:endParaRPr lang="en-US" dirty="0"/>
          </a:p>
        </p:txBody>
      </p:sp>
      <p:sp>
        <p:nvSpPr>
          <p:cNvPr id="3" name="Slide Number Placeholder 2">
            <a:extLst>
              <a:ext uri="{FF2B5EF4-FFF2-40B4-BE49-F238E27FC236}">
                <a16:creationId xmlns:a16="http://schemas.microsoft.com/office/drawing/2014/main" id="{C42AF4F0-F26E-B7F9-B3B2-D8914AE217C3}"/>
              </a:ext>
            </a:extLst>
          </p:cNvPr>
          <p:cNvSpPr>
            <a:spLocks noGrp="1"/>
          </p:cNvSpPr>
          <p:nvPr>
            <p:ph type="sldNum" sz="quarter" idx="12"/>
          </p:nvPr>
        </p:nvSpPr>
        <p:spPr/>
        <p:txBody>
          <a:bodyPr/>
          <a:lstStyle/>
          <a:p>
            <a:fld id="{2D2776A3-3430-4A99-9DCB-D67D51D6910E}" type="slidenum">
              <a:rPr lang="en-US" smtClean="0"/>
              <a:t>2</a:t>
            </a:fld>
            <a:endParaRPr lang="en-US" dirty="0"/>
          </a:p>
        </p:txBody>
      </p:sp>
      <p:sp>
        <p:nvSpPr>
          <p:cNvPr id="6" name="Content Placeholder 5">
            <a:extLst>
              <a:ext uri="{FF2B5EF4-FFF2-40B4-BE49-F238E27FC236}">
                <a16:creationId xmlns:a16="http://schemas.microsoft.com/office/drawing/2014/main" id="{8910605B-3454-0211-A0EF-29172A7D4FDA}"/>
              </a:ext>
            </a:extLst>
          </p:cNvPr>
          <p:cNvSpPr>
            <a:spLocks noGrp="1"/>
          </p:cNvSpPr>
          <p:nvPr>
            <p:ph sz="half" idx="13"/>
          </p:nvPr>
        </p:nvSpPr>
        <p:spPr>
          <a:xfrm>
            <a:off x="838200" y="1723871"/>
            <a:ext cx="5002731" cy="1798722"/>
          </a:xfrm>
        </p:spPr>
        <p:txBody>
          <a:bodyPr/>
          <a:lstStyle/>
          <a:p>
            <a:pPr algn="just">
              <a:spcBef>
                <a:spcPts val="500"/>
              </a:spcBef>
            </a:pPr>
            <a:r>
              <a:rPr lang="en-US" dirty="0"/>
              <a:t>Vietnam’s refreshment beverage market has been undergoing rapid growth and significant transformation in recent years, driven by a growing economy and the disposable income of youthful customers. The demand is evolving into a diverse and dynamic sector driven by rising health awareness and shifting consumer lifestyles. The beverage market is projected to grow to $5.8B by 2026 from $5.2B in 2024, with a CAGR of 5.8%. </a:t>
            </a:r>
          </a:p>
          <a:p>
            <a:pPr algn="just">
              <a:spcBef>
                <a:spcPts val="500"/>
              </a:spcBef>
            </a:pPr>
            <a:endParaRPr lang="en-US" dirty="0"/>
          </a:p>
        </p:txBody>
      </p:sp>
      <p:sp>
        <p:nvSpPr>
          <p:cNvPr id="11" name="Content Placeholder 10">
            <a:extLst>
              <a:ext uri="{FF2B5EF4-FFF2-40B4-BE49-F238E27FC236}">
                <a16:creationId xmlns:a16="http://schemas.microsoft.com/office/drawing/2014/main" id="{9B062439-3ECF-39DB-A594-F298F64882B0}"/>
              </a:ext>
            </a:extLst>
          </p:cNvPr>
          <p:cNvSpPr>
            <a:spLocks noGrp="1"/>
          </p:cNvSpPr>
          <p:nvPr>
            <p:ph sz="half" idx="14"/>
          </p:nvPr>
        </p:nvSpPr>
        <p:spPr>
          <a:xfrm>
            <a:off x="6351068" y="1723870"/>
            <a:ext cx="5002731" cy="4453093"/>
          </a:xfrm>
        </p:spPr>
        <p:txBody>
          <a:bodyPr/>
          <a:lstStyle/>
          <a:p>
            <a:endParaRPr lang="en-US" dirty="0"/>
          </a:p>
        </p:txBody>
      </p:sp>
      <p:sp>
        <p:nvSpPr>
          <p:cNvPr id="12" name="Content Placeholder 11">
            <a:extLst>
              <a:ext uri="{FF2B5EF4-FFF2-40B4-BE49-F238E27FC236}">
                <a16:creationId xmlns:a16="http://schemas.microsoft.com/office/drawing/2014/main" id="{61F1CEF7-5E1B-50AB-6290-330A689E7EBB}"/>
              </a:ext>
            </a:extLst>
          </p:cNvPr>
          <p:cNvSpPr>
            <a:spLocks noGrp="1"/>
          </p:cNvSpPr>
          <p:nvPr>
            <p:ph sz="half" idx="15"/>
          </p:nvPr>
        </p:nvSpPr>
        <p:spPr/>
        <p:txBody>
          <a:bodyPr/>
          <a:lstStyle/>
          <a:p>
            <a:endParaRPr lang="en-US" dirty="0"/>
          </a:p>
        </p:txBody>
      </p:sp>
      <p:sp>
        <p:nvSpPr>
          <p:cNvPr id="15" name="Content Placeholder 4">
            <a:extLst>
              <a:ext uri="{FF2B5EF4-FFF2-40B4-BE49-F238E27FC236}">
                <a16:creationId xmlns:a16="http://schemas.microsoft.com/office/drawing/2014/main" id="{04BEF6AE-F2A7-92DD-F03A-C2449E3D51F8}"/>
              </a:ext>
            </a:extLst>
          </p:cNvPr>
          <p:cNvSpPr txBox="1">
            <a:spLocks/>
          </p:cNvSpPr>
          <p:nvPr/>
        </p:nvSpPr>
        <p:spPr>
          <a:xfrm>
            <a:off x="6172200" y="1714500"/>
            <a:ext cx="5181600" cy="1798721"/>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Clr>
                <a:schemeClr val="bg1"/>
              </a:buClr>
              <a:buSzPct val="100000"/>
              <a:buFontTx/>
              <a:buChar char="‬"/>
              <a:defRPr sz="2000" kern="1200">
                <a:solidFill>
                  <a:srgbClr val="C00000"/>
                </a:solidFill>
                <a:latin typeface="+mn-lt"/>
                <a:ea typeface="+mn-ea"/>
                <a:cs typeface="+mn-cs"/>
              </a:defRPr>
            </a:lvl1pPr>
            <a:lvl2pPr marL="119063" indent="-119063" algn="l" defTabSz="914400" rtl="0" eaLnBrk="1" latinLnBrk="0" hangingPunct="1">
              <a:lnSpc>
                <a:spcPct val="90000"/>
              </a:lnSpc>
              <a:spcBef>
                <a:spcPts val="500"/>
              </a:spcBef>
              <a:buClr>
                <a:schemeClr val="bg1"/>
              </a:buClr>
              <a:buSzPct val="100000"/>
              <a:buFontTx/>
              <a:buChar char="‬"/>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90000"/>
              </a:lnSpc>
              <a:spcBef>
                <a:spcPts val="500"/>
              </a:spcBef>
              <a:buClr>
                <a:schemeClr val="bg1"/>
              </a:buClr>
              <a:buSzPct val="100000"/>
              <a:buFontTx/>
              <a:buChar char="‬"/>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90000"/>
              </a:lnSpc>
              <a:spcBef>
                <a:spcPts val="500"/>
              </a:spcBef>
              <a:buClr>
                <a:schemeClr val="bg1"/>
              </a:buClr>
              <a:buSzPct val="100000"/>
              <a:buFontTx/>
              <a:buChar char="‬"/>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90000"/>
              </a:lnSpc>
              <a:spcBef>
                <a:spcPts val="500"/>
              </a:spcBef>
              <a:buClr>
                <a:schemeClr val="bg1"/>
              </a:buClr>
              <a:buSzPct val="100000"/>
              <a:buFontTx/>
              <a:buChar char="‬"/>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lnSpc>
                <a:spcPct val="114000"/>
              </a:lnSpc>
              <a:buNone/>
            </a:pPr>
            <a:endParaRPr lang="en-US" sz="1400" dirty="0">
              <a:solidFill>
                <a:schemeClr val="tx1">
                  <a:lumMod val="75000"/>
                  <a:lumOff val="25000"/>
                </a:schemeClr>
              </a:solidFill>
              <a:latin typeface="Segoe UI Variable Display" pitchFamily="2" charset="0"/>
            </a:endParaRPr>
          </a:p>
          <a:p>
            <a:pPr>
              <a:lnSpc>
                <a:spcPct val="114000"/>
              </a:lnSpc>
              <a:buFontTx/>
              <a:buNone/>
            </a:pPr>
            <a:endParaRPr lang="en-US" sz="1400" dirty="0">
              <a:solidFill>
                <a:schemeClr val="tx1">
                  <a:lumMod val="75000"/>
                  <a:lumOff val="25000"/>
                </a:schemeClr>
              </a:solidFill>
              <a:latin typeface="Segoe UI Variable Display" pitchFamily="2" charset="0"/>
            </a:endParaRPr>
          </a:p>
        </p:txBody>
      </p:sp>
      <p:sp>
        <p:nvSpPr>
          <p:cNvPr id="13" name="Content Placeholder 4">
            <a:extLst>
              <a:ext uri="{FF2B5EF4-FFF2-40B4-BE49-F238E27FC236}">
                <a16:creationId xmlns:a16="http://schemas.microsoft.com/office/drawing/2014/main" id="{B4E38C58-194B-B93E-8491-D065F3E65C34}"/>
              </a:ext>
            </a:extLst>
          </p:cNvPr>
          <p:cNvSpPr txBox="1">
            <a:spLocks/>
          </p:cNvSpPr>
          <p:nvPr/>
        </p:nvSpPr>
        <p:spPr>
          <a:xfrm>
            <a:off x="838201" y="3714719"/>
            <a:ext cx="5002731" cy="393226"/>
          </a:xfrm>
          <a:prstGeom prst="rect">
            <a:avLst/>
          </a:prstGeom>
        </p:spPr>
        <p:txBody>
          <a:bodyPr vert="horz" lIns="91440" tIns="45720" rIns="91440" bIns="45720" rtlCol="0">
            <a:normAutofit lnSpcReduction="10000"/>
          </a:bodyPr>
          <a:lstStyle>
            <a:lvl1pPr marL="0" indent="0" algn="l" defTabSz="914400" rtl="0" eaLnBrk="1" latinLnBrk="0" hangingPunct="1">
              <a:lnSpc>
                <a:spcPct val="114000"/>
              </a:lnSpc>
              <a:spcBef>
                <a:spcPts val="300"/>
              </a:spcBef>
              <a:buClr>
                <a:schemeClr val="bg1"/>
              </a:buClr>
              <a:buSzPct val="25000"/>
              <a:buFontTx/>
              <a:buNone/>
              <a:defRPr sz="1800" kern="1200">
                <a:solidFill>
                  <a:srgbClr val="C00000"/>
                </a:solidFill>
                <a:latin typeface="+mn-lt"/>
                <a:ea typeface="+mn-ea"/>
                <a:cs typeface="+mn-cs"/>
              </a:defRPr>
            </a:lvl1pPr>
            <a:lvl2pPr marL="0" indent="0" algn="l" defTabSz="914400" rtl="0" eaLnBrk="1" latinLnBrk="0" hangingPunct="1">
              <a:lnSpc>
                <a:spcPct val="114000"/>
              </a:lnSpc>
              <a:spcBef>
                <a:spcPts val="300"/>
              </a:spcBef>
              <a:buClr>
                <a:schemeClr val="bg1"/>
              </a:buClr>
              <a:buSzPct val="25000"/>
              <a:buFontTx/>
              <a:buNone/>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114000"/>
              </a:lnSpc>
              <a:spcBef>
                <a:spcPts val="300"/>
              </a:spcBef>
              <a:buClr>
                <a:schemeClr val="bg1"/>
              </a:buClr>
              <a:buSzPct val="25000"/>
              <a:buFontTx/>
              <a:buNone/>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114000"/>
              </a:lnSpc>
              <a:spcBef>
                <a:spcPts val="300"/>
              </a:spcBef>
              <a:buClr>
                <a:schemeClr val="bg1"/>
              </a:buClr>
              <a:buSzPct val="25000"/>
              <a:buFontTx/>
              <a:buNone/>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114000"/>
              </a:lnSpc>
              <a:spcBef>
                <a:spcPts val="300"/>
              </a:spcBef>
              <a:buClr>
                <a:schemeClr val="bg1"/>
              </a:buClr>
              <a:buSzPct val="25000"/>
              <a:buFontTx/>
              <a:buNone/>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Report </a:t>
            </a:r>
          </a:p>
          <a:p>
            <a:endParaRPr lang="en-US" dirty="0"/>
          </a:p>
        </p:txBody>
      </p:sp>
      <p:sp>
        <p:nvSpPr>
          <p:cNvPr id="14" name="Content Placeholder 5">
            <a:extLst>
              <a:ext uri="{FF2B5EF4-FFF2-40B4-BE49-F238E27FC236}">
                <a16:creationId xmlns:a16="http://schemas.microsoft.com/office/drawing/2014/main" id="{DAB4D402-C644-71A3-C618-C009ACEC5FD4}"/>
              </a:ext>
            </a:extLst>
          </p:cNvPr>
          <p:cNvSpPr txBox="1">
            <a:spLocks/>
          </p:cNvSpPr>
          <p:nvPr/>
        </p:nvSpPr>
        <p:spPr>
          <a:xfrm>
            <a:off x="838200" y="4107946"/>
            <a:ext cx="5002731" cy="1798722"/>
          </a:xfrm>
          <a:prstGeom prst="rect">
            <a:avLst/>
          </a:prstGeom>
        </p:spPr>
        <p:txBody>
          <a:bodyPr vert="horz" lIns="91440" tIns="45720" rIns="91440" bIns="45720" rtlCol="0">
            <a:normAutofit/>
          </a:bodyPr>
          <a:lstStyle>
            <a:lvl1pPr marL="0" indent="0" algn="l" defTabSz="914400" rtl="0" eaLnBrk="1" latinLnBrk="0" hangingPunct="1">
              <a:lnSpc>
                <a:spcPct val="114000"/>
              </a:lnSpc>
              <a:spcBef>
                <a:spcPts val="300"/>
              </a:spcBef>
              <a:buClr>
                <a:schemeClr val="bg1"/>
              </a:buClr>
              <a:buSzPct val="25000"/>
              <a:buFontTx/>
              <a:buNone/>
              <a:defRPr sz="1300" kern="1200">
                <a:solidFill>
                  <a:schemeClr val="tx1">
                    <a:lumMod val="75000"/>
                    <a:lumOff val="25000"/>
                  </a:schemeClr>
                </a:solidFill>
                <a:latin typeface="Segoe UI Variable Display" pitchFamily="2" charset="0"/>
                <a:ea typeface="+mn-ea"/>
                <a:cs typeface="+mn-cs"/>
              </a:defRPr>
            </a:lvl1pPr>
            <a:lvl2pPr marL="0" indent="0" algn="l" defTabSz="914400" rtl="0" eaLnBrk="1" latinLnBrk="0" hangingPunct="1">
              <a:lnSpc>
                <a:spcPct val="114000"/>
              </a:lnSpc>
              <a:spcBef>
                <a:spcPts val="300"/>
              </a:spcBef>
              <a:buClr>
                <a:schemeClr val="bg1"/>
              </a:buClr>
              <a:buSzPct val="25000"/>
              <a:buFontTx/>
              <a:buNone/>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114000"/>
              </a:lnSpc>
              <a:spcBef>
                <a:spcPts val="300"/>
              </a:spcBef>
              <a:buClr>
                <a:schemeClr val="bg1"/>
              </a:buClr>
              <a:buSzPct val="25000"/>
              <a:buFontTx/>
              <a:buNone/>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114000"/>
              </a:lnSpc>
              <a:spcBef>
                <a:spcPts val="300"/>
              </a:spcBef>
              <a:buClr>
                <a:schemeClr val="bg1"/>
              </a:buClr>
              <a:buSzPct val="25000"/>
              <a:buFontTx/>
              <a:buNone/>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114000"/>
              </a:lnSpc>
              <a:spcBef>
                <a:spcPts val="300"/>
              </a:spcBef>
              <a:buClr>
                <a:schemeClr val="bg1"/>
              </a:buClr>
              <a:buSzPct val="25000"/>
              <a:buFontTx/>
              <a:buNone/>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500"/>
              </a:spcBef>
            </a:pPr>
            <a:r>
              <a:rPr lang="en-US" dirty="0"/>
              <a:t>The case study presents customer insights of the Vietnamese coffee chain market, using simulated survey data collected from 2017 to 2019 and contextualized with current industry dynamics in 2025. Six major cities, Hanoi, Ho Chi Minh City, Da Nang, Can Tho, Hai Phong and Nha Trang, are focused and they provide insights about consumer needs, preferences and purchasing behaviors, shaping the competition of Vietnam’s beverage industry.</a:t>
            </a:r>
          </a:p>
        </p:txBody>
      </p:sp>
    </p:spTree>
    <p:extLst>
      <p:ext uri="{BB962C8B-B14F-4D97-AF65-F5344CB8AC3E}">
        <p14:creationId xmlns:p14="http://schemas.microsoft.com/office/powerpoint/2010/main" val="39097024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32E46-7317-28B0-88A9-AC470D87B3D7}"/>
              </a:ext>
            </a:extLst>
          </p:cNvPr>
          <p:cNvSpPr>
            <a:spLocks noGrp="1"/>
          </p:cNvSpPr>
          <p:nvPr>
            <p:ph type="title"/>
          </p:nvPr>
        </p:nvSpPr>
        <p:spPr/>
        <p:txBody>
          <a:bodyPr/>
          <a:lstStyle/>
          <a:p>
            <a:r>
              <a:rPr kumimoji="0" lang="en-US" sz="2800" b="0" i="0" u="none" strike="noStrike" kern="1200" cap="none" spc="0" normalizeH="0" baseline="0" noProof="0" dirty="0">
                <a:ln>
                  <a:noFill/>
                </a:ln>
                <a:solidFill>
                  <a:prstClr val="black"/>
                </a:solidFill>
                <a:effectLst/>
                <a:uLnTx/>
                <a:uFillTx/>
                <a:latin typeface="Segoe UI Semibold"/>
                <a:ea typeface="+mj-ea"/>
                <a:cs typeface="+mj-cs"/>
              </a:rPr>
              <a:t>Research Methodology</a:t>
            </a:r>
            <a:br>
              <a:rPr kumimoji="0" lang="en-US" sz="2800" b="0" i="0" u="none" strike="noStrike" kern="1200" cap="none" spc="0" normalizeH="0" baseline="0" noProof="0" dirty="0">
                <a:ln>
                  <a:noFill/>
                </a:ln>
                <a:solidFill>
                  <a:prstClr val="black"/>
                </a:solidFill>
                <a:effectLst/>
                <a:uLnTx/>
                <a:uFillTx/>
                <a:latin typeface="Segoe UI Semibold"/>
                <a:ea typeface="+mj-ea"/>
                <a:cs typeface="+mj-cs"/>
              </a:rPr>
            </a:br>
            <a:r>
              <a:rPr kumimoji="0" lang="en-US" sz="1300" b="0" i="0" u="none" strike="noStrike" kern="1200" cap="none" spc="0" normalizeH="0" baseline="0" noProof="0" dirty="0">
                <a:ln>
                  <a:noFill/>
                </a:ln>
                <a:solidFill>
                  <a:prstClr val="black">
                    <a:lumMod val="75000"/>
                    <a:lumOff val="25000"/>
                  </a:prstClr>
                </a:solidFill>
                <a:effectLst/>
                <a:uLnTx/>
                <a:uFillTx/>
                <a:latin typeface="Segoe UI Variable Small Semilig" pitchFamily="2" charset="0"/>
                <a:ea typeface="+mj-ea"/>
                <a:cs typeface="+mj-cs"/>
              </a:rPr>
              <a:t>Key findings from comprehensive customer research</a:t>
            </a:r>
            <a:endParaRPr lang="en-US" dirty="0"/>
          </a:p>
        </p:txBody>
      </p:sp>
      <p:sp>
        <p:nvSpPr>
          <p:cNvPr id="3" name="Content Placeholder 2">
            <a:extLst>
              <a:ext uri="{FF2B5EF4-FFF2-40B4-BE49-F238E27FC236}">
                <a16:creationId xmlns:a16="http://schemas.microsoft.com/office/drawing/2014/main" id="{E9EA0FD5-B9A4-46DA-8022-206E3492D31D}"/>
              </a:ext>
            </a:extLst>
          </p:cNvPr>
          <p:cNvSpPr>
            <a:spLocks noGrp="1"/>
          </p:cNvSpPr>
          <p:nvPr>
            <p:ph sz="half" idx="1"/>
          </p:nvPr>
        </p:nvSpPr>
        <p:spPr>
          <a:xfrm>
            <a:off x="838201" y="1330643"/>
            <a:ext cx="5002731" cy="384048"/>
          </a:xfrm>
        </p:spPr>
        <p:txBody>
          <a:bodyPr/>
          <a:lstStyle/>
          <a:p>
            <a:r>
              <a:rPr lang="en-US" dirty="0"/>
              <a:t>Sample Size</a:t>
            </a:r>
          </a:p>
        </p:txBody>
      </p:sp>
      <p:sp>
        <p:nvSpPr>
          <p:cNvPr id="4" name="Content Placeholder 3">
            <a:extLst>
              <a:ext uri="{FF2B5EF4-FFF2-40B4-BE49-F238E27FC236}">
                <a16:creationId xmlns:a16="http://schemas.microsoft.com/office/drawing/2014/main" id="{0AA6F121-260F-ACE5-1C00-DC6A9402A9C5}"/>
              </a:ext>
            </a:extLst>
          </p:cNvPr>
          <p:cNvSpPr>
            <a:spLocks noGrp="1"/>
          </p:cNvSpPr>
          <p:nvPr>
            <p:ph sz="half" idx="4294967295"/>
          </p:nvPr>
        </p:nvSpPr>
        <p:spPr>
          <a:xfrm>
            <a:off x="6351069" y="1330643"/>
            <a:ext cx="5002731" cy="4846320"/>
          </a:xfrm>
        </p:spPr>
        <p:txBody>
          <a:bodyPr/>
          <a:lstStyle/>
          <a:p>
            <a:endParaRPr lang="en-US" dirty="0"/>
          </a:p>
        </p:txBody>
      </p:sp>
      <p:sp>
        <p:nvSpPr>
          <p:cNvPr id="5" name="Content Placeholder 4">
            <a:extLst>
              <a:ext uri="{FF2B5EF4-FFF2-40B4-BE49-F238E27FC236}">
                <a16:creationId xmlns:a16="http://schemas.microsoft.com/office/drawing/2014/main" id="{560DA209-B11D-624E-8E0C-12A7637EF41E}"/>
              </a:ext>
            </a:extLst>
          </p:cNvPr>
          <p:cNvSpPr txBox="1">
            <a:spLocks/>
          </p:cNvSpPr>
          <p:nvPr/>
        </p:nvSpPr>
        <p:spPr>
          <a:xfrm>
            <a:off x="838200" y="1714501"/>
            <a:ext cx="5002731" cy="923360"/>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Clr>
                <a:schemeClr val="bg1"/>
              </a:buClr>
              <a:buSzPct val="100000"/>
              <a:buFontTx/>
              <a:buChar char="‬"/>
              <a:defRPr sz="2000" kern="1200">
                <a:solidFill>
                  <a:srgbClr val="C00000"/>
                </a:solidFill>
                <a:latin typeface="+mn-lt"/>
                <a:ea typeface="+mn-ea"/>
                <a:cs typeface="+mn-cs"/>
              </a:defRPr>
            </a:lvl1pPr>
            <a:lvl2pPr marL="119063" indent="-119063" algn="l" defTabSz="914400" rtl="0" eaLnBrk="1" latinLnBrk="0" hangingPunct="1">
              <a:lnSpc>
                <a:spcPct val="90000"/>
              </a:lnSpc>
              <a:spcBef>
                <a:spcPts val="500"/>
              </a:spcBef>
              <a:buClr>
                <a:schemeClr val="bg1"/>
              </a:buClr>
              <a:buSzPct val="100000"/>
              <a:buFontTx/>
              <a:buChar char="‬"/>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90000"/>
              </a:lnSpc>
              <a:spcBef>
                <a:spcPts val="500"/>
              </a:spcBef>
              <a:buClr>
                <a:schemeClr val="bg1"/>
              </a:buClr>
              <a:buSzPct val="100000"/>
              <a:buFontTx/>
              <a:buChar char="‬"/>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90000"/>
              </a:lnSpc>
              <a:spcBef>
                <a:spcPts val="500"/>
              </a:spcBef>
              <a:buClr>
                <a:schemeClr val="bg1"/>
              </a:buClr>
              <a:buSzPct val="100000"/>
              <a:buFontTx/>
              <a:buChar char="‬"/>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90000"/>
              </a:lnSpc>
              <a:spcBef>
                <a:spcPts val="500"/>
              </a:spcBef>
              <a:buClr>
                <a:schemeClr val="bg1"/>
              </a:buClr>
              <a:buSzPct val="100000"/>
              <a:buFontTx/>
              <a:buChar char="‬"/>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lnSpc>
                <a:spcPct val="114000"/>
              </a:lnSpc>
              <a:spcBef>
                <a:spcPts val="500"/>
              </a:spcBef>
              <a:buNone/>
            </a:pPr>
            <a:r>
              <a:rPr lang="en-US" sz="1300" dirty="0">
                <a:solidFill>
                  <a:schemeClr val="tx1">
                    <a:lumMod val="75000"/>
                    <a:lumOff val="25000"/>
                  </a:schemeClr>
                </a:solidFill>
                <a:latin typeface="Segoe UI Variable Display" pitchFamily="2" charset="0"/>
              </a:rPr>
              <a:t>11,000 respondents aged from 16-45+, primary office workers, quotas set by gender, age, occupation, income and city representation.</a:t>
            </a:r>
          </a:p>
          <a:p>
            <a:pPr>
              <a:lnSpc>
                <a:spcPct val="114000"/>
              </a:lnSpc>
              <a:spcBef>
                <a:spcPts val="500"/>
              </a:spcBef>
              <a:buFontTx/>
              <a:buNone/>
            </a:pPr>
            <a:endParaRPr lang="en-US" sz="1300" dirty="0">
              <a:solidFill>
                <a:schemeClr val="tx1">
                  <a:lumMod val="75000"/>
                  <a:lumOff val="25000"/>
                </a:schemeClr>
              </a:solidFill>
              <a:latin typeface="Segoe UI Variable Display" pitchFamily="2" charset="0"/>
            </a:endParaRPr>
          </a:p>
        </p:txBody>
      </p:sp>
      <p:sp>
        <p:nvSpPr>
          <p:cNvPr id="6" name="Content Placeholder 2">
            <a:extLst>
              <a:ext uri="{FF2B5EF4-FFF2-40B4-BE49-F238E27FC236}">
                <a16:creationId xmlns:a16="http://schemas.microsoft.com/office/drawing/2014/main" id="{D9863D23-06ED-D5EC-7717-369D3B54572C}"/>
              </a:ext>
            </a:extLst>
          </p:cNvPr>
          <p:cNvSpPr txBox="1">
            <a:spLocks/>
          </p:cNvSpPr>
          <p:nvPr/>
        </p:nvSpPr>
        <p:spPr>
          <a:xfrm>
            <a:off x="838200" y="2637861"/>
            <a:ext cx="5002731" cy="384048"/>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Clr>
                <a:schemeClr val="bg1"/>
              </a:buClr>
              <a:buSzPct val="25000"/>
              <a:buFontTx/>
              <a:buNone/>
              <a:defRPr sz="2000" kern="1200">
                <a:solidFill>
                  <a:srgbClr val="C00000"/>
                </a:solidFill>
                <a:latin typeface="+mn-lt"/>
                <a:ea typeface="+mn-ea"/>
                <a:cs typeface="+mn-cs"/>
              </a:defRPr>
            </a:lvl1pPr>
            <a:lvl2pPr marL="0" indent="0" algn="l" defTabSz="914400" rtl="0" eaLnBrk="1" latinLnBrk="0" hangingPunct="1">
              <a:lnSpc>
                <a:spcPct val="90000"/>
              </a:lnSpc>
              <a:spcBef>
                <a:spcPts val="500"/>
              </a:spcBef>
              <a:buClr>
                <a:schemeClr val="bg1"/>
              </a:buClr>
              <a:buSzPct val="25000"/>
              <a:buFontTx/>
              <a:buNone/>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90000"/>
              </a:lnSpc>
              <a:spcBef>
                <a:spcPts val="500"/>
              </a:spcBef>
              <a:buClr>
                <a:schemeClr val="bg1"/>
              </a:buClr>
              <a:buSzPct val="25000"/>
              <a:buFontTx/>
              <a:buNone/>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90000"/>
              </a:lnSpc>
              <a:spcBef>
                <a:spcPts val="500"/>
              </a:spcBef>
              <a:buClr>
                <a:schemeClr val="bg1"/>
              </a:buClr>
              <a:buSzPct val="25000"/>
              <a:buFontTx/>
              <a:buNone/>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90000"/>
              </a:lnSpc>
              <a:spcBef>
                <a:spcPts val="500"/>
              </a:spcBef>
              <a:buClr>
                <a:schemeClr val="bg1"/>
              </a:buClr>
              <a:buSzPct val="25000"/>
              <a:buFontTx/>
              <a:buNone/>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t>Geographic Coverage</a:t>
            </a:r>
          </a:p>
        </p:txBody>
      </p:sp>
      <p:sp>
        <p:nvSpPr>
          <p:cNvPr id="7" name="Content Placeholder 4">
            <a:extLst>
              <a:ext uri="{FF2B5EF4-FFF2-40B4-BE49-F238E27FC236}">
                <a16:creationId xmlns:a16="http://schemas.microsoft.com/office/drawing/2014/main" id="{59F9C625-1A1F-65CB-DA09-F769425ABA45}"/>
              </a:ext>
            </a:extLst>
          </p:cNvPr>
          <p:cNvSpPr txBox="1">
            <a:spLocks/>
          </p:cNvSpPr>
          <p:nvPr/>
        </p:nvSpPr>
        <p:spPr>
          <a:xfrm>
            <a:off x="838199" y="3021719"/>
            <a:ext cx="5002731" cy="520378"/>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bg1"/>
              </a:buClr>
              <a:buSzPct val="100000"/>
              <a:buFontTx/>
              <a:buChar char="‬"/>
              <a:defRPr sz="2000" kern="1200">
                <a:solidFill>
                  <a:srgbClr val="C00000"/>
                </a:solidFill>
                <a:latin typeface="+mn-lt"/>
                <a:ea typeface="+mn-ea"/>
                <a:cs typeface="+mn-cs"/>
              </a:defRPr>
            </a:lvl1pPr>
            <a:lvl2pPr marL="119063" indent="-119063" algn="l" defTabSz="914400" rtl="0" eaLnBrk="1" latinLnBrk="0" hangingPunct="1">
              <a:lnSpc>
                <a:spcPct val="90000"/>
              </a:lnSpc>
              <a:spcBef>
                <a:spcPts val="500"/>
              </a:spcBef>
              <a:buClr>
                <a:schemeClr val="bg1"/>
              </a:buClr>
              <a:buSzPct val="100000"/>
              <a:buFontTx/>
              <a:buChar char="‬"/>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90000"/>
              </a:lnSpc>
              <a:spcBef>
                <a:spcPts val="500"/>
              </a:spcBef>
              <a:buClr>
                <a:schemeClr val="bg1"/>
              </a:buClr>
              <a:buSzPct val="100000"/>
              <a:buFontTx/>
              <a:buChar char="‬"/>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90000"/>
              </a:lnSpc>
              <a:spcBef>
                <a:spcPts val="500"/>
              </a:spcBef>
              <a:buClr>
                <a:schemeClr val="bg1"/>
              </a:buClr>
              <a:buSzPct val="100000"/>
              <a:buFontTx/>
              <a:buChar char="‬"/>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90000"/>
              </a:lnSpc>
              <a:spcBef>
                <a:spcPts val="500"/>
              </a:spcBef>
              <a:buClr>
                <a:schemeClr val="bg1"/>
              </a:buClr>
              <a:buSzPct val="100000"/>
              <a:buFontTx/>
              <a:buChar char="‬"/>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lnSpc>
                <a:spcPct val="114000"/>
              </a:lnSpc>
              <a:spcBef>
                <a:spcPts val="500"/>
              </a:spcBef>
              <a:buNone/>
            </a:pPr>
            <a:r>
              <a:rPr lang="en-US" sz="1300" dirty="0">
                <a:solidFill>
                  <a:schemeClr val="tx1">
                    <a:lumMod val="75000"/>
                    <a:lumOff val="25000"/>
                  </a:schemeClr>
                </a:solidFill>
                <a:latin typeface="Segoe UI Variable Display" pitchFamily="2" charset="0"/>
              </a:rPr>
              <a:t>Ho Chi Minh, Hanoi, Da Nang, Can Tho, Hai Phong, Nha Trang</a:t>
            </a:r>
          </a:p>
          <a:p>
            <a:pPr algn="just">
              <a:lnSpc>
                <a:spcPct val="114000"/>
              </a:lnSpc>
              <a:spcBef>
                <a:spcPts val="500"/>
              </a:spcBef>
              <a:buNone/>
            </a:pPr>
            <a:endParaRPr lang="en-US" sz="1300" dirty="0">
              <a:solidFill>
                <a:schemeClr val="tx1">
                  <a:lumMod val="75000"/>
                  <a:lumOff val="25000"/>
                </a:schemeClr>
              </a:solidFill>
              <a:latin typeface="Segoe UI Variable Display" pitchFamily="2" charset="0"/>
            </a:endParaRPr>
          </a:p>
          <a:p>
            <a:pPr>
              <a:lnSpc>
                <a:spcPct val="114000"/>
              </a:lnSpc>
              <a:spcBef>
                <a:spcPts val="500"/>
              </a:spcBef>
              <a:buFontTx/>
              <a:buNone/>
            </a:pPr>
            <a:endParaRPr lang="en-US" sz="1300" dirty="0">
              <a:solidFill>
                <a:schemeClr val="tx1">
                  <a:lumMod val="75000"/>
                  <a:lumOff val="25000"/>
                </a:schemeClr>
              </a:solidFill>
              <a:latin typeface="Segoe UI Variable Display" pitchFamily="2" charset="0"/>
            </a:endParaRPr>
          </a:p>
        </p:txBody>
      </p:sp>
      <p:sp>
        <p:nvSpPr>
          <p:cNvPr id="10" name="Content Placeholder 2">
            <a:extLst>
              <a:ext uri="{FF2B5EF4-FFF2-40B4-BE49-F238E27FC236}">
                <a16:creationId xmlns:a16="http://schemas.microsoft.com/office/drawing/2014/main" id="{FD8A6DDC-EA34-A5A1-BADC-F58361940CF4}"/>
              </a:ext>
            </a:extLst>
          </p:cNvPr>
          <p:cNvSpPr txBox="1">
            <a:spLocks/>
          </p:cNvSpPr>
          <p:nvPr/>
        </p:nvSpPr>
        <p:spPr>
          <a:xfrm>
            <a:off x="838200" y="3542097"/>
            <a:ext cx="5002731" cy="384048"/>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Clr>
                <a:schemeClr val="bg1"/>
              </a:buClr>
              <a:buSzPct val="25000"/>
              <a:buFontTx/>
              <a:buNone/>
              <a:defRPr sz="2000" kern="1200">
                <a:solidFill>
                  <a:srgbClr val="C00000"/>
                </a:solidFill>
                <a:latin typeface="+mn-lt"/>
                <a:ea typeface="+mn-ea"/>
                <a:cs typeface="+mn-cs"/>
              </a:defRPr>
            </a:lvl1pPr>
            <a:lvl2pPr marL="0" indent="0" algn="l" defTabSz="914400" rtl="0" eaLnBrk="1" latinLnBrk="0" hangingPunct="1">
              <a:lnSpc>
                <a:spcPct val="90000"/>
              </a:lnSpc>
              <a:spcBef>
                <a:spcPts val="500"/>
              </a:spcBef>
              <a:buClr>
                <a:schemeClr val="bg1"/>
              </a:buClr>
              <a:buSzPct val="25000"/>
              <a:buFontTx/>
              <a:buNone/>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90000"/>
              </a:lnSpc>
              <a:spcBef>
                <a:spcPts val="500"/>
              </a:spcBef>
              <a:buClr>
                <a:schemeClr val="bg1"/>
              </a:buClr>
              <a:buSzPct val="25000"/>
              <a:buFontTx/>
              <a:buNone/>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90000"/>
              </a:lnSpc>
              <a:spcBef>
                <a:spcPts val="500"/>
              </a:spcBef>
              <a:buClr>
                <a:schemeClr val="bg1"/>
              </a:buClr>
              <a:buSzPct val="25000"/>
              <a:buFontTx/>
              <a:buNone/>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90000"/>
              </a:lnSpc>
              <a:spcBef>
                <a:spcPts val="500"/>
              </a:spcBef>
              <a:buClr>
                <a:schemeClr val="bg1"/>
              </a:buClr>
              <a:buSzPct val="25000"/>
              <a:buFontTx/>
              <a:buNone/>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t>Data Preprocessing</a:t>
            </a:r>
          </a:p>
        </p:txBody>
      </p:sp>
      <p:sp>
        <p:nvSpPr>
          <p:cNvPr id="11" name="Content Placeholder 4">
            <a:extLst>
              <a:ext uri="{FF2B5EF4-FFF2-40B4-BE49-F238E27FC236}">
                <a16:creationId xmlns:a16="http://schemas.microsoft.com/office/drawing/2014/main" id="{8AFA6612-0074-79B4-6D44-4A32C732756C}"/>
              </a:ext>
            </a:extLst>
          </p:cNvPr>
          <p:cNvSpPr txBox="1">
            <a:spLocks/>
          </p:cNvSpPr>
          <p:nvPr/>
        </p:nvSpPr>
        <p:spPr>
          <a:xfrm>
            <a:off x="838199" y="3925954"/>
            <a:ext cx="5002731" cy="923171"/>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Clr>
                <a:schemeClr val="bg1"/>
              </a:buClr>
              <a:buSzPct val="100000"/>
              <a:buFontTx/>
              <a:buChar char="‬"/>
              <a:defRPr sz="2000" kern="1200">
                <a:solidFill>
                  <a:srgbClr val="C00000"/>
                </a:solidFill>
                <a:latin typeface="+mn-lt"/>
                <a:ea typeface="+mn-ea"/>
                <a:cs typeface="+mn-cs"/>
              </a:defRPr>
            </a:lvl1pPr>
            <a:lvl2pPr marL="119063" indent="-119063" algn="l" defTabSz="914400" rtl="0" eaLnBrk="1" latinLnBrk="0" hangingPunct="1">
              <a:lnSpc>
                <a:spcPct val="90000"/>
              </a:lnSpc>
              <a:spcBef>
                <a:spcPts val="500"/>
              </a:spcBef>
              <a:buClr>
                <a:schemeClr val="bg1"/>
              </a:buClr>
              <a:buSzPct val="100000"/>
              <a:buFontTx/>
              <a:buChar char="‬"/>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90000"/>
              </a:lnSpc>
              <a:spcBef>
                <a:spcPts val="500"/>
              </a:spcBef>
              <a:buClr>
                <a:schemeClr val="bg1"/>
              </a:buClr>
              <a:buSzPct val="100000"/>
              <a:buFontTx/>
              <a:buChar char="‬"/>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90000"/>
              </a:lnSpc>
              <a:spcBef>
                <a:spcPts val="500"/>
              </a:spcBef>
              <a:buClr>
                <a:schemeClr val="bg1"/>
              </a:buClr>
              <a:buSzPct val="100000"/>
              <a:buFontTx/>
              <a:buChar char="‬"/>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90000"/>
              </a:lnSpc>
              <a:spcBef>
                <a:spcPts val="500"/>
              </a:spcBef>
              <a:buClr>
                <a:schemeClr val="bg1"/>
              </a:buClr>
              <a:buSzPct val="100000"/>
              <a:buFontTx/>
              <a:buChar char="‬"/>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lnSpc>
                <a:spcPct val="114000"/>
              </a:lnSpc>
              <a:spcBef>
                <a:spcPts val="500"/>
              </a:spcBef>
              <a:buNone/>
            </a:pPr>
            <a:r>
              <a:rPr lang="en-US" sz="1300" dirty="0">
                <a:solidFill>
                  <a:schemeClr val="tx1">
                    <a:lumMod val="75000"/>
                    <a:lumOff val="25000"/>
                  </a:schemeClr>
                </a:solidFill>
                <a:latin typeface="Segoe UI Variable Display" pitchFamily="2" charset="0"/>
              </a:rPr>
              <a:t>Handling missing values, labelling and bucketing, building the data model, classifying respondents, and matching needs with brand attributes for satisfaction analysis.</a:t>
            </a:r>
          </a:p>
          <a:p>
            <a:pPr algn="just">
              <a:lnSpc>
                <a:spcPct val="114000"/>
              </a:lnSpc>
              <a:spcBef>
                <a:spcPts val="500"/>
              </a:spcBef>
              <a:buNone/>
            </a:pPr>
            <a:endParaRPr lang="en-US" sz="1300" dirty="0">
              <a:solidFill>
                <a:schemeClr val="tx1">
                  <a:lumMod val="75000"/>
                  <a:lumOff val="25000"/>
                </a:schemeClr>
              </a:solidFill>
              <a:latin typeface="Segoe UI Variable Display" pitchFamily="2" charset="0"/>
            </a:endParaRPr>
          </a:p>
        </p:txBody>
      </p:sp>
      <p:sp>
        <p:nvSpPr>
          <p:cNvPr id="12" name="Content Placeholder 2">
            <a:extLst>
              <a:ext uri="{FF2B5EF4-FFF2-40B4-BE49-F238E27FC236}">
                <a16:creationId xmlns:a16="http://schemas.microsoft.com/office/drawing/2014/main" id="{3DB21AFF-3240-E7EB-4697-FD3479191BB8}"/>
              </a:ext>
            </a:extLst>
          </p:cNvPr>
          <p:cNvSpPr txBox="1">
            <a:spLocks/>
          </p:cNvSpPr>
          <p:nvPr/>
        </p:nvSpPr>
        <p:spPr>
          <a:xfrm>
            <a:off x="838199" y="4848934"/>
            <a:ext cx="5002731" cy="384048"/>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Clr>
                <a:schemeClr val="bg1"/>
              </a:buClr>
              <a:buSzPct val="25000"/>
              <a:buFontTx/>
              <a:buNone/>
              <a:defRPr sz="2000" kern="1200">
                <a:solidFill>
                  <a:srgbClr val="C00000"/>
                </a:solidFill>
                <a:latin typeface="+mn-lt"/>
                <a:ea typeface="+mn-ea"/>
                <a:cs typeface="+mn-cs"/>
              </a:defRPr>
            </a:lvl1pPr>
            <a:lvl2pPr marL="0" indent="0" algn="l" defTabSz="914400" rtl="0" eaLnBrk="1" latinLnBrk="0" hangingPunct="1">
              <a:lnSpc>
                <a:spcPct val="90000"/>
              </a:lnSpc>
              <a:spcBef>
                <a:spcPts val="500"/>
              </a:spcBef>
              <a:buClr>
                <a:schemeClr val="bg1"/>
              </a:buClr>
              <a:buSzPct val="25000"/>
              <a:buFontTx/>
              <a:buNone/>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90000"/>
              </a:lnSpc>
              <a:spcBef>
                <a:spcPts val="500"/>
              </a:spcBef>
              <a:buClr>
                <a:schemeClr val="bg1"/>
              </a:buClr>
              <a:buSzPct val="25000"/>
              <a:buFontTx/>
              <a:buNone/>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90000"/>
              </a:lnSpc>
              <a:spcBef>
                <a:spcPts val="500"/>
              </a:spcBef>
              <a:buClr>
                <a:schemeClr val="bg1"/>
              </a:buClr>
              <a:buSzPct val="25000"/>
              <a:buFontTx/>
              <a:buNone/>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90000"/>
              </a:lnSpc>
              <a:spcBef>
                <a:spcPts val="500"/>
              </a:spcBef>
              <a:buClr>
                <a:schemeClr val="bg1"/>
              </a:buClr>
              <a:buSzPct val="25000"/>
              <a:buFontTx/>
              <a:buNone/>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t>Reporting</a:t>
            </a:r>
          </a:p>
        </p:txBody>
      </p:sp>
      <p:sp>
        <p:nvSpPr>
          <p:cNvPr id="13" name="Content Placeholder 4">
            <a:extLst>
              <a:ext uri="{FF2B5EF4-FFF2-40B4-BE49-F238E27FC236}">
                <a16:creationId xmlns:a16="http://schemas.microsoft.com/office/drawing/2014/main" id="{0487D5CB-A03B-F78E-153F-A421E517F53E}"/>
              </a:ext>
            </a:extLst>
          </p:cNvPr>
          <p:cNvSpPr txBox="1">
            <a:spLocks/>
          </p:cNvSpPr>
          <p:nvPr/>
        </p:nvSpPr>
        <p:spPr>
          <a:xfrm>
            <a:off x="838198" y="5232791"/>
            <a:ext cx="5002731" cy="923171"/>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Clr>
                <a:schemeClr val="bg1"/>
              </a:buClr>
              <a:buSzPct val="100000"/>
              <a:buFontTx/>
              <a:buChar char="‬"/>
              <a:defRPr sz="2000" kern="1200">
                <a:solidFill>
                  <a:srgbClr val="C00000"/>
                </a:solidFill>
                <a:latin typeface="+mn-lt"/>
                <a:ea typeface="+mn-ea"/>
                <a:cs typeface="+mn-cs"/>
              </a:defRPr>
            </a:lvl1pPr>
            <a:lvl2pPr marL="119063" indent="-119063" algn="l" defTabSz="914400" rtl="0" eaLnBrk="1" latinLnBrk="0" hangingPunct="1">
              <a:lnSpc>
                <a:spcPct val="90000"/>
              </a:lnSpc>
              <a:spcBef>
                <a:spcPts val="500"/>
              </a:spcBef>
              <a:buClr>
                <a:schemeClr val="bg1"/>
              </a:buClr>
              <a:buSzPct val="100000"/>
              <a:buFontTx/>
              <a:buChar char="‬"/>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90000"/>
              </a:lnSpc>
              <a:spcBef>
                <a:spcPts val="500"/>
              </a:spcBef>
              <a:buClr>
                <a:schemeClr val="bg1"/>
              </a:buClr>
              <a:buSzPct val="100000"/>
              <a:buFontTx/>
              <a:buChar char="‬"/>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90000"/>
              </a:lnSpc>
              <a:spcBef>
                <a:spcPts val="500"/>
              </a:spcBef>
              <a:buClr>
                <a:schemeClr val="bg1"/>
              </a:buClr>
              <a:buSzPct val="100000"/>
              <a:buFontTx/>
              <a:buChar char="‬"/>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90000"/>
              </a:lnSpc>
              <a:spcBef>
                <a:spcPts val="500"/>
              </a:spcBef>
              <a:buClr>
                <a:schemeClr val="bg1"/>
              </a:buClr>
              <a:buSzPct val="100000"/>
              <a:buFontTx/>
              <a:buChar char="‬"/>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lnSpc>
                <a:spcPct val="114000"/>
              </a:lnSpc>
              <a:spcBef>
                <a:spcPts val="500"/>
              </a:spcBef>
              <a:buNone/>
            </a:pPr>
            <a:r>
              <a:rPr lang="en-US" sz="1300" dirty="0">
                <a:solidFill>
                  <a:schemeClr val="tx1">
                    <a:lumMod val="75000"/>
                    <a:lumOff val="25000"/>
                  </a:schemeClr>
                </a:solidFill>
                <a:latin typeface="Segoe UI Variable Display" pitchFamily="2" charset="0"/>
              </a:rPr>
              <a:t>Building Power BI dashboards to analyze the competitive landscape, consumer trends and churn analysis.</a:t>
            </a:r>
          </a:p>
        </p:txBody>
      </p:sp>
      <p:sp>
        <p:nvSpPr>
          <p:cNvPr id="8" name="Slide Number Placeholder 7">
            <a:extLst>
              <a:ext uri="{FF2B5EF4-FFF2-40B4-BE49-F238E27FC236}">
                <a16:creationId xmlns:a16="http://schemas.microsoft.com/office/drawing/2014/main" id="{12794FCC-F11A-7A40-D5A4-59D3D745FF7A}"/>
              </a:ext>
            </a:extLst>
          </p:cNvPr>
          <p:cNvSpPr>
            <a:spLocks noGrp="1"/>
          </p:cNvSpPr>
          <p:nvPr>
            <p:ph type="sldNum" sz="quarter" idx="12"/>
          </p:nvPr>
        </p:nvSpPr>
        <p:spPr/>
        <p:txBody>
          <a:bodyPr/>
          <a:lstStyle/>
          <a:p>
            <a:fld id="{2D2776A3-3430-4A99-9DCB-D67D51D6910E}" type="slidenum">
              <a:rPr lang="en-US" smtClean="0"/>
              <a:t>3</a:t>
            </a:fld>
            <a:endParaRPr lang="en-US"/>
          </a:p>
        </p:txBody>
      </p:sp>
    </p:spTree>
    <p:extLst>
      <p:ext uri="{BB962C8B-B14F-4D97-AF65-F5344CB8AC3E}">
        <p14:creationId xmlns:p14="http://schemas.microsoft.com/office/powerpoint/2010/main" val="16413496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9C3EA0-B14C-5D7C-A046-FF27232A0AF3}"/>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Segoe UI Semibold"/>
                <a:ea typeface="+mj-ea"/>
                <a:cs typeface="+mj-cs"/>
              </a:rPr>
              <a:t>Market Structure and Expansion Speed</a:t>
            </a:r>
            <a:endParaRPr lang="en-US" dirty="0"/>
          </a:p>
        </p:txBody>
      </p:sp>
      <p:sp>
        <p:nvSpPr>
          <p:cNvPr id="5" name="Content Placeholder 2">
            <a:extLst>
              <a:ext uri="{FF2B5EF4-FFF2-40B4-BE49-F238E27FC236}">
                <a16:creationId xmlns:a16="http://schemas.microsoft.com/office/drawing/2014/main" id="{D04F5857-C758-ACD5-423C-9089B8B684CE}"/>
              </a:ext>
            </a:extLst>
          </p:cNvPr>
          <p:cNvSpPr>
            <a:spLocks noGrp="1"/>
          </p:cNvSpPr>
          <p:nvPr>
            <p:ph sz="half" idx="1"/>
          </p:nvPr>
        </p:nvSpPr>
        <p:spPr>
          <a:xfrm>
            <a:off x="838201" y="1330644"/>
            <a:ext cx="5002731" cy="484150"/>
          </a:xfrm>
        </p:spPr>
        <p:txBody>
          <a:bodyPr>
            <a:normAutofit/>
          </a:bodyPr>
          <a:lstStyle/>
          <a:p>
            <a:r>
              <a:rPr lang="en-US" sz="1800" b="1" dirty="0"/>
              <a:t>Leading Coffee Chains by Store Count</a:t>
            </a:r>
          </a:p>
        </p:txBody>
      </p:sp>
      <p:sp>
        <p:nvSpPr>
          <p:cNvPr id="15" name="Content Placeholder 14">
            <a:extLst>
              <a:ext uri="{FF2B5EF4-FFF2-40B4-BE49-F238E27FC236}">
                <a16:creationId xmlns:a16="http://schemas.microsoft.com/office/drawing/2014/main" id="{3CBD672F-A417-3045-02EC-21B1F7FDD6E2}"/>
              </a:ext>
            </a:extLst>
          </p:cNvPr>
          <p:cNvSpPr>
            <a:spLocks noGrp="1"/>
          </p:cNvSpPr>
          <p:nvPr>
            <p:ph sz="half" idx="4294967295"/>
          </p:nvPr>
        </p:nvSpPr>
        <p:spPr>
          <a:xfrm>
            <a:off x="6351069" y="1330643"/>
            <a:ext cx="5002731" cy="484149"/>
          </a:xfrm>
        </p:spPr>
        <p:txBody>
          <a:bodyPr vert="horz" lIns="91440" tIns="45720" rIns="91440" bIns="45720" rtlCol="0">
            <a:normAutofit/>
          </a:bodyPr>
          <a:lstStyle/>
          <a:p>
            <a:r>
              <a:rPr lang="en-US" b="1" dirty="0"/>
              <a:t>Growth Rate From 2024-2025 and 2019-2024</a:t>
            </a:r>
          </a:p>
        </p:txBody>
      </p:sp>
      <p:graphicFrame>
        <p:nvGraphicFramePr>
          <p:cNvPr id="14" name="Chart 13">
            <a:extLst>
              <a:ext uri="{FF2B5EF4-FFF2-40B4-BE49-F238E27FC236}">
                <a16:creationId xmlns:a16="http://schemas.microsoft.com/office/drawing/2014/main" id="{B16B2F4C-D172-4D27-E408-438889351EC4}"/>
              </a:ext>
            </a:extLst>
          </p:cNvPr>
          <p:cNvGraphicFramePr>
            <a:graphicFrameLocks/>
          </p:cNvGraphicFramePr>
          <p:nvPr>
            <p:extLst>
              <p:ext uri="{D42A27DB-BD31-4B8C-83A1-F6EECF244321}">
                <p14:modId xmlns:p14="http://schemas.microsoft.com/office/powerpoint/2010/main" val="3409585847"/>
              </p:ext>
            </p:extLst>
          </p:nvPr>
        </p:nvGraphicFramePr>
        <p:xfrm>
          <a:off x="838200" y="1814792"/>
          <a:ext cx="5002731" cy="2928658"/>
        </p:xfrm>
        <a:graphic>
          <a:graphicData uri="http://schemas.openxmlformats.org/drawingml/2006/chart">
            <c:chart xmlns:c="http://schemas.openxmlformats.org/drawingml/2006/chart" xmlns:r="http://schemas.openxmlformats.org/officeDocument/2006/relationships" r:id="rId2"/>
          </a:graphicData>
        </a:graphic>
      </p:graphicFrame>
      <p:sp>
        <p:nvSpPr>
          <p:cNvPr id="17" name="Content Placeholder 2">
            <a:extLst>
              <a:ext uri="{FF2B5EF4-FFF2-40B4-BE49-F238E27FC236}">
                <a16:creationId xmlns:a16="http://schemas.microsoft.com/office/drawing/2014/main" id="{BD925B44-8B9F-AFD8-FB46-DA6DA01B3E9A}"/>
              </a:ext>
            </a:extLst>
          </p:cNvPr>
          <p:cNvSpPr txBox="1">
            <a:spLocks/>
          </p:cNvSpPr>
          <p:nvPr/>
        </p:nvSpPr>
        <p:spPr>
          <a:xfrm rot="10800000" flipV="1">
            <a:off x="2867025" y="4933951"/>
            <a:ext cx="8486768" cy="1422398"/>
          </a:xfrm>
          <a:prstGeom prst="rect">
            <a:avLst/>
          </a:prstGeom>
        </p:spPr>
        <p:txBody>
          <a:bodyPr vert="horz" lIns="91440" tIns="45720" rIns="91440" bIns="45720" rtlCol="0">
            <a:noAutofit/>
          </a:bodyPr>
          <a:lstStyle>
            <a:defPPr>
              <a:defRPr lang="en-US"/>
            </a:defPPr>
            <a:lvl1pPr indent="0" algn="just">
              <a:lnSpc>
                <a:spcPct val="114000"/>
              </a:lnSpc>
              <a:spcBef>
                <a:spcPts val="500"/>
              </a:spcBef>
              <a:buClr>
                <a:schemeClr val="bg1"/>
              </a:buClr>
              <a:buSzPct val="100000"/>
              <a:buFontTx/>
              <a:buNone/>
              <a:defRPr sz="1300">
                <a:solidFill>
                  <a:schemeClr val="tx1">
                    <a:lumMod val="75000"/>
                    <a:lumOff val="25000"/>
                  </a:schemeClr>
                </a:solidFill>
                <a:latin typeface="Segoe UI Variable Display" pitchFamily="2" charset="0"/>
              </a:defRPr>
            </a:lvl1pPr>
            <a:lvl2pPr marL="119063" indent="-119063">
              <a:lnSpc>
                <a:spcPct val="90000"/>
              </a:lnSpc>
              <a:spcBef>
                <a:spcPts val="500"/>
              </a:spcBef>
              <a:buClr>
                <a:schemeClr val="bg1"/>
              </a:buClr>
              <a:buSzPct val="100000"/>
              <a:buFontTx/>
              <a:buChar char="‬"/>
              <a:defRPr sz="1600">
                <a:latin typeface="Segoe UI Variable Display" pitchFamily="2" charset="0"/>
              </a:defRPr>
            </a:lvl2pPr>
            <a:lvl3pPr marL="0" indent="0">
              <a:lnSpc>
                <a:spcPct val="90000"/>
              </a:lnSpc>
              <a:spcBef>
                <a:spcPts val="500"/>
              </a:spcBef>
              <a:buClr>
                <a:schemeClr val="bg1"/>
              </a:buClr>
              <a:buSzPct val="100000"/>
              <a:buFontTx/>
              <a:buChar char="‬"/>
              <a:defRPr sz="1400">
                <a:latin typeface="Segoe UI Variable Display" pitchFamily="2" charset="0"/>
              </a:defRPr>
            </a:lvl3pPr>
            <a:lvl4pPr marL="169862" indent="0">
              <a:lnSpc>
                <a:spcPct val="90000"/>
              </a:lnSpc>
              <a:spcBef>
                <a:spcPts val="500"/>
              </a:spcBef>
              <a:buClr>
                <a:schemeClr val="bg1"/>
              </a:buClr>
              <a:buSzPct val="100000"/>
              <a:buFontTx/>
              <a:buChar char="‬"/>
              <a:defRPr sz="1200">
                <a:latin typeface="Segoe UI Variable Display" pitchFamily="2" charset="0"/>
              </a:defRPr>
            </a:lvl4pPr>
            <a:lvl5pPr marL="169863" indent="0">
              <a:lnSpc>
                <a:spcPct val="90000"/>
              </a:lnSpc>
              <a:spcBef>
                <a:spcPts val="500"/>
              </a:spcBef>
              <a:buClr>
                <a:schemeClr val="bg1"/>
              </a:buClr>
              <a:buSzPct val="100000"/>
              <a:buFontTx/>
              <a:buChar char="‬"/>
              <a:defRPr sz="1100">
                <a:latin typeface="Segoe UI Variable Display" pitchFamily="2"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dirty="0"/>
              <a:t>The Vietnamese coffee market is </a:t>
            </a:r>
            <a:r>
              <a:rPr lang="en-US" b="1" dirty="0">
                <a:solidFill>
                  <a:srgbClr val="C00000"/>
                </a:solidFill>
              </a:rPr>
              <a:t>fragmented significantly</a:t>
            </a:r>
            <a:r>
              <a:rPr lang="en-US" dirty="0"/>
              <a:t>, with Highlands Coffee and Phúc Long </a:t>
            </a:r>
            <a:r>
              <a:rPr lang="en-US" b="1" dirty="0">
                <a:solidFill>
                  <a:srgbClr val="C00000"/>
                </a:solidFill>
              </a:rPr>
              <a:t>accounting for approximately 72% of the top 6 brands’ coffee stores.</a:t>
            </a:r>
          </a:p>
          <a:p>
            <a:r>
              <a:rPr lang="en-US" dirty="0"/>
              <a:t>From 2019 to 2024, The Coffee House and </a:t>
            </a:r>
            <a:r>
              <a:rPr lang="en-US" dirty="0" err="1"/>
              <a:t>Cộng</a:t>
            </a:r>
            <a:r>
              <a:rPr lang="en-US" dirty="0"/>
              <a:t> </a:t>
            </a:r>
            <a:r>
              <a:rPr lang="en-US" dirty="0" err="1"/>
              <a:t>Cà</a:t>
            </a:r>
            <a:r>
              <a:rPr lang="en-US" dirty="0"/>
              <a:t> </a:t>
            </a:r>
            <a:r>
              <a:rPr lang="en-US" dirty="0" err="1"/>
              <a:t>Phê</a:t>
            </a:r>
            <a:r>
              <a:rPr lang="en-US" dirty="0"/>
              <a:t> exhibited limited expansion relative to the market. In contrast, Highlands Coffee and Phúc Long </a:t>
            </a:r>
            <a:r>
              <a:rPr lang="en-US" b="1" dirty="0">
                <a:solidFill>
                  <a:srgbClr val="C00000"/>
                </a:solidFill>
              </a:rPr>
              <a:t>doubled or even tripled their store count</a:t>
            </a:r>
            <a:r>
              <a:rPr lang="en-US" dirty="0"/>
              <a:t> over the same period and continue to sustain strong growth momentum into 2025.</a:t>
            </a:r>
          </a:p>
        </p:txBody>
      </p:sp>
      <p:graphicFrame>
        <p:nvGraphicFramePr>
          <p:cNvPr id="19" name="Chart 18">
            <a:extLst>
              <a:ext uri="{FF2B5EF4-FFF2-40B4-BE49-F238E27FC236}">
                <a16:creationId xmlns:a16="http://schemas.microsoft.com/office/drawing/2014/main" id="{C3F8F7CB-5F00-98C0-8967-B3BB7E909FDB}"/>
              </a:ext>
            </a:extLst>
          </p:cNvPr>
          <p:cNvGraphicFramePr>
            <a:graphicFrameLocks/>
          </p:cNvGraphicFramePr>
          <p:nvPr>
            <p:extLst>
              <p:ext uri="{D42A27DB-BD31-4B8C-83A1-F6EECF244321}">
                <p14:modId xmlns:p14="http://schemas.microsoft.com/office/powerpoint/2010/main" val="1801003744"/>
              </p:ext>
            </p:extLst>
          </p:nvPr>
        </p:nvGraphicFramePr>
        <p:xfrm>
          <a:off x="6351066" y="1814792"/>
          <a:ext cx="5002731" cy="2928658"/>
        </p:xfrm>
        <a:graphic>
          <a:graphicData uri="http://schemas.openxmlformats.org/drawingml/2006/chart">
            <c:chart xmlns:c="http://schemas.openxmlformats.org/drawingml/2006/chart" xmlns:r="http://schemas.openxmlformats.org/officeDocument/2006/relationships" r:id="rId3"/>
          </a:graphicData>
        </a:graphic>
      </p:graphicFrame>
      <p:sp>
        <p:nvSpPr>
          <p:cNvPr id="21" name="Content Placeholder 2">
            <a:extLst>
              <a:ext uri="{FF2B5EF4-FFF2-40B4-BE49-F238E27FC236}">
                <a16:creationId xmlns:a16="http://schemas.microsoft.com/office/drawing/2014/main" id="{F8F81036-4C01-E462-C712-24C5E06FB4C1}"/>
              </a:ext>
            </a:extLst>
          </p:cNvPr>
          <p:cNvSpPr txBox="1">
            <a:spLocks/>
          </p:cNvSpPr>
          <p:nvPr/>
        </p:nvSpPr>
        <p:spPr>
          <a:xfrm>
            <a:off x="838202" y="4933950"/>
            <a:ext cx="2028823" cy="1422399"/>
          </a:xfrm>
          <a:prstGeom prst="rect">
            <a:avLst/>
          </a:prstGeom>
        </p:spPr>
        <p:txBody>
          <a:bodyPr vert="horz" lIns="91440" tIns="45720" rIns="91440" bIns="45720" rtlCol="0">
            <a:normAutofit/>
          </a:bodyPr>
          <a:lstStyle>
            <a:lvl1pPr marL="0" indent="0" algn="l" defTabSz="914400" rtl="0" eaLnBrk="1" latinLnBrk="0" hangingPunct="1">
              <a:lnSpc>
                <a:spcPct val="114000"/>
              </a:lnSpc>
              <a:spcBef>
                <a:spcPts val="300"/>
              </a:spcBef>
              <a:buClr>
                <a:schemeClr val="bg1"/>
              </a:buClr>
              <a:buSzPct val="25000"/>
              <a:buFontTx/>
              <a:buNone/>
              <a:defRPr sz="1800" kern="1200">
                <a:solidFill>
                  <a:srgbClr val="C00000"/>
                </a:solidFill>
                <a:latin typeface="+mn-lt"/>
                <a:ea typeface="+mn-ea"/>
                <a:cs typeface="+mn-cs"/>
              </a:defRPr>
            </a:lvl1pPr>
            <a:lvl2pPr marL="0" indent="0" algn="l" defTabSz="914400" rtl="0" eaLnBrk="1" latinLnBrk="0" hangingPunct="1">
              <a:lnSpc>
                <a:spcPct val="114000"/>
              </a:lnSpc>
              <a:spcBef>
                <a:spcPts val="300"/>
              </a:spcBef>
              <a:buClr>
                <a:schemeClr val="bg1"/>
              </a:buClr>
              <a:buSzPct val="25000"/>
              <a:buFontTx/>
              <a:buNone/>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114000"/>
              </a:lnSpc>
              <a:spcBef>
                <a:spcPts val="300"/>
              </a:spcBef>
              <a:buClr>
                <a:schemeClr val="bg1"/>
              </a:buClr>
              <a:buSzPct val="25000"/>
              <a:buFontTx/>
              <a:buNone/>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114000"/>
              </a:lnSpc>
              <a:spcBef>
                <a:spcPts val="300"/>
              </a:spcBef>
              <a:buClr>
                <a:schemeClr val="bg1"/>
              </a:buClr>
              <a:buSzPct val="25000"/>
              <a:buFontTx/>
              <a:buNone/>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114000"/>
              </a:lnSpc>
              <a:spcBef>
                <a:spcPts val="300"/>
              </a:spcBef>
              <a:buClr>
                <a:schemeClr val="bg1"/>
              </a:buClr>
              <a:buSzPct val="25000"/>
              <a:buFontTx/>
              <a:buNone/>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Market </a:t>
            </a:r>
          </a:p>
          <a:p>
            <a:r>
              <a:rPr lang="en-US" sz="2000" b="1" dirty="0"/>
              <a:t>Concentration </a:t>
            </a:r>
          </a:p>
          <a:p>
            <a:r>
              <a:rPr lang="en-US" sz="2000" b="1" dirty="0"/>
              <a:t>Analysis</a:t>
            </a:r>
          </a:p>
        </p:txBody>
      </p:sp>
      <p:sp>
        <p:nvSpPr>
          <p:cNvPr id="23" name="Slide Number Placeholder 22">
            <a:extLst>
              <a:ext uri="{FF2B5EF4-FFF2-40B4-BE49-F238E27FC236}">
                <a16:creationId xmlns:a16="http://schemas.microsoft.com/office/drawing/2014/main" id="{489EA31D-3D85-93D7-0069-DB690CB0B077}"/>
              </a:ext>
            </a:extLst>
          </p:cNvPr>
          <p:cNvSpPr>
            <a:spLocks noGrp="1"/>
          </p:cNvSpPr>
          <p:nvPr>
            <p:ph type="sldNum" sz="quarter" idx="12"/>
          </p:nvPr>
        </p:nvSpPr>
        <p:spPr/>
        <p:txBody>
          <a:bodyPr/>
          <a:lstStyle/>
          <a:p>
            <a:fld id="{2D2776A3-3430-4A99-9DCB-D67D51D6910E}" type="slidenum">
              <a:rPr lang="en-US" smtClean="0"/>
              <a:t>4</a:t>
            </a:fld>
            <a:endParaRPr lang="en-US" dirty="0"/>
          </a:p>
        </p:txBody>
      </p:sp>
    </p:spTree>
    <p:extLst>
      <p:ext uri="{BB962C8B-B14F-4D97-AF65-F5344CB8AC3E}">
        <p14:creationId xmlns:p14="http://schemas.microsoft.com/office/powerpoint/2010/main" val="19959101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FF360-551B-35B4-B35E-43D86F35E129}"/>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Segoe UI Semibold"/>
                <a:ea typeface="+mj-ea"/>
                <a:cs typeface="+mj-cs"/>
              </a:rPr>
              <a:t>Brand Positioning and Store Network</a:t>
            </a:r>
            <a:endParaRPr lang="en-US" dirty="0"/>
          </a:p>
        </p:txBody>
      </p:sp>
      <p:graphicFrame>
        <p:nvGraphicFramePr>
          <p:cNvPr id="6" name="Table 5">
            <a:extLst>
              <a:ext uri="{FF2B5EF4-FFF2-40B4-BE49-F238E27FC236}">
                <a16:creationId xmlns:a16="http://schemas.microsoft.com/office/drawing/2014/main" id="{4F15604E-20E8-E5E6-F399-BE53A7DE6944}"/>
              </a:ext>
            </a:extLst>
          </p:cNvPr>
          <p:cNvGraphicFramePr>
            <a:graphicFrameLocks noGrp="1"/>
          </p:cNvGraphicFramePr>
          <p:nvPr>
            <p:extLst>
              <p:ext uri="{D42A27DB-BD31-4B8C-83A1-F6EECF244321}">
                <p14:modId xmlns:p14="http://schemas.microsoft.com/office/powerpoint/2010/main" val="1950459079"/>
              </p:ext>
            </p:extLst>
          </p:nvPr>
        </p:nvGraphicFramePr>
        <p:xfrm>
          <a:off x="838201" y="2781878"/>
          <a:ext cx="10515599" cy="3351518"/>
        </p:xfrm>
        <a:graphic>
          <a:graphicData uri="http://schemas.openxmlformats.org/drawingml/2006/table">
            <a:tbl>
              <a:tblPr firstRow="1" bandRow="1">
                <a:tableStyleId>{5C22544A-7EE6-4342-B048-85BDC9FD1C3A}</a:tableStyleId>
              </a:tblPr>
              <a:tblGrid>
                <a:gridCol w="1523090">
                  <a:extLst>
                    <a:ext uri="{9D8B030D-6E8A-4147-A177-3AD203B41FA5}">
                      <a16:colId xmlns:a16="http://schemas.microsoft.com/office/drawing/2014/main" val="719616282"/>
                    </a:ext>
                  </a:extLst>
                </a:gridCol>
                <a:gridCol w="2862645">
                  <a:extLst>
                    <a:ext uri="{9D8B030D-6E8A-4147-A177-3AD203B41FA5}">
                      <a16:colId xmlns:a16="http://schemas.microsoft.com/office/drawing/2014/main" val="3722599472"/>
                    </a:ext>
                  </a:extLst>
                </a:gridCol>
                <a:gridCol w="3500964">
                  <a:extLst>
                    <a:ext uri="{9D8B030D-6E8A-4147-A177-3AD203B41FA5}">
                      <a16:colId xmlns:a16="http://schemas.microsoft.com/office/drawing/2014/main" val="911510731"/>
                    </a:ext>
                  </a:extLst>
                </a:gridCol>
                <a:gridCol w="2628900">
                  <a:extLst>
                    <a:ext uri="{9D8B030D-6E8A-4147-A177-3AD203B41FA5}">
                      <a16:colId xmlns:a16="http://schemas.microsoft.com/office/drawing/2014/main" val="793144167"/>
                    </a:ext>
                  </a:extLst>
                </a:gridCol>
              </a:tblGrid>
              <a:tr h="271861">
                <a:tc>
                  <a:txBody>
                    <a:bodyPr/>
                    <a:lstStyle/>
                    <a:p>
                      <a:r>
                        <a:rPr lang="en-US" sz="1200" dirty="0"/>
                        <a:t>Coffee Brand</a:t>
                      </a:r>
                    </a:p>
                  </a:txBody>
                  <a:tcP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28575" cap="flat" cmpd="sng" algn="ctr">
                      <a:solidFill>
                        <a:srgbClr val="C00000"/>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r>
                        <a:rPr lang="en-US" sz="1200" dirty="0"/>
                        <a:t>Geographic Coverage </a:t>
                      </a: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28575" cap="flat" cmpd="sng" algn="ctr">
                      <a:solidFill>
                        <a:srgbClr val="C00000"/>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r>
                        <a:rPr lang="en-US" sz="1200" dirty="0"/>
                        <a:t>Value Positioning</a:t>
                      </a: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28575" cap="flat" cmpd="sng" algn="ctr">
                      <a:solidFill>
                        <a:srgbClr val="C00000"/>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r>
                        <a:rPr lang="en-US" sz="1200" dirty="0"/>
                        <a:t>Target Customer</a:t>
                      </a:r>
                    </a:p>
                  </a:txBody>
                  <a:tcP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28575" cap="flat" cmpd="sng" algn="ctr">
                      <a:solidFill>
                        <a:srgbClr val="C00000"/>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152722531"/>
                  </a:ext>
                </a:extLst>
              </a:tr>
              <a:tr h="454888">
                <a:tc>
                  <a:txBody>
                    <a:bodyPr/>
                    <a:lstStyle/>
                    <a:p>
                      <a:r>
                        <a:rPr lang="en-US" sz="1200" b="0" dirty="0">
                          <a:solidFill>
                            <a:schemeClr val="tx1">
                              <a:lumMod val="75000"/>
                              <a:lumOff val="25000"/>
                            </a:schemeClr>
                          </a:solidFill>
                          <a:latin typeface="Segoe UI Variable Display" pitchFamily="2" charset="0"/>
                        </a:rPr>
                        <a:t>Highlands Coffee</a:t>
                      </a: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Southeast Asia (Vietnam, Malaysia, Philippines)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Affordability and convenience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Students, office workers and middle-aged customers</a:t>
                      </a: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3253841269"/>
                  </a:ext>
                </a:extLst>
              </a:tr>
              <a:tr h="454888">
                <a:tc>
                  <a:txBody>
                    <a:bodyPr/>
                    <a:lstStyle/>
                    <a:p>
                      <a:r>
                        <a:rPr lang="en-US" sz="1200" b="0" dirty="0">
                          <a:solidFill>
                            <a:schemeClr val="tx1">
                              <a:lumMod val="75000"/>
                              <a:lumOff val="25000"/>
                            </a:schemeClr>
                          </a:solidFill>
                          <a:latin typeface="Segoe UI Variable Display" pitchFamily="2" charset="0"/>
                        </a:rPr>
                        <a:t>Phúc Long</a:t>
                      </a: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Nationwide and a few stores in the USA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Affordable and quality tea products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Students and office workers</a:t>
                      </a: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3747081619"/>
                  </a:ext>
                </a:extLst>
              </a:tr>
              <a:tr h="454888">
                <a:tc>
                  <a:txBody>
                    <a:bodyPr/>
                    <a:lstStyle/>
                    <a:p>
                      <a:r>
                        <a:rPr lang="en-US" sz="1200" b="0" dirty="0">
                          <a:solidFill>
                            <a:schemeClr val="tx1">
                              <a:lumMod val="75000"/>
                              <a:lumOff val="25000"/>
                            </a:schemeClr>
                          </a:solidFill>
                          <a:latin typeface="Segoe UI Variable Display" pitchFamily="2" charset="0"/>
                        </a:rPr>
                        <a:t>Starbucks</a:t>
                      </a: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Global</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Creative, premium and varied menu</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Students, office workers and businessmen with disposable income</a:t>
                      </a: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882525591"/>
                  </a:ext>
                </a:extLst>
              </a:tr>
              <a:tr h="443773">
                <a:tc>
                  <a:txBody>
                    <a:bodyPr/>
                    <a:lstStyle/>
                    <a:p>
                      <a:r>
                        <a:rPr lang="en-US" sz="1200" b="0" dirty="0">
                          <a:solidFill>
                            <a:schemeClr val="tx1">
                              <a:lumMod val="75000"/>
                              <a:lumOff val="25000"/>
                            </a:schemeClr>
                          </a:solidFill>
                          <a:latin typeface="Segoe UI Variable Display" pitchFamily="2" charset="0"/>
                        </a:rPr>
                        <a:t>Trung Nguyên</a:t>
                      </a: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Vietnam, China, and North America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High-quality Vietnamese coffee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Middle-aged businessmen</a:t>
                      </a: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2867263561"/>
                  </a:ext>
                </a:extLst>
              </a:tr>
              <a:tr h="454888">
                <a:tc>
                  <a:txBody>
                    <a:bodyPr/>
                    <a:lstStyle/>
                    <a:p>
                      <a:r>
                        <a:rPr lang="en-US" sz="1200" b="0" dirty="0">
                          <a:solidFill>
                            <a:schemeClr val="tx1">
                              <a:lumMod val="75000"/>
                              <a:lumOff val="25000"/>
                            </a:schemeClr>
                          </a:solidFill>
                          <a:latin typeface="Segoe UI Variable Display" pitchFamily="2" charset="0"/>
                        </a:rPr>
                        <a:t>The Coffee House</a:t>
                      </a: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Nationwide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Quality product and comfortable environment</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Students, office workers, and freelancers</a:t>
                      </a: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3362792061"/>
                  </a:ext>
                </a:extLst>
              </a:tr>
              <a:tr h="624057">
                <a:tc>
                  <a:txBody>
                    <a:bodyPr/>
                    <a:lstStyle/>
                    <a:p>
                      <a:r>
                        <a:rPr lang="en-US" sz="1200" b="0" dirty="0" err="1">
                          <a:solidFill>
                            <a:schemeClr val="tx1">
                              <a:lumMod val="75000"/>
                              <a:lumOff val="25000"/>
                            </a:schemeClr>
                          </a:solidFill>
                          <a:latin typeface="Segoe UI Variable Display" pitchFamily="2" charset="0"/>
                        </a:rPr>
                        <a:t>Cộng</a:t>
                      </a:r>
                      <a:r>
                        <a:rPr lang="en-US" sz="1200" b="0" dirty="0">
                          <a:solidFill>
                            <a:schemeClr val="tx1">
                              <a:lumMod val="75000"/>
                              <a:lumOff val="25000"/>
                            </a:schemeClr>
                          </a:solidFill>
                          <a:latin typeface="Segoe UI Variable Display" pitchFamily="2" charset="0"/>
                        </a:rPr>
                        <a:t> </a:t>
                      </a:r>
                      <a:r>
                        <a:rPr lang="en-US" sz="1200" b="0" dirty="0" err="1">
                          <a:solidFill>
                            <a:schemeClr val="tx1">
                              <a:lumMod val="75000"/>
                              <a:lumOff val="25000"/>
                            </a:schemeClr>
                          </a:solidFill>
                          <a:latin typeface="Segoe UI Variable Display" pitchFamily="2" charset="0"/>
                        </a:rPr>
                        <a:t>Cà</a:t>
                      </a:r>
                      <a:r>
                        <a:rPr lang="en-US" sz="1200" b="0" dirty="0">
                          <a:solidFill>
                            <a:schemeClr val="tx1">
                              <a:lumMod val="75000"/>
                              <a:lumOff val="25000"/>
                            </a:schemeClr>
                          </a:solidFill>
                          <a:latin typeface="Segoe UI Variable Display" pitchFamily="2" charset="0"/>
                        </a:rPr>
                        <a:t> </a:t>
                      </a:r>
                      <a:r>
                        <a:rPr lang="en-US" sz="1200" b="0" dirty="0" err="1">
                          <a:solidFill>
                            <a:schemeClr val="tx1">
                              <a:lumMod val="75000"/>
                              <a:lumOff val="25000"/>
                            </a:schemeClr>
                          </a:solidFill>
                          <a:latin typeface="Segoe UI Variable Display" pitchFamily="2" charset="0"/>
                        </a:rPr>
                        <a:t>Phê</a:t>
                      </a:r>
                      <a:endParaRPr lang="en-US" sz="1200" b="0" dirty="0">
                        <a:solidFill>
                          <a:schemeClr val="tx1">
                            <a:lumMod val="75000"/>
                            <a:lumOff val="25000"/>
                          </a:schemeClr>
                        </a:solidFill>
                        <a:latin typeface="Segoe UI Variable Display" pitchFamily="2" charset="0"/>
                      </a:endParaRP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Nationwide and a few stores in Korea, Canada, Taiwan and Malaysia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Unique Hanoian drinks and Subsidy Period interior design</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Tourists and culture lovers</a:t>
                      </a: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585314856"/>
                  </a:ext>
                </a:extLst>
              </a:tr>
            </a:tbl>
          </a:graphicData>
        </a:graphic>
      </p:graphicFrame>
      <p:sp>
        <p:nvSpPr>
          <p:cNvPr id="7" name="Content Placeholder 2">
            <a:extLst>
              <a:ext uri="{FF2B5EF4-FFF2-40B4-BE49-F238E27FC236}">
                <a16:creationId xmlns:a16="http://schemas.microsoft.com/office/drawing/2014/main" id="{A0D3C8DA-BF78-7BCF-B49F-A8EF1CBC7E79}"/>
              </a:ext>
            </a:extLst>
          </p:cNvPr>
          <p:cNvSpPr txBox="1">
            <a:spLocks/>
          </p:cNvSpPr>
          <p:nvPr/>
        </p:nvSpPr>
        <p:spPr>
          <a:xfrm rot="10800000" flipV="1">
            <a:off x="2136806" y="1317813"/>
            <a:ext cx="9130357" cy="1172834"/>
          </a:xfrm>
          <a:prstGeom prst="rect">
            <a:avLst/>
          </a:prstGeom>
        </p:spPr>
        <p:txBody>
          <a:bodyPr vert="horz" lIns="91440" tIns="45720" rIns="91440" bIns="45720" rtlCol="0">
            <a:noAutofit/>
          </a:bodyPr>
          <a:lstStyle>
            <a:defPPr>
              <a:defRPr lang="en-US"/>
            </a:defPPr>
            <a:lvl1pPr indent="0" algn="just">
              <a:lnSpc>
                <a:spcPct val="114000"/>
              </a:lnSpc>
              <a:spcBef>
                <a:spcPts val="500"/>
              </a:spcBef>
              <a:buClr>
                <a:schemeClr val="bg1"/>
              </a:buClr>
              <a:buSzPct val="100000"/>
              <a:buFontTx/>
              <a:buNone/>
              <a:defRPr sz="1300">
                <a:solidFill>
                  <a:schemeClr val="tx1">
                    <a:lumMod val="75000"/>
                    <a:lumOff val="25000"/>
                  </a:schemeClr>
                </a:solidFill>
                <a:latin typeface="Segoe UI Variable Display" pitchFamily="2" charset="0"/>
              </a:defRPr>
            </a:lvl1pPr>
            <a:lvl2pPr marL="119063" indent="-119063">
              <a:lnSpc>
                <a:spcPct val="90000"/>
              </a:lnSpc>
              <a:spcBef>
                <a:spcPts val="500"/>
              </a:spcBef>
              <a:buClr>
                <a:schemeClr val="bg1"/>
              </a:buClr>
              <a:buSzPct val="100000"/>
              <a:buFontTx/>
              <a:buChar char="‬"/>
              <a:defRPr sz="1600">
                <a:latin typeface="Segoe UI Variable Display" pitchFamily="2" charset="0"/>
              </a:defRPr>
            </a:lvl2pPr>
            <a:lvl3pPr marL="0" indent="0">
              <a:lnSpc>
                <a:spcPct val="90000"/>
              </a:lnSpc>
              <a:spcBef>
                <a:spcPts val="500"/>
              </a:spcBef>
              <a:buClr>
                <a:schemeClr val="bg1"/>
              </a:buClr>
              <a:buSzPct val="100000"/>
              <a:buFontTx/>
              <a:buChar char="‬"/>
              <a:defRPr sz="1400">
                <a:latin typeface="Segoe UI Variable Display" pitchFamily="2" charset="0"/>
              </a:defRPr>
            </a:lvl3pPr>
            <a:lvl4pPr marL="169862" indent="0">
              <a:lnSpc>
                <a:spcPct val="90000"/>
              </a:lnSpc>
              <a:spcBef>
                <a:spcPts val="500"/>
              </a:spcBef>
              <a:buClr>
                <a:schemeClr val="bg1"/>
              </a:buClr>
              <a:buSzPct val="100000"/>
              <a:buFontTx/>
              <a:buChar char="‬"/>
              <a:defRPr sz="1200">
                <a:latin typeface="Segoe UI Variable Display" pitchFamily="2" charset="0"/>
              </a:defRPr>
            </a:lvl4pPr>
            <a:lvl5pPr marL="169863" indent="0">
              <a:lnSpc>
                <a:spcPct val="90000"/>
              </a:lnSpc>
              <a:spcBef>
                <a:spcPts val="500"/>
              </a:spcBef>
              <a:buClr>
                <a:schemeClr val="bg1"/>
              </a:buClr>
              <a:buSzPct val="100000"/>
              <a:buFontTx/>
              <a:buChar char="‬"/>
              <a:defRPr sz="1100">
                <a:latin typeface="Segoe UI Variable Display" pitchFamily="2"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just" defTabSz="914400" rtl="0" eaLnBrk="1" fontAlgn="auto" latinLnBrk="0" hangingPunct="1">
              <a:lnSpc>
                <a:spcPct val="114000"/>
              </a:lnSpc>
              <a:spcBef>
                <a:spcPts val="500"/>
              </a:spcBef>
              <a:spcAft>
                <a:spcPts val="0"/>
              </a:spcAft>
              <a:buClrTx/>
              <a:buSzTx/>
              <a:buFontTx/>
              <a:buNone/>
              <a:tabLst/>
              <a:defRPr/>
            </a:pPr>
            <a:r>
              <a:rPr kumimoji="0" lang="en-US" sz="1300" b="1" i="0" u="none" strike="noStrike" kern="1200" cap="none" spc="0" normalizeH="0" baseline="0" noProof="0" dirty="0">
                <a:ln>
                  <a:noFill/>
                </a:ln>
                <a:solidFill>
                  <a:srgbClr val="C00000"/>
                </a:solidFill>
                <a:effectLst/>
                <a:uLnTx/>
                <a:uFillTx/>
                <a:latin typeface="Segoe UI Variable Display" pitchFamily="2" charset="0"/>
                <a:ea typeface="+mn-ea"/>
                <a:cs typeface="+mn-cs"/>
              </a:rPr>
              <a:t>Four out of five major Vietnamese brands have expanded beyond Vietnam</a:t>
            </a:r>
            <a:r>
              <a:rPr kumimoji="0" lang="en-US" sz="1300" b="0" i="0" u="none" strike="noStrike" kern="1200" cap="none" spc="0" normalizeH="0" baseline="0" noProof="0" dirty="0">
                <a:ln>
                  <a:noFill/>
                </a:ln>
                <a:solidFill>
                  <a:prstClr val="black">
                    <a:lumMod val="75000"/>
                    <a:lumOff val="25000"/>
                  </a:prstClr>
                </a:solidFill>
                <a:effectLst/>
                <a:uLnTx/>
                <a:uFillTx/>
                <a:latin typeface="Segoe UI Variable Display" pitchFamily="2" charset="0"/>
                <a:ea typeface="+mn-ea"/>
                <a:cs typeface="+mn-cs"/>
              </a:rPr>
              <a:t>, into Southeast Asia and North America. </a:t>
            </a:r>
          </a:p>
          <a:p>
            <a:pPr marL="0" marR="0" lvl="0" indent="0" algn="just" defTabSz="914400" rtl="0" eaLnBrk="1" fontAlgn="auto" latinLnBrk="0" hangingPunct="1">
              <a:lnSpc>
                <a:spcPct val="114000"/>
              </a:lnSpc>
              <a:spcBef>
                <a:spcPts val="500"/>
              </a:spcBef>
              <a:spcAft>
                <a:spcPts val="0"/>
              </a:spcAft>
              <a:buClrTx/>
              <a:buSzTx/>
              <a:buFontTx/>
              <a:buNone/>
              <a:tabLst/>
              <a:defRPr/>
            </a:pPr>
            <a:r>
              <a:rPr kumimoji="0" lang="en-US" sz="1300" b="0" i="0" u="none" strike="noStrike" kern="1200" cap="none" spc="0" normalizeH="0" baseline="0" noProof="0" dirty="0">
                <a:ln>
                  <a:noFill/>
                </a:ln>
                <a:solidFill>
                  <a:prstClr val="black">
                    <a:lumMod val="75000"/>
                    <a:lumOff val="25000"/>
                  </a:prstClr>
                </a:solidFill>
                <a:effectLst/>
                <a:uLnTx/>
                <a:uFillTx/>
                <a:latin typeface="Segoe UI Variable Display" pitchFamily="2" charset="0"/>
                <a:ea typeface="+mn-ea"/>
                <a:cs typeface="+mn-cs"/>
              </a:rPr>
              <a:t>Competition </a:t>
            </a:r>
            <a:r>
              <a:rPr kumimoji="0" lang="en-US" sz="1300" b="0" i="0" u="none" strike="noStrike" kern="1200" cap="none" spc="0" normalizeH="0" baseline="0" noProof="0" dirty="0">
                <a:ln>
                  <a:noFill/>
                </a:ln>
                <a:solidFill>
                  <a:prstClr val="black"/>
                </a:solidFill>
                <a:effectLst/>
                <a:uLnTx/>
                <a:uFillTx/>
                <a:latin typeface="Segoe UI Variable Display" pitchFamily="2" charset="0"/>
                <a:ea typeface="+mn-ea"/>
                <a:cs typeface="+mn-cs"/>
              </a:rPr>
              <a:t>is </a:t>
            </a:r>
            <a:r>
              <a:rPr kumimoji="0" lang="en-US" sz="1300" b="1" i="0" u="none" strike="noStrike" kern="1200" cap="none" spc="0" normalizeH="0" baseline="0" noProof="0" dirty="0">
                <a:ln>
                  <a:noFill/>
                </a:ln>
                <a:solidFill>
                  <a:srgbClr val="C00000"/>
                </a:solidFill>
                <a:effectLst/>
                <a:uLnTx/>
                <a:uFillTx/>
                <a:latin typeface="Segoe UI Variable Display" pitchFamily="2" charset="0"/>
                <a:ea typeface="+mn-ea"/>
                <a:cs typeface="+mn-cs"/>
              </a:rPr>
              <a:t>driven by product quality, menu variety, and experiential store design</a:t>
            </a:r>
            <a:r>
              <a:rPr kumimoji="0" lang="en-US" sz="1300" b="0" i="0" u="none" strike="noStrike" kern="1200" cap="none" spc="0" normalizeH="0" baseline="0" noProof="0" dirty="0">
                <a:ln>
                  <a:noFill/>
                </a:ln>
                <a:solidFill>
                  <a:prstClr val="black">
                    <a:lumMod val="75000"/>
                    <a:lumOff val="25000"/>
                  </a:prstClr>
                </a:solidFill>
                <a:effectLst/>
                <a:uLnTx/>
                <a:uFillTx/>
                <a:latin typeface="Segoe UI Variable Display" pitchFamily="2" charset="0"/>
                <a:ea typeface="+mn-ea"/>
                <a:cs typeface="+mn-cs"/>
              </a:rPr>
              <a:t>, with a heavy focus on </a:t>
            </a:r>
            <a:r>
              <a:rPr kumimoji="0" lang="en-US" sz="1300" b="1" i="0" u="none" strike="noStrike" kern="1200" cap="none" spc="0" normalizeH="0" baseline="0" noProof="0" dirty="0">
                <a:ln>
                  <a:noFill/>
                </a:ln>
                <a:solidFill>
                  <a:srgbClr val="C00000"/>
                </a:solidFill>
                <a:effectLst/>
                <a:uLnTx/>
                <a:uFillTx/>
                <a:latin typeface="Segoe UI Variable Display" pitchFamily="2" charset="0"/>
                <a:ea typeface="+mn-ea"/>
                <a:cs typeface="+mn-cs"/>
              </a:rPr>
              <a:t>Gen Y and Gen Z</a:t>
            </a:r>
            <a:r>
              <a:rPr kumimoji="0" lang="en-US" sz="1300" b="1" i="0" u="none" strike="noStrike" kern="1200" cap="none" spc="0" normalizeH="0" baseline="0" noProof="0" dirty="0">
                <a:ln>
                  <a:noFill/>
                </a:ln>
                <a:solidFill>
                  <a:prstClr val="black"/>
                </a:solidFill>
                <a:effectLst/>
                <a:uLnTx/>
                <a:uFillTx/>
                <a:latin typeface="Segoe UI Variable Display" pitchFamily="2" charset="0"/>
                <a:ea typeface="+mn-ea"/>
                <a:cs typeface="+mn-cs"/>
              </a:rPr>
              <a:t> </a:t>
            </a:r>
            <a:r>
              <a:rPr kumimoji="0" lang="en-US" sz="1300" b="0" i="0" u="none" strike="noStrike" kern="1200" cap="none" spc="0" normalizeH="0" baseline="0" noProof="0" dirty="0">
                <a:ln>
                  <a:noFill/>
                </a:ln>
                <a:solidFill>
                  <a:prstClr val="black">
                    <a:lumMod val="75000"/>
                    <a:lumOff val="25000"/>
                  </a:prstClr>
                </a:solidFill>
                <a:effectLst/>
                <a:uLnTx/>
                <a:uFillTx/>
                <a:latin typeface="Segoe UI Variable Display" pitchFamily="2" charset="0"/>
                <a:ea typeface="+mn-ea"/>
                <a:cs typeface="+mn-cs"/>
              </a:rPr>
              <a:t>as core customer segments. Starbucks and Trung Nguyen stand out with premium and creative offerings, attracting the young and businessmen with high disposable income.</a:t>
            </a:r>
          </a:p>
        </p:txBody>
      </p:sp>
      <p:sp>
        <p:nvSpPr>
          <p:cNvPr id="8" name="Content Placeholder 2">
            <a:extLst>
              <a:ext uri="{FF2B5EF4-FFF2-40B4-BE49-F238E27FC236}">
                <a16:creationId xmlns:a16="http://schemas.microsoft.com/office/drawing/2014/main" id="{F1A07E2E-FF46-AED3-AE92-22B2DA6347BB}"/>
              </a:ext>
            </a:extLst>
          </p:cNvPr>
          <p:cNvSpPr txBox="1">
            <a:spLocks/>
          </p:cNvSpPr>
          <p:nvPr/>
        </p:nvSpPr>
        <p:spPr>
          <a:xfrm>
            <a:off x="838198" y="1442595"/>
            <a:ext cx="1385234" cy="923270"/>
          </a:xfrm>
          <a:prstGeom prst="rect">
            <a:avLst/>
          </a:prstGeom>
        </p:spPr>
        <p:txBody>
          <a:bodyPr vert="horz" lIns="91440" tIns="45720" rIns="91440" bIns="45720" rtlCol="0">
            <a:normAutofit/>
          </a:bodyPr>
          <a:lstStyle>
            <a:lvl1pPr marL="0" indent="0" algn="l" defTabSz="914400" rtl="0" eaLnBrk="1" latinLnBrk="0" hangingPunct="1">
              <a:lnSpc>
                <a:spcPct val="114000"/>
              </a:lnSpc>
              <a:spcBef>
                <a:spcPts val="300"/>
              </a:spcBef>
              <a:buClr>
                <a:schemeClr val="bg1"/>
              </a:buClr>
              <a:buSzPct val="25000"/>
              <a:buFontTx/>
              <a:buNone/>
              <a:defRPr sz="1800" kern="1200">
                <a:solidFill>
                  <a:srgbClr val="C00000"/>
                </a:solidFill>
                <a:latin typeface="+mn-lt"/>
                <a:ea typeface="+mn-ea"/>
                <a:cs typeface="+mn-cs"/>
              </a:defRPr>
            </a:lvl1pPr>
            <a:lvl2pPr marL="0" indent="0" algn="l" defTabSz="914400" rtl="0" eaLnBrk="1" latinLnBrk="0" hangingPunct="1">
              <a:lnSpc>
                <a:spcPct val="114000"/>
              </a:lnSpc>
              <a:spcBef>
                <a:spcPts val="300"/>
              </a:spcBef>
              <a:buClr>
                <a:schemeClr val="bg1"/>
              </a:buClr>
              <a:buSzPct val="25000"/>
              <a:buFontTx/>
              <a:buNone/>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114000"/>
              </a:lnSpc>
              <a:spcBef>
                <a:spcPts val="300"/>
              </a:spcBef>
              <a:buClr>
                <a:schemeClr val="bg1"/>
              </a:buClr>
              <a:buSzPct val="25000"/>
              <a:buFontTx/>
              <a:buNone/>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114000"/>
              </a:lnSpc>
              <a:spcBef>
                <a:spcPts val="300"/>
              </a:spcBef>
              <a:buClr>
                <a:schemeClr val="bg1"/>
              </a:buClr>
              <a:buSzPct val="25000"/>
              <a:buFontTx/>
              <a:buNone/>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114000"/>
              </a:lnSpc>
              <a:spcBef>
                <a:spcPts val="300"/>
              </a:spcBef>
              <a:buClr>
                <a:schemeClr val="bg1"/>
              </a:buClr>
              <a:buSzPct val="25000"/>
              <a:buFontTx/>
              <a:buNone/>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Key </a:t>
            </a:r>
          </a:p>
          <a:p>
            <a:r>
              <a:rPr lang="en-US" sz="2000" dirty="0"/>
              <a:t>Insights</a:t>
            </a:r>
          </a:p>
        </p:txBody>
      </p:sp>
      <p:sp>
        <p:nvSpPr>
          <p:cNvPr id="11" name="Slide Number Placeholder 10">
            <a:extLst>
              <a:ext uri="{FF2B5EF4-FFF2-40B4-BE49-F238E27FC236}">
                <a16:creationId xmlns:a16="http://schemas.microsoft.com/office/drawing/2014/main" id="{1FDB6E37-2A90-DB7F-CF00-5D6DBF157EC2}"/>
              </a:ext>
            </a:extLst>
          </p:cNvPr>
          <p:cNvSpPr>
            <a:spLocks noGrp="1"/>
          </p:cNvSpPr>
          <p:nvPr>
            <p:ph type="sldNum" sz="quarter" idx="12"/>
          </p:nvPr>
        </p:nvSpPr>
        <p:spPr/>
        <p:txBody>
          <a:bodyPr/>
          <a:lstStyle/>
          <a:p>
            <a:fld id="{2D2776A3-3430-4A99-9DCB-D67D51D6910E}" type="slidenum">
              <a:rPr lang="en-US" smtClean="0"/>
              <a:t>5</a:t>
            </a:fld>
            <a:endParaRPr lang="en-US"/>
          </a:p>
        </p:txBody>
      </p:sp>
    </p:spTree>
    <p:extLst>
      <p:ext uri="{BB962C8B-B14F-4D97-AF65-F5344CB8AC3E}">
        <p14:creationId xmlns:p14="http://schemas.microsoft.com/office/powerpoint/2010/main" val="38186783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A7DCE3-859D-DFC8-89BD-B6AAF900A8A8}"/>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Segoe UI Semibold"/>
                <a:ea typeface="+mj-ea"/>
                <a:cs typeface="+mj-cs"/>
              </a:rPr>
              <a:t>Structure of </a:t>
            </a:r>
            <a:r>
              <a:rPr lang="en-US" dirty="0">
                <a:solidFill>
                  <a:prstClr val="black"/>
                </a:solidFill>
                <a:latin typeface="Segoe UI Semibold"/>
              </a:rPr>
              <a:t>Respondent Demographics</a:t>
            </a:r>
            <a:endParaRPr lang="en-US" dirty="0"/>
          </a:p>
        </p:txBody>
      </p:sp>
      <p:sp>
        <p:nvSpPr>
          <p:cNvPr id="4" name="Slide Number Placeholder 3">
            <a:extLst>
              <a:ext uri="{FF2B5EF4-FFF2-40B4-BE49-F238E27FC236}">
                <a16:creationId xmlns:a16="http://schemas.microsoft.com/office/drawing/2014/main" id="{37B5C03D-39DE-5A4A-8C8E-58C7FE97994B}"/>
              </a:ext>
            </a:extLst>
          </p:cNvPr>
          <p:cNvSpPr>
            <a:spLocks noGrp="1"/>
          </p:cNvSpPr>
          <p:nvPr>
            <p:ph type="sldNum" sz="quarter" idx="12"/>
          </p:nvPr>
        </p:nvSpPr>
        <p:spPr/>
        <p:txBody>
          <a:bodyPr/>
          <a:lstStyle/>
          <a:p>
            <a:fld id="{2D2776A3-3430-4A99-9DCB-D67D51D6910E}" type="slidenum">
              <a:rPr lang="en-US" smtClean="0"/>
              <a:t>6</a:t>
            </a:fld>
            <a:endParaRPr lang="en-US"/>
          </a:p>
        </p:txBody>
      </p:sp>
      <p:sp>
        <p:nvSpPr>
          <p:cNvPr id="13" name="Content Placeholder 12">
            <a:extLst>
              <a:ext uri="{FF2B5EF4-FFF2-40B4-BE49-F238E27FC236}">
                <a16:creationId xmlns:a16="http://schemas.microsoft.com/office/drawing/2014/main" id="{61A2CB57-E93A-A1DD-29E0-DCD3E52076FA}"/>
              </a:ext>
            </a:extLst>
          </p:cNvPr>
          <p:cNvSpPr>
            <a:spLocks noGrp="1"/>
          </p:cNvSpPr>
          <p:nvPr>
            <p:ph sz="half" idx="13"/>
          </p:nvPr>
        </p:nvSpPr>
        <p:spPr>
          <a:xfrm>
            <a:off x="838200" y="1330644"/>
            <a:ext cx="5002731" cy="590704"/>
          </a:xfrm>
        </p:spPr>
        <p:txBody>
          <a:bodyPr/>
          <a:lstStyle/>
          <a:p>
            <a:r>
              <a:rPr lang="en-US" dirty="0"/>
              <a:t>The primary data were collected from 3,549 respondents, with 58% from Ho Chi Minh City and Hanoi. </a:t>
            </a:r>
          </a:p>
        </p:txBody>
      </p:sp>
      <p:sp>
        <p:nvSpPr>
          <p:cNvPr id="15" name="Content Placeholder 14">
            <a:extLst>
              <a:ext uri="{FF2B5EF4-FFF2-40B4-BE49-F238E27FC236}">
                <a16:creationId xmlns:a16="http://schemas.microsoft.com/office/drawing/2014/main" id="{C85461B3-28A0-F5B0-A93E-3CBC2BE426B8}"/>
              </a:ext>
            </a:extLst>
          </p:cNvPr>
          <p:cNvSpPr>
            <a:spLocks noGrp="1"/>
          </p:cNvSpPr>
          <p:nvPr>
            <p:ph sz="half" idx="15"/>
          </p:nvPr>
        </p:nvSpPr>
        <p:spPr>
          <a:xfrm>
            <a:off x="6351067" y="1330644"/>
            <a:ext cx="5002731" cy="393226"/>
          </a:xfrm>
        </p:spPr>
        <p:txBody>
          <a:bodyPr/>
          <a:lstStyle/>
          <a:p>
            <a:endParaRPr lang="en-US"/>
          </a:p>
        </p:txBody>
      </p:sp>
      <p:sp>
        <p:nvSpPr>
          <p:cNvPr id="30" name="Content Placeholder 29">
            <a:extLst>
              <a:ext uri="{FF2B5EF4-FFF2-40B4-BE49-F238E27FC236}">
                <a16:creationId xmlns:a16="http://schemas.microsoft.com/office/drawing/2014/main" id="{D6F005BF-FC2A-FD8F-20EA-99A277DBF692}"/>
              </a:ext>
            </a:extLst>
          </p:cNvPr>
          <p:cNvSpPr>
            <a:spLocks noGrp="1"/>
          </p:cNvSpPr>
          <p:nvPr>
            <p:ph sz="half" idx="14"/>
          </p:nvPr>
        </p:nvSpPr>
        <p:spPr/>
        <p:txBody>
          <a:bodyPr/>
          <a:lstStyle/>
          <a:p>
            <a:endParaRPr lang="en-US" dirty="0"/>
          </a:p>
        </p:txBody>
      </p:sp>
      <p:graphicFrame>
        <p:nvGraphicFramePr>
          <p:cNvPr id="40" name="Chart 39">
            <a:extLst>
              <a:ext uri="{FF2B5EF4-FFF2-40B4-BE49-F238E27FC236}">
                <a16:creationId xmlns:a16="http://schemas.microsoft.com/office/drawing/2014/main" id="{0DAAC606-4589-B3DA-84DC-D8E4B481394B}"/>
              </a:ext>
            </a:extLst>
          </p:cNvPr>
          <p:cNvGraphicFramePr>
            <a:graphicFrameLocks/>
          </p:cNvGraphicFramePr>
          <p:nvPr>
            <p:extLst>
              <p:ext uri="{D42A27DB-BD31-4B8C-83A1-F6EECF244321}">
                <p14:modId xmlns:p14="http://schemas.microsoft.com/office/powerpoint/2010/main" val="1245915061"/>
              </p:ext>
            </p:extLst>
          </p:nvPr>
        </p:nvGraphicFramePr>
        <p:xfrm>
          <a:off x="708852" y="1907958"/>
          <a:ext cx="1758124" cy="221954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3" name="Chart 42">
            <a:extLst>
              <a:ext uri="{FF2B5EF4-FFF2-40B4-BE49-F238E27FC236}">
                <a16:creationId xmlns:a16="http://schemas.microsoft.com/office/drawing/2014/main" id="{795B0F63-AD46-0DD7-D8EC-473F3C6C7D25}"/>
              </a:ext>
            </a:extLst>
          </p:cNvPr>
          <p:cNvGraphicFramePr>
            <a:graphicFrameLocks/>
          </p:cNvGraphicFramePr>
          <p:nvPr>
            <p:extLst>
              <p:ext uri="{D42A27DB-BD31-4B8C-83A1-F6EECF244321}">
                <p14:modId xmlns:p14="http://schemas.microsoft.com/office/powerpoint/2010/main" val="3082194447"/>
              </p:ext>
            </p:extLst>
          </p:nvPr>
        </p:nvGraphicFramePr>
        <p:xfrm>
          <a:off x="2590298" y="1917031"/>
          <a:ext cx="2343652" cy="2219541"/>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Chart 6">
            <a:extLst>
              <a:ext uri="{FF2B5EF4-FFF2-40B4-BE49-F238E27FC236}">
                <a16:creationId xmlns:a16="http://schemas.microsoft.com/office/drawing/2014/main" id="{5E361E6B-18E5-F88B-D23D-70CC26A453C4}"/>
              </a:ext>
            </a:extLst>
          </p:cNvPr>
          <p:cNvGraphicFramePr>
            <a:graphicFrameLocks/>
          </p:cNvGraphicFramePr>
          <p:nvPr>
            <p:extLst>
              <p:ext uri="{D42A27DB-BD31-4B8C-83A1-F6EECF244321}">
                <p14:modId xmlns:p14="http://schemas.microsoft.com/office/powerpoint/2010/main" val="3429264119"/>
              </p:ext>
            </p:extLst>
          </p:nvPr>
        </p:nvGraphicFramePr>
        <p:xfrm>
          <a:off x="4933950" y="2113474"/>
          <a:ext cx="3352800" cy="1963103"/>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7649170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3A57E-2F0D-3F78-E7EE-2CCA1195DB46}"/>
              </a:ext>
            </a:extLst>
          </p:cNvPr>
          <p:cNvSpPr>
            <a:spLocks noGrp="1"/>
          </p:cNvSpPr>
          <p:nvPr>
            <p:ph type="title"/>
          </p:nvPr>
        </p:nvSpPr>
        <p:spPr/>
        <p:txBody>
          <a:bodyPr/>
          <a:lstStyle/>
          <a:p>
            <a:r>
              <a:rPr lang="en-US" dirty="0"/>
              <a:t>Customer Segmentation</a:t>
            </a:r>
          </a:p>
        </p:txBody>
      </p:sp>
      <p:sp>
        <p:nvSpPr>
          <p:cNvPr id="4" name="Slide Number Placeholder 3">
            <a:extLst>
              <a:ext uri="{FF2B5EF4-FFF2-40B4-BE49-F238E27FC236}">
                <a16:creationId xmlns:a16="http://schemas.microsoft.com/office/drawing/2014/main" id="{7409ACC3-4E17-74FC-BA50-9F3E6945A826}"/>
              </a:ext>
            </a:extLst>
          </p:cNvPr>
          <p:cNvSpPr>
            <a:spLocks noGrp="1"/>
          </p:cNvSpPr>
          <p:nvPr>
            <p:ph type="sldNum" sz="quarter" idx="12"/>
          </p:nvPr>
        </p:nvSpPr>
        <p:spPr/>
        <p:txBody>
          <a:bodyPr/>
          <a:lstStyle/>
          <a:p>
            <a:fld id="{2D2776A3-3430-4A99-9DCB-D67D51D6910E}" type="slidenum">
              <a:rPr lang="en-US" smtClean="0"/>
              <a:t>7</a:t>
            </a:fld>
            <a:endParaRPr lang="en-US" dirty="0"/>
          </a:p>
        </p:txBody>
      </p:sp>
      <p:sp>
        <p:nvSpPr>
          <p:cNvPr id="3" name="Content Placeholder 2">
            <a:extLst>
              <a:ext uri="{FF2B5EF4-FFF2-40B4-BE49-F238E27FC236}">
                <a16:creationId xmlns:a16="http://schemas.microsoft.com/office/drawing/2014/main" id="{CDC1865F-5F67-55ED-048A-F83E0A78EEBC}"/>
              </a:ext>
            </a:extLst>
          </p:cNvPr>
          <p:cNvSpPr>
            <a:spLocks noGrp="1"/>
          </p:cNvSpPr>
          <p:nvPr>
            <p:ph sz="half" idx="13"/>
          </p:nvPr>
        </p:nvSpPr>
        <p:spPr/>
        <p:txBody>
          <a:bodyPr>
            <a:normAutofit/>
          </a:bodyPr>
          <a:lstStyle/>
          <a:p>
            <a:r>
              <a:rPr lang="en-US" dirty="0"/>
              <a:t>Primary Customer Segment</a:t>
            </a:r>
          </a:p>
        </p:txBody>
      </p:sp>
      <p:sp>
        <p:nvSpPr>
          <p:cNvPr id="8" name="Content Placeholder 7">
            <a:extLst>
              <a:ext uri="{FF2B5EF4-FFF2-40B4-BE49-F238E27FC236}">
                <a16:creationId xmlns:a16="http://schemas.microsoft.com/office/drawing/2014/main" id="{40BFA85C-31E3-8AF0-2256-A9BC6CB84D4A}"/>
              </a:ext>
            </a:extLst>
          </p:cNvPr>
          <p:cNvSpPr>
            <a:spLocks noGrp="1"/>
          </p:cNvSpPr>
          <p:nvPr>
            <p:ph sz="half" idx="14"/>
          </p:nvPr>
        </p:nvSpPr>
        <p:spPr/>
        <p:txBody>
          <a:bodyPr>
            <a:normAutofit/>
          </a:bodyPr>
          <a:lstStyle/>
          <a:p>
            <a:pPr>
              <a:lnSpc>
                <a:spcPct val="100000"/>
              </a:lnSpc>
            </a:pPr>
            <a:r>
              <a:rPr lang="en-US" sz="900" i="1" dirty="0"/>
              <a:t>Method: K-means clustering analysis (n = 3,549).</a:t>
            </a:r>
          </a:p>
          <a:p>
            <a:pPr>
              <a:lnSpc>
                <a:spcPct val="100000"/>
              </a:lnSpc>
            </a:pPr>
            <a:r>
              <a:rPr lang="en-US" sz="900" i="1" dirty="0"/>
              <a:t>Feature: Age, occupation groups, monthly personal income (MPI) and need states.</a:t>
            </a:r>
          </a:p>
          <a:p>
            <a:pPr>
              <a:lnSpc>
                <a:spcPct val="100000"/>
              </a:lnSpc>
            </a:pPr>
            <a:r>
              <a:rPr lang="en-US" sz="900" i="1" dirty="0"/>
              <a:t>Justification: These features are most relevant to identify segments’ personas.</a:t>
            </a:r>
          </a:p>
        </p:txBody>
      </p:sp>
      <p:graphicFrame>
        <p:nvGraphicFramePr>
          <p:cNvPr id="12" name="Table 11">
            <a:extLst>
              <a:ext uri="{FF2B5EF4-FFF2-40B4-BE49-F238E27FC236}">
                <a16:creationId xmlns:a16="http://schemas.microsoft.com/office/drawing/2014/main" id="{E1E242AF-931C-B228-A0CE-CCA3E3D6C386}"/>
              </a:ext>
            </a:extLst>
          </p:cNvPr>
          <p:cNvGraphicFramePr>
            <a:graphicFrameLocks noGrp="1"/>
          </p:cNvGraphicFramePr>
          <p:nvPr>
            <p:extLst>
              <p:ext uri="{D42A27DB-BD31-4B8C-83A1-F6EECF244321}">
                <p14:modId xmlns:p14="http://schemas.microsoft.com/office/powerpoint/2010/main" val="2206421525"/>
              </p:ext>
            </p:extLst>
          </p:nvPr>
        </p:nvGraphicFramePr>
        <p:xfrm>
          <a:off x="838199" y="2566100"/>
          <a:ext cx="10515600" cy="3610864"/>
        </p:xfrm>
        <a:graphic>
          <a:graphicData uri="http://schemas.openxmlformats.org/drawingml/2006/table">
            <a:tbl>
              <a:tblPr firstRow="1" bandRow="1">
                <a:tableStyleId>{D7AC3CCA-C797-4891-BE02-D94E43425B78}</a:tableStyleId>
              </a:tblPr>
              <a:tblGrid>
                <a:gridCol w="5257800">
                  <a:extLst>
                    <a:ext uri="{9D8B030D-6E8A-4147-A177-3AD203B41FA5}">
                      <a16:colId xmlns:a16="http://schemas.microsoft.com/office/drawing/2014/main" val="3096538457"/>
                    </a:ext>
                  </a:extLst>
                </a:gridCol>
                <a:gridCol w="5257800">
                  <a:extLst>
                    <a:ext uri="{9D8B030D-6E8A-4147-A177-3AD203B41FA5}">
                      <a16:colId xmlns:a16="http://schemas.microsoft.com/office/drawing/2014/main" val="1669963509"/>
                    </a:ext>
                  </a:extLst>
                </a:gridCol>
              </a:tblGrid>
              <a:tr h="1783557">
                <a:tc>
                  <a:txBody>
                    <a:bodyPr/>
                    <a:lstStyle/>
                    <a:p>
                      <a:pPr>
                        <a:lnSpc>
                          <a:spcPct val="114000"/>
                        </a:lnSpc>
                        <a:spcAft>
                          <a:spcPts val="300"/>
                        </a:spcAft>
                      </a:pPr>
                      <a:r>
                        <a:rPr lang="en-US" sz="1600" dirty="0">
                          <a:solidFill>
                            <a:schemeClr val="accent6">
                              <a:lumMod val="75000"/>
                            </a:schemeClr>
                          </a:solidFill>
                        </a:rPr>
                        <a:t>Social Seeker: 34%</a:t>
                      </a:r>
                    </a:p>
                    <a:p>
                      <a:pPr marL="171450" indent="-171450">
                        <a:lnSpc>
                          <a:spcPct val="120000"/>
                        </a:lnSpc>
                        <a:buFont typeface="Arial" panose="020B0604020202020204" pitchFamily="34" charset="0"/>
                        <a:buChar char="•"/>
                      </a:pPr>
                      <a:r>
                        <a:rPr lang="en-US" sz="1100" b="0" dirty="0">
                          <a:latin typeface="Segoe UI Variable Display Semib (Body)" pitchFamily="2" charset="0"/>
                        </a:rPr>
                        <a:t>Demographics: </a:t>
                      </a:r>
                      <a:r>
                        <a:rPr lang="en-US" sz="1100" b="0" dirty="0">
                          <a:latin typeface="Segoe UI Variable Display" pitchFamily="2" charset="0"/>
                        </a:rPr>
                        <a:t>20-39 years old (93%), middle income (100%), office workers, service and self-employed (73%).</a:t>
                      </a:r>
                    </a:p>
                    <a:p>
                      <a:pPr marL="171450" indent="-171450">
                        <a:lnSpc>
                          <a:spcPct val="120000"/>
                        </a:lnSpc>
                        <a:buFont typeface="Arial" panose="020B0604020202020204" pitchFamily="34" charset="0"/>
                        <a:buChar char="•"/>
                      </a:pPr>
                      <a:r>
                        <a:rPr lang="en-US" sz="1100" b="0" dirty="0">
                          <a:latin typeface="Segoe UI Variable Display Semib (Body)" pitchFamily="2" charset="0"/>
                        </a:rPr>
                        <a:t>Key behavior:  </a:t>
                      </a:r>
                      <a:r>
                        <a:rPr lang="en-US" sz="1100" b="0" dirty="0">
                          <a:latin typeface="Segoe UI Variable Display" pitchFamily="2" charset="0"/>
                        </a:rPr>
                        <a:t>Primarily drink coffee and socialize.</a:t>
                      </a:r>
                    </a:p>
                    <a:p>
                      <a:pPr marL="171450" indent="-171450">
                        <a:lnSpc>
                          <a:spcPct val="120000"/>
                        </a:lnSpc>
                        <a:buFont typeface="Arial" panose="020B0604020202020204" pitchFamily="34" charset="0"/>
                        <a:buChar char="•"/>
                      </a:pPr>
                      <a:r>
                        <a:rPr lang="en-US" sz="1100" b="0" dirty="0">
                          <a:latin typeface="Segoe UI Variable Display Semib (Body)" pitchFamily="2" charset="0"/>
                        </a:rPr>
                        <a:t>Preferred brands: </a:t>
                      </a:r>
                      <a:r>
                        <a:rPr lang="en-US" sz="1100" b="0" dirty="0">
                          <a:latin typeface="Segoe UI Variable Display" pitchFamily="2" charset="0"/>
                        </a:rPr>
                        <a:t>Major chains</a:t>
                      </a:r>
                    </a:p>
                    <a:p>
                      <a:pPr marL="171450" indent="-171450">
                        <a:lnSpc>
                          <a:spcPct val="120000"/>
                        </a:lnSpc>
                        <a:buFont typeface="Arial" panose="020B0604020202020204" pitchFamily="34" charset="0"/>
                        <a:buChar char="•"/>
                      </a:pPr>
                      <a:r>
                        <a:rPr lang="en-US" sz="1100" b="0" dirty="0">
                          <a:latin typeface="Segoe UI Variable Display Semib (Body)" pitchFamily="2" charset="0"/>
                        </a:rPr>
                        <a:t>Spend per visit: </a:t>
                      </a:r>
                      <a:r>
                        <a:rPr lang="en-US" sz="1100" b="0" dirty="0">
                          <a:latin typeface="Segoe UI Variable Display" pitchFamily="2" charset="0"/>
                        </a:rPr>
                        <a:t>~30,000 VND</a:t>
                      </a:r>
                    </a:p>
                    <a:p>
                      <a:pPr marL="171450" indent="-171450">
                        <a:lnSpc>
                          <a:spcPct val="120000"/>
                        </a:lnSpc>
                        <a:buFont typeface="Arial" panose="020B0604020202020204" pitchFamily="34" charset="0"/>
                        <a:buChar char="•"/>
                      </a:pPr>
                      <a:r>
                        <a:rPr lang="en-US" sz="1100" b="0" dirty="0">
                          <a:latin typeface="Segoe UI Variable Display Semib (Body)" pitchFamily="2" charset="0"/>
                        </a:rPr>
                        <a:t>Average visit frequency*: </a:t>
                      </a:r>
                      <a:r>
                        <a:rPr lang="en-US" sz="1100" b="0" dirty="0">
                          <a:latin typeface="Segoe UI Variable Display" pitchFamily="2" charset="0"/>
                        </a:rPr>
                        <a:t>7 visits</a:t>
                      </a:r>
                    </a:p>
                    <a:p>
                      <a:pPr marL="0" indent="0">
                        <a:lnSpc>
                          <a:spcPct val="114000"/>
                        </a:lnSpc>
                        <a:buFont typeface="Arial" panose="020B0604020202020204" pitchFamily="34" charset="0"/>
                        <a:buNone/>
                      </a:pPr>
                      <a:endParaRPr lang="en-US" sz="1200" b="0" dirty="0">
                        <a:latin typeface="Segoe UI Variable Display" pitchFamily="2" charset="0"/>
                      </a:endParaRP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latinLnBrk="0" hangingPunct="1">
                        <a:lnSpc>
                          <a:spcPct val="114000"/>
                        </a:lnSpc>
                        <a:spcAft>
                          <a:spcPts val="300"/>
                        </a:spcAft>
                      </a:pPr>
                      <a:r>
                        <a:rPr lang="en-US" sz="1600" b="1" kern="1200" dirty="0">
                          <a:solidFill>
                            <a:schemeClr val="tx2">
                              <a:lumMod val="75000"/>
                              <a:lumOff val="25000"/>
                            </a:schemeClr>
                          </a:solidFill>
                          <a:latin typeface="+mn-lt"/>
                          <a:ea typeface="+mn-ea"/>
                          <a:cs typeface="+mn-cs"/>
                        </a:rPr>
                        <a:t>Routine Consumers: 28%</a:t>
                      </a:r>
                    </a:p>
                    <a:p>
                      <a:pPr marL="171450" indent="-171450" algn="l" defTabSz="914400" rtl="0" eaLnBrk="1" latinLnBrk="0" hangingPunct="1">
                        <a:lnSpc>
                          <a:spcPct val="120000"/>
                        </a:lnSpc>
                        <a:buFont typeface="Arial" panose="020B0604020202020204" pitchFamily="34" charset="0"/>
                        <a:buChar char="•"/>
                      </a:pPr>
                      <a:r>
                        <a:rPr lang="en-US" sz="1100" b="0" kern="1200" dirty="0">
                          <a:solidFill>
                            <a:schemeClr val="dk1"/>
                          </a:solidFill>
                          <a:latin typeface="+mn-lt"/>
                          <a:ea typeface="+mn-ea"/>
                          <a:cs typeface="+mn-cs"/>
                        </a:rPr>
                        <a:t>Demographics: </a:t>
                      </a:r>
                      <a:r>
                        <a:rPr lang="en-US" sz="1100" b="0" kern="1200" dirty="0">
                          <a:solidFill>
                            <a:schemeClr val="dk1"/>
                          </a:solidFill>
                          <a:latin typeface="Segoe UI Variable Display" pitchFamily="2" charset="0"/>
                          <a:ea typeface="+mn-ea"/>
                          <a:cs typeface="+mn-cs"/>
                        </a:rPr>
                        <a:t>40-60 years old (98%), low to middle income (81%), retired, self-employed, service agriculture workers (79%).</a:t>
                      </a:r>
                    </a:p>
                    <a:p>
                      <a:pPr marL="171450" indent="-171450" algn="l" defTabSz="914400" rtl="0" eaLnBrk="1" latinLnBrk="0" hangingPunct="1">
                        <a:lnSpc>
                          <a:spcPct val="120000"/>
                        </a:lnSpc>
                        <a:buFont typeface="Arial" panose="020B0604020202020204" pitchFamily="34" charset="0"/>
                        <a:buChar char="•"/>
                      </a:pPr>
                      <a:r>
                        <a:rPr lang="en-US" sz="1100" b="0" kern="1200" dirty="0">
                          <a:solidFill>
                            <a:schemeClr val="dk1"/>
                          </a:solidFill>
                          <a:latin typeface="+mn-lt"/>
                          <a:ea typeface="+mn-ea"/>
                          <a:cs typeface="+mn-cs"/>
                        </a:rPr>
                        <a:t>Key behavior:  </a:t>
                      </a:r>
                      <a:r>
                        <a:rPr lang="en-US" sz="1100" b="0" kern="1200" dirty="0">
                          <a:solidFill>
                            <a:schemeClr val="dk1"/>
                          </a:solidFill>
                          <a:latin typeface="Segoe UI Variable Display" pitchFamily="2" charset="0"/>
                          <a:ea typeface="+mn-ea"/>
                          <a:cs typeface="+mn-cs"/>
                        </a:rPr>
                        <a:t>Primarily drink coffee and other products, and socialize</a:t>
                      </a:r>
                    </a:p>
                    <a:p>
                      <a:pPr marL="171450" indent="-171450" algn="l" defTabSz="914400" rtl="0" eaLnBrk="1" latinLnBrk="0" hangingPunct="1">
                        <a:lnSpc>
                          <a:spcPct val="120000"/>
                        </a:lnSpc>
                        <a:buFont typeface="Arial" panose="020B0604020202020204" pitchFamily="34" charset="0"/>
                        <a:buChar char="•"/>
                      </a:pPr>
                      <a:r>
                        <a:rPr lang="en-US" sz="1100" b="0" kern="1200" dirty="0">
                          <a:solidFill>
                            <a:schemeClr val="dk1"/>
                          </a:solidFill>
                          <a:latin typeface="+mn-lt"/>
                          <a:ea typeface="+mn-ea"/>
                          <a:cs typeface="+mn-cs"/>
                        </a:rPr>
                        <a:t>Preferred brands: </a:t>
                      </a:r>
                      <a:r>
                        <a:rPr lang="en-US" sz="1100" b="0" kern="1200" dirty="0">
                          <a:solidFill>
                            <a:schemeClr val="dk1"/>
                          </a:solidFill>
                          <a:latin typeface="Segoe UI Variable Display" pitchFamily="2" charset="0"/>
                          <a:ea typeface="+mn-ea"/>
                          <a:cs typeface="+mn-cs"/>
                        </a:rPr>
                        <a:t>Street coffee shops</a:t>
                      </a:r>
                    </a:p>
                    <a:p>
                      <a:pPr marL="171450" indent="-171450" algn="l" defTabSz="914400" rtl="0" eaLnBrk="1" latinLnBrk="0" hangingPunct="1">
                        <a:lnSpc>
                          <a:spcPct val="120000"/>
                        </a:lnSpc>
                        <a:buFont typeface="Arial" panose="020B0604020202020204" pitchFamily="34" charset="0"/>
                        <a:buChar char="•"/>
                      </a:pPr>
                      <a:r>
                        <a:rPr lang="en-US" sz="1100" b="0" kern="1200" dirty="0">
                          <a:solidFill>
                            <a:schemeClr val="dk1"/>
                          </a:solidFill>
                          <a:latin typeface="+mn-lt"/>
                          <a:ea typeface="+mn-ea"/>
                          <a:cs typeface="+mn-cs"/>
                        </a:rPr>
                        <a:t>Spend per visit: </a:t>
                      </a:r>
                      <a:r>
                        <a:rPr lang="en-US" sz="1100" b="0" kern="1200" dirty="0">
                          <a:solidFill>
                            <a:schemeClr val="dk1"/>
                          </a:solidFill>
                          <a:latin typeface="Segoe UI Variable Display" pitchFamily="2" charset="0"/>
                          <a:ea typeface="+mn-ea"/>
                          <a:cs typeface="+mn-cs"/>
                        </a:rPr>
                        <a:t>~23,000 VND</a:t>
                      </a:r>
                    </a:p>
                    <a:p>
                      <a:pPr marL="171450" indent="-171450" algn="l" defTabSz="914400" rtl="0" eaLnBrk="1" latinLnBrk="0" hangingPunct="1">
                        <a:lnSpc>
                          <a:spcPct val="120000"/>
                        </a:lnSpc>
                        <a:buFont typeface="Arial" panose="020B0604020202020204" pitchFamily="34" charset="0"/>
                        <a:buChar char="•"/>
                      </a:pPr>
                      <a:r>
                        <a:rPr lang="en-US" sz="1100" b="0" kern="1200" dirty="0">
                          <a:solidFill>
                            <a:schemeClr val="dk1"/>
                          </a:solidFill>
                          <a:latin typeface="+mn-lt"/>
                          <a:ea typeface="+mn-ea"/>
                          <a:cs typeface="+mn-cs"/>
                        </a:rPr>
                        <a:t>Average visit frequency*: </a:t>
                      </a:r>
                      <a:r>
                        <a:rPr lang="en-US" sz="1100" b="0" kern="1200" dirty="0">
                          <a:solidFill>
                            <a:schemeClr val="dk1"/>
                          </a:solidFill>
                          <a:latin typeface="Segoe UI Variable Display" pitchFamily="2" charset="0"/>
                          <a:ea typeface="+mn-ea"/>
                          <a:cs typeface="+mn-cs"/>
                        </a:rPr>
                        <a:t>10 visits</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6576937"/>
                  </a:ext>
                </a:extLst>
              </a:tr>
              <a:tr h="1783557">
                <a:tc>
                  <a:txBody>
                    <a:bodyPr/>
                    <a:lstStyle/>
                    <a:p>
                      <a:pPr marL="0" algn="l" defTabSz="914400" rtl="0" eaLnBrk="1" latinLnBrk="0" hangingPunct="1">
                        <a:lnSpc>
                          <a:spcPct val="114000"/>
                        </a:lnSpc>
                        <a:spcAft>
                          <a:spcPts val="300"/>
                        </a:spcAft>
                      </a:pPr>
                      <a:r>
                        <a:rPr lang="en-US" sz="1600" b="1" kern="1200" dirty="0">
                          <a:solidFill>
                            <a:schemeClr val="accent2">
                              <a:lumMod val="75000"/>
                            </a:schemeClr>
                          </a:solidFill>
                          <a:latin typeface="+mn-lt"/>
                          <a:ea typeface="+mn-ea"/>
                          <a:cs typeface="+mn-cs"/>
                        </a:rPr>
                        <a:t>Quality-first Consumers: 26%</a:t>
                      </a:r>
                    </a:p>
                    <a:p>
                      <a:pPr marL="171450" indent="-171450" algn="l" defTabSz="914400" rtl="0" eaLnBrk="1" latinLnBrk="0" hangingPunct="1">
                        <a:lnSpc>
                          <a:spcPct val="120000"/>
                        </a:lnSpc>
                        <a:buFont typeface="Arial" panose="020B0604020202020204" pitchFamily="34" charset="0"/>
                        <a:buChar char="•"/>
                      </a:pPr>
                      <a:r>
                        <a:rPr lang="en-US" sz="1100" b="0" kern="1200" dirty="0">
                          <a:solidFill>
                            <a:schemeClr val="dk1"/>
                          </a:solidFill>
                          <a:latin typeface="+mn-lt"/>
                          <a:ea typeface="+mn-ea"/>
                          <a:cs typeface="+mn-cs"/>
                        </a:rPr>
                        <a:t>Demographics: </a:t>
                      </a:r>
                      <a:r>
                        <a:rPr lang="en-US" sz="1100" b="0" kern="1200" dirty="0">
                          <a:solidFill>
                            <a:schemeClr val="dk1"/>
                          </a:solidFill>
                          <a:latin typeface="Segoe UI Variable Display" pitchFamily="2" charset="0"/>
                          <a:ea typeface="+mn-ea"/>
                          <a:cs typeface="+mn-cs"/>
                        </a:rPr>
                        <a:t>20-39 years old (86%) and 40-60 years old (14%), high income (97%), self-employed, office workers and professionals (80%).</a:t>
                      </a:r>
                    </a:p>
                    <a:p>
                      <a:pPr marL="171450" indent="-171450" algn="l" defTabSz="914400" rtl="0" eaLnBrk="1" latinLnBrk="0" hangingPunct="1">
                        <a:lnSpc>
                          <a:spcPct val="120000"/>
                        </a:lnSpc>
                        <a:buFont typeface="Arial" panose="020B0604020202020204" pitchFamily="34" charset="0"/>
                        <a:buChar char="•"/>
                      </a:pPr>
                      <a:r>
                        <a:rPr lang="en-US" sz="1100" b="0" kern="1200" dirty="0">
                          <a:solidFill>
                            <a:schemeClr val="dk1"/>
                          </a:solidFill>
                          <a:latin typeface="+mn-lt"/>
                          <a:ea typeface="+mn-ea"/>
                          <a:cs typeface="+mn-cs"/>
                        </a:rPr>
                        <a:t>Key behavior:  </a:t>
                      </a:r>
                      <a:r>
                        <a:rPr lang="en-US" sz="1100" b="0" kern="1200" dirty="0">
                          <a:solidFill>
                            <a:schemeClr val="dk1"/>
                          </a:solidFill>
                          <a:latin typeface="Segoe UI Variable Display" pitchFamily="2" charset="0"/>
                          <a:ea typeface="+mn-ea"/>
                          <a:cs typeface="+mn-cs"/>
                        </a:rPr>
                        <a:t>Drink coffee, socialize and entertain.</a:t>
                      </a:r>
                    </a:p>
                    <a:p>
                      <a:pPr marL="171450" indent="-171450" algn="l" defTabSz="914400" rtl="0" eaLnBrk="1" latinLnBrk="0" hangingPunct="1">
                        <a:lnSpc>
                          <a:spcPct val="120000"/>
                        </a:lnSpc>
                        <a:buFont typeface="Arial" panose="020B0604020202020204" pitchFamily="34" charset="0"/>
                        <a:buChar char="•"/>
                      </a:pPr>
                      <a:r>
                        <a:rPr lang="en-US" sz="1100" b="0" kern="1200" dirty="0">
                          <a:solidFill>
                            <a:schemeClr val="dk1"/>
                          </a:solidFill>
                          <a:latin typeface="+mn-lt"/>
                          <a:ea typeface="+mn-ea"/>
                          <a:cs typeface="+mn-cs"/>
                        </a:rPr>
                        <a:t>Preferred brands</a:t>
                      </a:r>
                      <a:r>
                        <a:rPr lang="en-US" sz="1100" b="0" kern="1200" dirty="0">
                          <a:solidFill>
                            <a:schemeClr val="dk1"/>
                          </a:solidFill>
                          <a:latin typeface="Segoe UI Variable Display" pitchFamily="2" charset="0"/>
                          <a:ea typeface="+mn-ea"/>
                          <a:cs typeface="+mn-cs"/>
                        </a:rPr>
                        <a:t>: Major chains</a:t>
                      </a:r>
                    </a:p>
                    <a:p>
                      <a:pPr marL="171450" indent="-171450" algn="l" defTabSz="914400" rtl="0" eaLnBrk="1" latinLnBrk="0" hangingPunct="1">
                        <a:lnSpc>
                          <a:spcPct val="120000"/>
                        </a:lnSpc>
                        <a:buFont typeface="Arial" panose="020B0604020202020204" pitchFamily="34" charset="0"/>
                        <a:buChar char="•"/>
                      </a:pPr>
                      <a:r>
                        <a:rPr lang="en-US" sz="1100" b="0" kern="1200" dirty="0">
                          <a:solidFill>
                            <a:schemeClr val="dk1"/>
                          </a:solidFill>
                          <a:latin typeface="+mn-lt"/>
                          <a:ea typeface="+mn-ea"/>
                          <a:cs typeface="+mn-cs"/>
                        </a:rPr>
                        <a:t>Spend per visit: </a:t>
                      </a:r>
                      <a:r>
                        <a:rPr lang="en-US" sz="1100" b="0" kern="1200" dirty="0">
                          <a:solidFill>
                            <a:schemeClr val="dk1"/>
                          </a:solidFill>
                          <a:latin typeface="Segoe UI Variable Display" pitchFamily="2" charset="0"/>
                          <a:ea typeface="+mn-ea"/>
                          <a:cs typeface="+mn-cs"/>
                        </a:rPr>
                        <a:t>~35,000 VND</a:t>
                      </a:r>
                    </a:p>
                    <a:p>
                      <a:pPr marL="171450" indent="-171450" algn="l" defTabSz="914400" rtl="0" eaLnBrk="1" latinLnBrk="0" hangingPunct="1">
                        <a:lnSpc>
                          <a:spcPct val="120000"/>
                        </a:lnSpc>
                        <a:buFont typeface="Arial" panose="020B0604020202020204" pitchFamily="34" charset="0"/>
                        <a:buChar char="•"/>
                      </a:pPr>
                      <a:r>
                        <a:rPr lang="en-US" sz="1100" b="0" kern="1200" dirty="0">
                          <a:solidFill>
                            <a:schemeClr val="dk1"/>
                          </a:solidFill>
                          <a:latin typeface="+mn-lt"/>
                          <a:ea typeface="+mn-ea"/>
                          <a:cs typeface="+mn-cs"/>
                        </a:rPr>
                        <a:t>Average visit frequency*: </a:t>
                      </a:r>
                      <a:r>
                        <a:rPr lang="en-US" sz="1100" b="0" kern="1200" dirty="0">
                          <a:solidFill>
                            <a:schemeClr val="dk1"/>
                          </a:solidFill>
                          <a:latin typeface="Segoe UI Variable Display" pitchFamily="2" charset="0"/>
                          <a:ea typeface="+mn-ea"/>
                          <a:cs typeface="+mn-cs"/>
                        </a:rPr>
                        <a:t>7 visits</a:t>
                      </a:r>
                    </a:p>
                    <a:p>
                      <a:pPr marL="0" indent="0" algn="l" defTabSz="914400" rtl="0" eaLnBrk="1" latinLnBrk="0" hangingPunct="1">
                        <a:lnSpc>
                          <a:spcPct val="114000"/>
                        </a:lnSpc>
                        <a:buFont typeface="Arial" panose="020B0604020202020204" pitchFamily="34" charset="0"/>
                        <a:buNone/>
                      </a:pPr>
                      <a:endParaRPr lang="en-US" sz="1200" b="0" kern="1200" dirty="0">
                        <a:solidFill>
                          <a:schemeClr val="dk1"/>
                        </a:solidFill>
                        <a:latin typeface="Segoe UI Variable Display" pitchFamily="2" charset="0"/>
                        <a:ea typeface="+mn-ea"/>
                        <a:cs typeface="+mn-cs"/>
                      </a:endParaRPr>
                    </a:p>
                  </a:txBody>
                  <a:tcP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algn="l" defTabSz="914400" rtl="0" eaLnBrk="1" latinLnBrk="0" hangingPunct="1">
                        <a:lnSpc>
                          <a:spcPct val="114000"/>
                        </a:lnSpc>
                        <a:spcAft>
                          <a:spcPts val="300"/>
                        </a:spcAft>
                      </a:pPr>
                      <a:r>
                        <a:rPr lang="en-US" sz="1600" b="1" kern="1200" dirty="0">
                          <a:solidFill>
                            <a:srgbClr val="C00000"/>
                          </a:solidFill>
                          <a:latin typeface="+mn-lt"/>
                          <a:ea typeface="+mn-ea"/>
                          <a:cs typeface="+mn-cs"/>
                        </a:rPr>
                        <a:t>Experience Enthusiasts: 11%</a:t>
                      </a:r>
                    </a:p>
                    <a:p>
                      <a:pPr marL="171450" indent="-171450" algn="l" defTabSz="914400" rtl="0" eaLnBrk="1" latinLnBrk="0" hangingPunct="1">
                        <a:lnSpc>
                          <a:spcPct val="120000"/>
                        </a:lnSpc>
                        <a:buFont typeface="Arial" panose="020B0604020202020204" pitchFamily="34" charset="0"/>
                        <a:buChar char="•"/>
                      </a:pPr>
                      <a:r>
                        <a:rPr lang="en-US" sz="1100" b="0" kern="1200" dirty="0">
                          <a:solidFill>
                            <a:schemeClr val="dk1"/>
                          </a:solidFill>
                          <a:latin typeface="+mn-lt"/>
                          <a:ea typeface="+mn-ea"/>
                          <a:cs typeface="+mn-cs"/>
                        </a:rPr>
                        <a:t>Demographics: </a:t>
                      </a:r>
                      <a:r>
                        <a:rPr lang="en-US" sz="1100" b="0" kern="1200" dirty="0">
                          <a:solidFill>
                            <a:schemeClr val="dk1"/>
                          </a:solidFill>
                          <a:latin typeface="Segoe UI Variable Display" pitchFamily="2" charset="0"/>
                          <a:ea typeface="+mn-ea"/>
                          <a:cs typeface="+mn-cs"/>
                        </a:rPr>
                        <a:t>16-29 years old (94%), low income (84%), student (79%) and unemployed (12%).</a:t>
                      </a:r>
                    </a:p>
                    <a:p>
                      <a:pPr marL="171450" indent="-171450" algn="l" defTabSz="914400" rtl="0" eaLnBrk="1" latinLnBrk="0" hangingPunct="1">
                        <a:lnSpc>
                          <a:spcPct val="120000"/>
                        </a:lnSpc>
                        <a:buFont typeface="Arial" panose="020B0604020202020204" pitchFamily="34" charset="0"/>
                        <a:buChar char="•"/>
                      </a:pPr>
                      <a:r>
                        <a:rPr lang="en-US" sz="1100" b="0" kern="1200" dirty="0">
                          <a:solidFill>
                            <a:schemeClr val="dk1"/>
                          </a:solidFill>
                          <a:latin typeface="+mn-lt"/>
                          <a:ea typeface="+mn-ea"/>
                          <a:cs typeface="+mn-cs"/>
                        </a:rPr>
                        <a:t>Key behavior:  </a:t>
                      </a:r>
                      <a:r>
                        <a:rPr lang="en-US" sz="1100" b="0" kern="1200" dirty="0">
                          <a:solidFill>
                            <a:schemeClr val="dk1"/>
                          </a:solidFill>
                          <a:latin typeface="Segoe UI Variable Display" pitchFamily="2" charset="0"/>
                          <a:ea typeface="+mn-ea"/>
                          <a:cs typeface="+mn-cs"/>
                        </a:rPr>
                        <a:t>Non-caffein drinks, socialize and entertain.</a:t>
                      </a:r>
                    </a:p>
                    <a:p>
                      <a:pPr marL="171450" indent="-171450" algn="l" defTabSz="914400" rtl="0" eaLnBrk="1" latinLnBrk="0" hangingPunct="1">
                        <a:lnSpc>
                          <a:spcPct val="120000"/>
                        </a:lnSpc>
                        <a:buFont typeface="Arial" panose="020B0604020202020204" pitchFamily="34" charset="0"/>
                        <a:buChar char="•"/>
                      </a:pPr>
                      <a:r>
                        <a:rPr lang="en-US" sz="1100" b="0" kern="1200" dirty="0">
                          <a:solidFill>
                            <a:schemeClr val="dk1"/>
                          </a:solidFill>
                          <a:latin typeface="+mn-lt"/>
                          <a:ea typeface="+mn-ea"/>
                          <a:cs typeface="+mn-cs"/>
                        </a:rPr>
                        <a:t>Preferred brands: </a:t>
                      </a:r>
                      <a:r>
                        <a:rPr lang="en-US" sz="1100" b="0" kern="1200" dirty="0">
                          <a:solidFill>
                            <a:schemeClr val="dk1"/>
                          </a:solidFill>
                          <a:latin typeface="Segoe UI Variable Display" pitchFamily="2" charset="0"/>
                          <a:ea typeface="+mn-ea"/>
                          <a:cs typeface="+mn-cs"/>
                        </a:rPr>
                        <a:t>Major chains</a:t>
                      </a:r>
                    </a:p>
                    <a:p>
                      <a:pPr marL="171450" indent="-171450" algn="l" defTabSz="914400" rtl="0" eaLnBrk="1" latinLnBrk="0" hangingPunct="1">
                        <a:lnSpc>
                          <a:spcPct val="120000"/>
                        </a:lnSpc>
                        <a:buFont typeface="Arial" panose="020B0604020202020204" pitchFamily="34" charset="0"/>
                        <a:buChar char="•"/>
                      </a:pPr>
                      <a:r>
                        <a:rPr lang="en-US" sz="1100" b="0" kern="1200" dirty="0">
                          <a:solidFill>
                            <a:schemeClr val="dk1"/>
                          </a:solidFill>
                          <a:latin typeface="+mn-lt"/>
                          <a:ea typeface="+mn-ea"/>
                          <a:cs typeface="+mn-cs"/>
                        </a:rPr>
                        <a:t>Spend per visit: </a:t>
                      </a:r>
                      <a:r>
                        <a:rPr lang="en-US" sz="1100" b="0" kern="1200" dirty="0">
                          <a:solidFill>
                            <a:schemeClr val="dk1"/>
                          </a:solidFill>
                          <a:latin typeface="Segoe UI Variable Display" pitchFamily="2" charset="0"/>
                          <a:ea typeface="+mn-ea"/>
                          <a:cs typeface="+mn-cs"/>
                        </a:rPr>
                        <a:t>~35,000 VND</a:t>
                      </a:r>
                    </a:p>
                    <a:p>
                      <a:pPr marL="171450" indent="-171450" algn="l" defTabSz="914400" rtl="0" eaLnBrk="1" latinLnBrk="0" hangingPunct="1">
                        <a:lnSpc>
                          <a:spcPct val="120000"/>
                        </a:lnSpc>
                        <a:buFont typeface="Arial" panose="020B0604020202020204" pitchFamily="34" charset="0"/>
                        <a:buChar char="•"/>
                      </a:pPr>
                      <a:r>
                        <a:rPr lang="en-US" sz="1100" b="0" kern="1200" dirty="0">
                          <a:solidFill>
                            <a:schemeClr val="dk1"/>
                          </a:solidFill>
                          <a:latin typeface="+mn-lt"/>
                          <a:ea typeface="+mn-ea"/>
                          <a:cs typeface="+mn-cs"/>
                        </a:rPr>
                        <a:t>Average visit frequency*: </a:t>
                      </a:r>
                      <a:r>
                        <a:rPr lang="en-US" sz="1100" b="0" kern="1200" dirty="0">
                          <a:solidFill>
                            <a:schemeClr val="dk1"/>
                          </a:solidFill>
                          <a:latin typeface="Segoe UI Variable Display" pitchFamily="2" charset="0"/>
                          <a:ea typeface="+mn-ea"/>
                          <a:cs typeface="+mn-cs"/>
                        </a:rPr>
                        <a:t>5 visits</a:t>
                      </a:r>
                    </a:p>
                  </a:txBody>
                  <a:tcP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96899127"/>
                  </a:ext>
                </a:extLst>
              </a:tr>
            </a:tbl>
          </a:graphicData>
        </a:graphic>
      </p:graphicFrame>
    </p:spTree>
    <p:extLst>
      <p:ext uri="{BB962C8B-B14F-4D97-AF65-F5344CB8AC3E}">
        <p14:creationId xmlns:p14="http://schemas.microsoft.com/office/powerpoint/2010/main" val="30885051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73AEA-155A-4493-733F-3F615D86C3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F0E6F2-7F4C-2B3A-9848-1C760053A4E5}"/>
              </a:ext>
            </a:extLst>
          </p:cNvPr>
          <p:cNvSpPr>
            <a:spLocks noGrp="1"/>
          </p:cNvSpPr>
          <p:nvPr>
            <p:ph type="title"/>
          </p:nvPr>
        </p:nvSpPr>
        <p:spPr/>
        <p:txBody>
          <a:bodyPr/>
          <a:lstStyle/>
          <a:p>
            <a:r>
              <a:rPr lang="en-US" dirty="0"/>
              <a:t>Customer Preference</a:t>
            </a:r>
          </a:p>
        </p:txBody>
      </p:sp>
      <p:sp>
        <p:nvSpPr>
          <p:cNvPr id="4" name="Slide Number Placeholder 3">
            <a:extLst>
              <a:ext uri="{FF2B5EF4-FFF2-40B4-BE49-F238E27FC236}">
                <a16:creationId xmlns:a16="http://schemas.microsoft.com/office/drawing/2014/main" id="{76E23214-C5AD-7F35-A69E-310C75546841}"/>
              </a:ext>
            </a:extLst>
          </p:cNvPr>
          <p:cNvSpPr>
            <a:spLocks noGrp="1"/>
          </p:cNvSpPr>
          <p:nvPr>
            <p:ph type="sldNum" sz="quarter" idx="12"/>
          </p:nvPr>
        </p:nvSpPr>
        <p:spPr/>
        <p:txBody>
          <a:bodyPr/>
          <a:lstStyle/>
          <a:p>
            <a:fld id="{2D2776A3-3430-4A99-9DCB-D67D51D6910E}" type="slidenum">
              <a:rPr lang="en-US" smtClean="0"/>
              <a:t>8</a:t>
            </a:fld>
            <a:endParaRPr lang="en-US" dirty="0"/>
          </a:p>
        </p:txBody>
      </p:sp>
      <p:sp>
        <p:nvSpPr>
          <p:cNvPr id="3" name="Content Placeholder 2">
            <a:extLst>
              <a:ext uri="{FF2B5EF4-FFF2-40B4-BE49-F238E27FC236}">
                <a16:creationId xmlns:a16="http://schemas.microsoft.com/office/drawing/2014/main" id="{11E9C7B3-AA72-FCE1-FF3F-C9D37095F534}"/>
              </a:ext>
            </a:extLst>
          </p:cNvPr>
          <p:cNvSpPr>
            <a:spLocks noGrp="1"/>
          </p:cNvSpPr>
          <p:nvPr>
            <p:ph sz="half" idx="13"/>
          </p:nvPr>
        </p:nvSpPr>
        <p:spPr/>
        <p:txBody>
          <a:bodyPr>
            <a:normAutofit fontScale="85000" lnSpcReduction="10000"/>
          </a:bodyPr>
          <a:lstStyle/>
          <a:p>
            <a:r>
              <a:rPr lang="en-US" dirty="0"/>
              <a:t>Segment Preference for Key Attributes (use heat map or cluster bar chart highlighting 3 important attributes)</a:t>
            </a:r>
          </a:p>
        </p:txBody>
      </p:sp>
      <p:sp>
        <p:nvSpPr>
          <p:cNvPr id="8" name="Content Placeholder 7">
            <a:extLst>
              <a:ext uri="{FF2B5EF4-FFF2-40B4-BE49-F238E27FC236}">
                <a16:creationId xmlns:a16="http://schemas.microsoft.com/office/drawing/2014/main" id="{FB3C52ED-80B6-C737-6136-D52E6E413CC4}"/>
              </a:ext>
            </a:extLst>
          </p:cNvPr>
          <p:cNvSpPr>
            <a:spLocks noGrp="1"/>
          </p:cNvSpPr>
          <p:nvPr>
            <p:ph sz="half" idx="14"/>
          </p:nvPr>
        </p:nvSpPr>
        <p:spPr/>
        <p:txBody>
          <a:bodyPr>
            <a:normAutofit/>
          </a:bodyPr>
          <a:lstStyle/>
          <a:p>
            <a:pPr>
              <a:lnSpc>
                <a:spcPct val="100000"/>
              </a:lnSpc>
            </a:pPr>
            <a:r>
              <a:rPr lang="en-US" sz="900" i="1" dirty="0"/>
              <a:t>Description: Measure the percentage of respondents evaluating brands with key attributes. </a:t>
            </a:r>
          </a:p>
        </p:txBody>
      </p:sp>
      <p:graphicFrame>
        <p:nvGraphicFramePr>
          <p:cNvPr id="5" name="Table 4">
            <a:extLst>
              <a:ext uri="{FF2B5EF4-FFF2-40B4-BE49-F238E27FC236}">
                <a16:creationId xmlns:a16="http://schemas.microsoft.com/office/drawing/2014/main" id="{DFBD51DF-DEC3-0ECD-63CB-19008F78004A}"/>
              </a:ext>
            </a:extLst>
          </p:cNvPr>
          <p:cNvGraphicFramePr>
            <a:graphicFrameLocks noGrp="1"/>
          </p:cNvGraphicFramePr>
          <p:nvPr>
            <p:extLst>
              <p:ext uri="{D42A27DB-BD31-4B8C-83A1-F6EECF244321}">
                <p14:modId xmlns:p14="http://schemas.microsoft.com/office/powerpoint/2010/main" val="941167744"/>
              </p:ext>
            </p:extLst>
          </p:nvPr>
        </p:nvGraphicFramePr>
        <p:xfrm>
          <a:off x="838199" y="2188669"/>
          <a:ext cx="10515600" cy="3942978"/>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719616282"/>
                    </a:ext>
                  </a:extLst>
                </a:gridCol>
                <a:gridCol w="2103120">
                  <a:extLst>
                    <a:ext uri="{9D8B030D-6E8A-4147-A177-3AD203B41FA5}">
                      <a16:colId xmlns:a16="http://schemas.microsoft.com/office/drawing/2014/main" val="3722599472"/>
                    </a:ext>
                  </a:extLst>
                </a:gridCol>
                <a:gridCol w="2103120">
                  <a:extLst>
                    <a:ext uri="{9D8B030D-6E8A-4147-A177-3AD203B41FA5}">
                      <a16:colId xmlns:a16="http://schemas.microsoft.com/office/drawing/2014/main" val="911510731"/>
                    </a:ext>
                  </a:extLst>
                </a:gridCol>
                <a:gridCol w="2103120">
                  <a:extLst>
                    <a:ext uri="{9D8B030D-6E8A-4147-A177-3AD203B41FA5}">
                      <a16:colId xmlns:a16="http://schemas.microsoft.com/office/drawing/2014/main" val="793144167"/>
                    </a:ext>
                  </a:extLst>
                </a:gridCol>
                <a:gridCol w="2103120">
                  <a:extLst>
                    <a:ext uri="{9D8B030D-6E8A-4147-A177-3AD203B41FA5}">
                      <a16:colId xmlns:a16="http://schemas.microsoft.com/office/drawing/2014/main" val="1710509982"/>
                    </a:ext>
                  </a:extLst>
                </a:gridCol>
              </a:tblGrid>
              <a:tr h="272670">
                <a:tc>
                  <a:txBody>
                    <a:bodyPr/>
                    <a:lstStyle/>
                    <a:p>
                      <a:r>
                        <a:rPr lang="en-US" sz="1200" dirty="0"/>
                        <a:t>Attribute</a:t>
                      </a:r>
                    </a:p>
                  </a:txBody>
                  <a:tcP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28575" cap="flat" cmpd="sng" algn="ctr">
                      <a:solidFill>
                        <a:srgbClr val="C00000"/>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r>
                        <a:rPr lang="en-US" sz="1200" dirty="0"/>
                        <a:t>Social Seekers</a:t>
                      </a: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28575" cap="flat" cmpd="sng" algn="ctr">
                      <a:solidFill>
                        <a:srgbClr val="C00000"/>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r>
                        <a:rPr lang="en-US" sz="1200" dirty="0"/>
                        <a:t>Routine Consumers</a:t>
                      </a: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28575" cap="flat" cmpd="sng" algn="ctr">
                      <a:solidFill>
                        <a:srgbClr val="C00000"/>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r>
                        <a:rPr lang="en-US" sz="1200" dirty="0"/>
                        <a:t>Quality-first Consumers</a:t>
                      </a: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28575" cap="flat" cmpd="sng" algn="ctr">
                      <a:solidFill>
                        <a:srgbClr val="C00000"/>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r>
                        <a:rPr lang="en-US" sz="1200" dirty="0"/>
                        <a:t>Experience Enthusiasts</a:t>
                      </a:r>
                    </a:p>
                  </a:txBody>
                  <a:tcP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28575" cap="flat" cmpd="sng" algn="ctr">
                      <a:solidFill>
                        <a:srgbClr val="C00000"/>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152722531"/>
                  </a:ext>
                </a:extLst>
              </a:tr>
              <a:tr h="524094">
                <a:tc>
                  <a:txBody>
                    <a:bodyPr/>
                    <a:lstStyle/>
                    <a:p>
                      <a:endParaRPr lang="en-US" sz="1200" b="0" dirty="0">
                        <a:solidFill>
                          <a:schemeClr val="tx1">
                            <a:lumMod val="75000"/>
                            <a:lumOff val="25000"/>
                          </a:schemeClr>
                        </a:solidFill>
                        <a:latin typeface="Segoe UI Variable Display" pitchFamily="2" charset="0"/>
                      </a:endParaRP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3253841269"/>
                  </a:ext>
                </a:extLst>
              </a:tr>
              <a:tr h="524094">
                <a:tc>
                  <a:txBody>
                    <a:bodyPr/>
                    <a:lstStyle/>
                    <a:p>
                      <a:endParaRPr lang="en-US" sz="1200" b="0" dirty="0">
                        <a:solidFill>
                          <a:schemeClr val="tx1">
                            <a:lumMod val="75000"/>
                            <a:lumOff val="25000"/>
                          </a:schemeClr>
                        </a:solidFill>
                        <a:latin typeface="Segoe UI Variable Display" pitchFamily="2" charset="0"/>
                      </a:endParaRP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3747081619"/>
                  </a:ext>
                </a:extLst>
              </a:tr>
              <a:tr h="524094">
                <a:tc>
                  <a:txBody>
                    <a:bodyPr/>
                    <a:lstStyle/>
                    <a:p>
                      <a:endParaRPr lang="en-US" sz="1200" b="0" dirty="0">
                        <a:solidFill>
                          <a:schemeClr val="tx1">
                            <a:lumMod val="75000"/>
                            <a:lumOff val="25000"/>
                          </a:schemeClr>
                        </a:solidFill>
                        <a:latin typeface="Segoe UI Variable Display" pitchFamily="2" charset="0"/>
                      </a:endParaRP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882525591"/>
                  </a:ext>
                </a:extLst>
              </a:tr>
              <a:tr h="524094">
                <a:tc>
                  <a:txBody>
                    <a:bodyPr/>
                    <a:lstStyle/>
                    <a:p>
                      <a:endParaRPr lang="en-US" sz="1200" b="0" dirty="0">
                        <a:solidFill>
                          <a:schemeClr val="tx1">
                            <a:lumMod val="75000"/>
                            <a:lumOff val="25000"/>
                          </a:schemeClr>
                        </a:solidFill>
                        <a:latin typeface="Segoe UI Variable Display" pitchFamily="2" charset="0"/>
                      </a:endParaRP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2867263561"/>
                  </a:ext>
                </a:extLst>
              </a:tr>
              <a:tr h="524094">
                <a:tc>
                  <a:txBody>
                    <a:bodyPr/>
                    <a:lstStyle/>
                    <a:p>
                      <a:endParaRPr lang="en-US" sz="1200" b="0" dirty="0">
                        <a:solidFill>
                          <a:schemeClr val="tx1">
                            <a:lumMod val="75000"/>
                            <a:lumOff val="25000"/>
                          </a:schemeClr>
                        </a:solidFill>
                        <a:latin typeface="Segoe UI Variable Display" pitchFamily="2" charset="0"/>
                      </a:endParaRP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3362792061"/>
                  </a:ext>
                </a:extLst>
              </a:tr>
              <a:tr h="5240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solidFill>
                          <a:schemeClr val="tx1">
                            <a:lumMod val="75000"/>
                            <a:lumOff val="25000"/>
                          </a:schemeClr>
                        </a:solidFill>
                        <a:latin typeface="Segoe UI Variable Display" pitchFamily="2" charset="0"/>
                      </a:endParaRP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2373986255"/>
                  </a:ext>
                </a:extLst>
              </a:tr>
              <a:tr h="524094">
                <a:tc>
                  <a:txBody>
                    <a:bodyPr/>
                    <a:lstStyle/>
                    <a:p>
                      <a:endParaRPr lang="en-US" sz="1200" b="0" dirty="0">
                        <a:solidFill>
                          <a:schemeClr val="tx1">
                            <a:lumMod val="75000"/>
                            <a:lumOff val="25000"/>
                          </a:schemeClr>
                        </a:solidFill>
                        <a:latin typeface="Segoe UI Variable Display" pitchFamily="2" charset="0"/>
                      </a:endParaRP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585314856"/>
                  </a:ext>
                </a:extLst>
              </a:tr>
            </a:tbl>
          </a:graphicData>
        </a:graphic>
      </p:graphicFrame>
    </p:spTree>
    <p:extLst>
      <p:ext uri="{BB962C8B-B14F-4D97-AF65-F5344CB8AC3E}">
        <p14:creationId xmlns:p14="http://schemas.microsoft.com/office/powerpoint/2010/main" val="1567169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F91CA-837A-5628-BDF6-0404A1ACA1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20FC38-52F3-B66E-EEF5-289ABB16AF5C}"/>
              </a:ext>
            </a:extLst>
          </p:cNvPr>
          <p:cNvSpPr>
            <a:spLocks noGrp="1"/>
          </p:cNvSpPr>
          <p:nvPr>
            <p:ph type="title"/>
          </p:nvPr>
        </p:nvSpPr>
        <p:spPr/>
        <p:txBody>
          <a:bodyPr/>
          <a:lstStyle/>
          <a:p>
            <a:r>
              <a:rPr lang="en-US" dirty="0"/>
              <a:t>Regional Market Analysis</a:t>
            </a:r>
          </a:p>
        </p:txBody>
      </p:sp>
      <p:sp>
        <p:nvSpPr>
          <p:cNvPr id="4" name="Slide Number Placeholder 3">
            <a:extLst>
              <a:ext uri="{FF2B5EF4-FFF2-40B4-BE49-F238E27FC236}">
                <a16:creationId xmlns:a16="http://schemas.microsoft.com/office/drawing/2014/main" id="{D97F3DA0-C453-EEB3-79C7-AE22E4743C81}"/>
              </a:ext>
            </a:extLst>
          </p:cNvPr>
          <p:cNvSpPr>
            <a:spLocks noGrp="1"/>
          </p:cNvSpPr>
          <p:nvPr>
            <p:ph type="sldNum" sz="quarter" idx="12"/>
          </p:nvPr>
        </p:nvSpPr>
        <p:spPr/>
        <p:txBody>
          <a:bodyPr/>
          <a:lstStyle/>
          <a:p>
            <a:fld id="{2D2776A3-3430-4A99-9DCB-D67D51D6910E}" type="slidenum">
              <a:rPr lang="en-US" smtClean="0"/>
              <a:t>9</a:t>
            </a:fld>
            <a:endParaRPr lang="en-US" dirty="0"/>
          </a:p>
        </p:txBody>
      </p:sp>
      <p:sp>
        <p:nvSpPr>
          <p:cNvPr id="3" name="Content Placeholder 2">
            <a:extLst>
              <a:ext uri="{FF2B5EF4-FFF2-40B4-BE49-F238E27FC236}">
                <a16:creationId xmlns:a16="http://schemas.microsoft.com/office/drawing/2014/main" id="{B91153F1-2225-5A67-B170-4561FEB035E3}"/>
              </a:ext>
            </a:extLst>
          </p:cNvPr>
          <p:cNvSpPr>
            <a:spLocks noGrp="1"/>
          </p:cNvSpPr>
          <p:nvPr>
            <p:ph sz="half" idx="13"/>
          </p:nvPr>
        </p:nvSpPr>
        <p:spPr/>
        <p:txBody>
          <a:bodyPr>
            <a:normAutofit/>
          </a:bodyPr>
          <a:lstStyle/>
          <a:p>
            <a:r>
              <a:rPr lang="en-US" dirty="0"/>
              <a:t>Regional Consumer Behavior Variations</a:t>
            </a:r>
          </a:p>
        </p:txBody>
      </p:sp>
      <p:sp>
        <p:nvSpPr>
          <p:cNvPr id="8" name="Content Placeholder 7">
            <a:extLst>
              <a:ext uri="{FF2B5EF4-FFF2-40B4-BE49-F238E27FC236}">
                <a16:creationId xmlns:a16="http://schemas.microsoft.com/office/drawing/2014/main" id="{F9D96D09-CC7E-35C7-092A-A3BE3981A39A}"/>
              </a:ext>
            </a:extLst>
          </p:cNvPr>
          <p:cNvSpPr>
            <a:spLocks noGrp="1"/>
          </p:cNvSpPr>
          <p:nvPr>
            <p:ph sz="half" idx="14"/>
          </p:nvPr>
        </p:nvSpPr>
        <p:spPr/>
        <p:txBody>
          <a:bodyPr>
            <a:normAutofit/>
          </a:bodyPr>
          <a:lstStyle/>
          <a:p>
            <a:pPr>
              <a:lnSpc>
                <a:spcPct val="100000"/>
              </a:lnSpc>
            </a:pPr>
            <a:r>
              <a:rPr lang="en-US" sz="900" i="1" dirty="0"/>
              <a:t>Sample size:  HCMC (n =), Hanoi (n = ), Danang (n = ), Other cities (n = )</a:t>
            </a:r>
          </a:p>
        </p:txBody>
      </p:sp>
      <p:graphicFrame>
        <p:nvGraphicFramePr>
          <p:cNvPr id="5" name="Table 4">
            <a:extLst>
              <a:ext uri="{FF2B5EF4-FFF2-40B4-BE49-F238E27FC236}">
                <a16:creationId xmlns:a16="http://schemas.microsoft.com/office/drawing/2014/main" id="{9F6F270D-6064-5607-4C64-204330112BDB}"/>
              </a:ext>
            </a:extLst>
          </p:cNvPr>
          <p:cNvGraphicFramePr>
            <a:graphicFrameLocks noGrp="1"/>
          </p:cNvGraphicFramePr>
          <p:nvPr>
            <p:extLst>
              <p:ext uri="{D42A27DB-BD31-4B8C-83A1-F6EECF244321}">
                <p14:modId xmlns:p14="http://schemas.microsoft.com/office/powerpoint/2010/main" val="712689754"/>
              </p:ext>
            </p:extLst>
          </p:nvPr>
        </p:nvGraphicFramePr>
        <p:xfrm>
          <a:off x="838199" y="2188669"/>
          <a:ext cx="10515600" cy="3942978"/>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719616282"/>
                    </a:ext>
                  </a:extLst>
                </a:gridCol>
                <a:gridCol w="2103120">
                  <a:extLst>
                    <a:ext uri="{9D8B030D-6E8A-4147-A177-3AD203B41FA5}">
                      <a16:colId xmlns:a16="http://schemas.microsoft.com/office/drawing/2014/main" val="3722599472"/>
                    </a:ext>
                  </a:extLst>
                </a:gridCol>
                <a:gridCol w="2103120">
                  <a:extLst>
                    <a:ext uri="{9D8B030D-6E8A-4147-A177-3AD203B41FA5}">
                      <a16:colId xmlns:a16="http://schemas.microsoft.com/office/drawing/2014/main" val="911510731"/>
                    </a:ext>
                  </a:extLst>
                </a:gridCol>
                <a:gridCol w="2103120">
                  <a:extLst>
                    <a:ext uri="{9D8B030D-6E8A-4147-A177-3AD203B41FA5}">
                      <a16:colId xmlns:a16="http://schemas.microsoft.com/office/drawing/2014/main" val="793144167"/>
                    </a:ext>
                  </a:extLst>
                </a:gridCol>
                <a:gridCol w="2103120">
                  <a:extLst>
                    <a:ext uri="{9D8B030D-6E8A-4147-A177-3AD203B41FA5}">
                      <a16:colId xmlns:a16="http://schemas.microsoft.com/office/drawing/2014/main" val="1710509982"/>
                    </a:ext>
                  </a:extLst>
                </a:gridCol>
              </a:tblGrid>
              <a:tr h="272670">
                <a:tc>
                  <a:txBody>
                    <a:bodyPr/>
                    <a:lstStyle/>
                    <a:p>
                      <a:r>
                        <a:rPr lang="en-US" sz="1200" dirty="0"/>
                        <a:t>Market Characteristics</a:t>
                      </a:r>
                    </a:p>
                  </a:txBody>
                  <a:tcP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28575" cap="flat" cmpd="sng" algn="ctr">
                      <a:solidFill>
                        <a:srgbClr val="C00000"/>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r>
                        <a:rPr lang="en-US" sz="1200" dirty="0"/>
                        <a:t>Ho Chi Minh City</a:t>
                      </a: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28575" cap="flat" cmpd="sng" algn="ctr">
                      <a:solidFill>
                        <a:srgbClr val="C00000"/>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r>
                        <a:rPr lang="en-US" sz="1200" dirty="0"/>
                        <a:t>Hanoi</a:t>
                      </a: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28575" cap="flat" cmpd="sng" algn="ctr">
                      <a:solidFill>
                        <a:srgbClr val="C00000"/>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r>
                        <a:rPr lang="en-US" sz="1200" dirty="0"/>
                        <a:t>Danang</a:t>
                      </a: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28575" cap="flat" cmpd="sng" algn="ctr">
                      <a:solidFill>
                        <a:srgbClr val="C00000"/>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r>
                        <a:rPr lang="en-US" sz="1200" dirty="0"/>
                        <a:t>Other Cities</a:t>
                      </a:r>
                    </a:p>
                  </a:txBody>
                  <a:tcP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28575" cap="flat" cmpd="sng" algn="ctr">
                      <a:solidFill>
                        <a:srgbClr val="C00000"/>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152722531"/>
                  </a:ext>
                </a:extLst>
              </a:tr>
              <a:tr h="524094">
                <a:tc>
                  <a:txBody>
                    <a:bodyPr/>
                    <a:lstStyle/>
                    <a:p>
                      <a:r>
                        <a:rPr lang="en-US" sz="1200" b="0" dirty="0">
                          <a:solidFill>
                            <a:schemeClr val="tx1">
                              <a:lumMod val="75000"/>
                              <a:lumOff val="25000"/>
                            </a:schemeClr>
                          </a:solidFill>
                          <a:latin typeface="Segoe UI Variable Display" pitchFamily="2" charset="0"/>
                        </a:rPr>
                        <a:t>Avg. Spending per Visit</a:t>
                      </a: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3253841269"/>
                  </a:ext>
                </a:extLst>
              </a:tr>
              <a:tr h="524094">
                <a:tc>
                  <a:txBody>
                    <a:bodyPr/>
                    <a:lstStyle/>
                    <a:p>
                      <a:r>
                        <a:rPr lang="en-US" sz="1200" b="0" dirty="0">
                          <a:solidFill>
                            <a:schemeClr val="tx1">
                              <a:lumMod val="75000"/>
                              <a:lumOff val="25000"/>
                            </a:schemeClr>
                          </a:solidFill>
                          <a:latin typeface="Segoe UI Variable Display" pitchFamily="2" charset="0"/>
                        </a:rPr>
                        <a:t>Avg. Visit per Week</a:t>
                      </a: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3747081619"/>
                  </a:ext>
                </a:extLst>
              </a:tr>
              <a:tr h="524094">
                <a:tc>
                  <a:txBody>
                    <a:bodyPr/>
                    <a:lstStyle/>
                    <a:p>
                      <a:r>
                        <a:rPr lang="en-US" sz="1200" b="0" dirty="0">
                          <a:solidFill>
                            <a:schemeClr val="tx1">
                              <a:lumMod val="75000"/>
                              <a:lumOff val="25000"/>
                            </a:schemeClr>
                          </a:solidFill>
                          <a:latin typeface="Segoe UI Variable Display" pitchFamily="2" charset="0"/>
                        </a:rPr>
                        <a:t>Weekly Usage</a:t>
                      </a: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882525591"/>
                  </a:ext>
                </a:extLst>
              </a:tr>
              <a:tr h="524094">
                <a:tc>
                  <a:txBody>
                    <a:bodyPr/>
                    <a:lstStyle/>
                    <a:p>
                      <a:r>
                        <a:rPr lang="en-US" sz="1200" b="0" dirty="0">
                          <a:solidFill>
                            <a:schemeClr val="tx1">
                              <a:lumMod val="75000"/>
                              <a:lumOff val="25000"/>
                            </a:schemeClr>
                          </a:solidFill>
                          <a:latin typeface="Segoe UI Variable Display" pitchFamily="2" charset="0"/>
                        </a:rPr>
                        <a:t>Daily Usage</a:t>
                      </a: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2867263561"/>
                  </a:ext>
                </a:extLst>
              </a:tr>
              <a:tr h="524094">
                <a:tc>
                  <a:txBody>
                    <a:bodyPr/>
                    <a:lstStyle/>
                    <a:p>
                      <a:r>
                        <a:rPr lang="en-US" sz="1200" b="0" dirty="0">
                          <a:solidFill>
                            <a:schemeClr val="tx1">
                              <a:lumMod val="75000"/>
                              <a:lumOff val="25000"/>
                            </a:schemeClr>
                          </a:solidFill>
                          <a:latin typeface="Segoe UI Variable Display" pitchFamily="2" charset="0"/>
                        </a:rPr>
                        <a:t>Street Café Preference</a:t>
                      </a: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3362792061"/>
                  </a:ext>
                </a:extLst>
              </a:tr>
              <a:tr h="5240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solidFill>
                            <a:schemeClr val="tx1">
                              <a:lumMod val="75000"/>
                              <a:lumOff val="25000"/>
                            </a:schemeClr>
                          </a:solidFill>
                          <a:latin typeface="Segoe UI Variable Display" pitchFamily="2" charset="0"/>
                        </a:rPr>
                        <a:t>Chain Café Preference</a:t>
                      </a: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2373986255"/>
                  </a:ext>
                </a:extLst>
              </a:tr>
              <a:tr h="524094">
                <a:tc>
                  <a:txBody>
                    <a:bodyPr/>
                    <a:lstStyle/>
                    <a:p>
                      <a:r>
                        <a:rPr lang="en-US" sz="1200" b="0" dirty="0">
                          <a:solidFill>
                            <a:schemeClr val="tx1">
                              <a:lumMod val="75000"/>
                              <a:lumOff val="25000"/>
                            </a:schemeClr>
                          </a:solidFill>
                          <a:latin typeface="Segoe UI Variable Display" pitchFamily="2" charset="0"/>
                        </a:rPr>
                        <a:t>Other Café Preference</a:t>
                      </a: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endParaRPr lang="en-US" sz="1200" b="0" dirty="0">
                        <a:solidFill>
                          <a:schemeClr val="tx1">
                            <a:lumMod val="75000"/>
                            <a:lumOff val="25000"/>
                          </a:schemeClr>
                        </a:solidFill>
                        <a:latin typeface="Segoe UI Variable Display" pitchFamily="2" charset="0"/>
                      </a:endParaRP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585314856"/>
                  </a:ext>
                </a:extLst>
              </a:tr>
            </a:tbl>
          </a:graphicData>
        </a:graphic>
      </p:graphicFrame>
    </p:spTree>
    <p:extLst>
      <p:ext uri="{BB962C8B-B14F-4D97-AF65-F5344CB8AC3E}">
        <p14:creationId xmlns:p14="http://schemas.microsoft.com/office/powerpoint/2010/main" val="17931630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4A30EC-9DE7-EB25-365B-FF53E39708A2}"/>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6C7614A6-F1E7-5625-327E-DC7A7DE16A91}"/>
              </a:ext>
            </a:extLst>
          </p:cNvPr>
          <p:cNvSpPr>
            <a:spLocks noGrp="1"/>
          </p:cNvSpPr>
          <p:nvPr>
            <p:ph type="sldNum" sz="quarter" idx="12"/>
          </p:nvPr>
        </p:nvSpPr>
        <p:spPr/>
        <p:txBody>
          <a:bodyPr/>
          <a:lstStyle/>
          <a:p>
            <a:fld id="{2D2776A3-3430-4A99-9DCB-D67D51D6910E}" type="slidenum">
              <a:rPr lang="en-US" smtClean="0"/>
              <a:t>10</a:t>
            </a:fld>
            <a:endParaRPr lang="en-US"/>
          </a:p>
        </p:txBody>
      </p:sp>
      <p:sp>
        <p:nvSpPr>
          <p:cNvPr id="4" name="Content Placeholder 3">
            <a:extLst>
              <a:ext uri="{FF2B5EF4-FFF2-40B4-BE49-F238E27FC236}">
                <a16:creationId xmlns:a16="http://schemas.microsoft.com/office/drawing/2014/main" id="{F9075EEB-F6DE-DF83-E79D-2FEE030A6D88}"/>
              </a:ext>
            </a:extLst>
          </p:cNvPr>
          <p:cNvSpPr>
            <a:spLocks noGrp="1"/>
          </p:cNvSpPr>
          <p:nvPr>
            <p:ph sz="half" idx="13"/>
          </p:nvPr>
        </p:nvSpPr>
        <p:spPr/>
        <p:txBody>
          <a:bodyPr/>
          <a:lstStyle/>
          <a:p>
            <a:endParaRPr lang="en-US"/>
          </a:p>
        </p:txBody>
      </p:sp>
      <p:pic>
        <p:nvPicPr>
          <p:cNvPr id="7" name="Content Placeholder 6">
            <a:extLst>
              <a:ext uri="{FF2B5EF4-FFF2-40B4-BE49-F238E27FC236}">
                <a16:creationId xmlns:a16="http://schemas.microsoft.com/office/drawing/2014/main" id="{BE1E226E-3E98-D0DA-FECB-6AAC8734D6EE}"/>
              </a:ext>
            </a:extLst>
          </p:cNvPr>
          <p:cNvPicPr>
            <a:picLocks noGrp="1" noChangeAspect="1"/>
          </p:cNvPicPr>
          <p:nvPr>
            <p:ph sz="half" idx="14"/>
          </p:nvPr>
        </p:nvPicPr>
        <p:blipFill>
          <a:blip r:embed="rId2"/>
          <a:stretch>
            <a:fillRect/>
          </a:stretch>
        </p:blipFill>
        <p:spPr>
          <a:xfrm>
            <a:off x="657225" y="1957229"/>
            <a:ext cx="3217907" cy="2127091"/>
          </a:xfrm>
          <a:prstGeom prst="rect">
            <a:avLst/>
          </a:prstGeom>
        </p:spPr>
      </p:pic>
      <p:pic>
        <p:nvPicPr>
          <p:cNvPr id="14" name="Picture 13">
            <a:extLst>
              <a:ext uri="{FF2B5EF4-FFF2-40B4-BE49-F238E27FC236}">
                <a16:creationId xmlns:a16="http://schemas.microsoft.com/office/drawing/2014/main" id="{A8F990C3-64E2-3664-052C-585F41DB57A8}"/>
              </a:ext>
            </a:extLst>
          </p:cNvPr>
          <p:cNvPicPr>
            <a:picLocks noChangeAspect="1"/>
          </p:cNvPicPr>
          <p:nvPr/>
        </p:nvPicPr>
        <p:blipFill>
          <a:blip r:embed="rId3"/>
          <a:stretch>
            <a:fillRect/>
          </a:stretch>
        </p:blipFill>
        <p:spPr>
          <a:xfrm>
            <a:off x="838200" y="4084320"/>
            <a:ext cx="7596189" cy="1810063"/>
          </a:xfrm>
          <a:prstGeom prst="rect">
            <a:avLst/>
          </a:prstGeom>
        </p:spPr>
      </p:pic>
      <p:pic>
        <p:nvPicPr>
          <p:cNvPr id="9" name="Picture 8">
            <a:extLst>
              <a:ext uri="{FF2B5EF4-FFF2-40B4-BE49-F238E27FC236}">
                <a16:creationId xmlns:a16="http://schemas.microsoft.com/office/drawing/2014/main" id="{0B88CB6B-C5A5-CF98-5212-E110C291BB84}"/>
              </a:ext>
            </a:extLst>
          </p:cNvPr>
          <p:cNvPicPr>
            <a:picLocks noChangeAspect="1"/>
          </p:cNvPicPr>
          <p:nvPr/>
        </p:nvPicPr>
        <p:blipFill>
          <a:blip r:embed="rId4"/>
          <a:stretch>
            <a:fillRect/>
          </a:stretch>
        </p:blipFill>
        <p:spPr>
          <a:xfrm>
            <a:off x="4709160" y="1957230"/>
            <a:ext cx="3607710" cy="2045068"/>
          </a:xfrm>
          <a:prstGeom prst="rect">
            <a:avLst/>
          </a:prstGeom>
        </p:spPr>
      </p:pic>
    </p:spTree>
    <p:extLst>
      <p:ext uri="{BB962C8B-B14F-4D97-AF65-F5344CB8AC3E}">
        <p14:creationId xmlns:p14="http://schemas.microsoft.com/office/powerpoint/2010/main" val="18159297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Segoe UI Semibold"/>
        <a:ea typeface=""/>
        <a:cs typeface=""/>
      </a:majorFont>
      <a:minorFont>
        <a:latin typeface="Segoe UI Variable Display Semib"/>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Custom 2">
    <a:dk1>
      <a:sysClr val="windowText" lastClr="000000"/>
    </a:dk1>
    <a:lt1>
      <a:sysClr val="window" lastClr="FFFFFF"/>
    </a:lt1>
    <a:dk2>
      <a:srgbClr val="0E2841"/>
    </a:dk2>
    <a:lt2>
      <a:srgbClr val="E8E8E8"/>
    </a:lt2>
    <a:accent1>
      <a:srgbClr val="C00000"/>
    </a:accent1>
    <a:accent2>
      <a:srgbClr val="7F7F7F"/>
    </a:accent2>
    <a:accent3>
      <a:srgbClr val="D0D0D0"/>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21CDCC6-4C37-4D90-BE5A-741AA3AA7B5B}">
  <we:reference id="wa200005566" version="3.0.0.3" store="en-US" storeType="OMEX"/>
  <we:alternateReferences>
    <we:reference id="wa200005566" version="3.0.0.3" store="wa200005566"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5157</TotalTime>
  <Words>1112</Words>
  <Application>Microsoft Office PowerPoint</Application>
  <PresentationFormat>Widescreen</PresentationFormat>
  <Paragraphs>137</Paragraphs>
  <Slides>10</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Aptos</vt:lpstr>
      <vt:lpstr>Arial</vt:lpstr>
      <vt:lpstr>Segoe UI Semibold</vt:lpstr>
      <vt:lpstr>Segoe UI Variable Display</vt:lpstr>
      <vt:lpstr>Segoe UI Variable Display Semib</vt:lpstr>
      <vt:lpstr>Segoe UI Variable Display Semib (Body)</vt:lpstr>
      <vt:lpstr>Segoe UI Variable Small Semilig</vt:lpstr>
      <vt:lpstr>Office Theme</vt:lpstr>
      <vt:lpstr>Executive Summary Key findings from comprehensive customer research</vt:lpstr>
      <vt:lpstr>Executive Summary Key findings from comprehensive customer research</vt:lpstr>
      <vt:lpstr>Research Methodology Key findings from comprehensive customer research</vt:lpstr>
      <vt:lpstr>Market Structure and Expansion Speed</vt:lpstr>
      <vt:lpstr>Brand Positioning and Store Network</vt:lpstr>
      <vt:lpstr>Structure of Respondent Demographics</vt:lpstr>
      <vt:lpstr>Customer Segmentation</vt:lpstr>
      <vt:lpstr>Customer Preference</vt:lpstr>
      <vt:lpstr>Regional Market Analysis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Truong Nguyen Tran Xuan</dc:creator>
  <cp:lastModifiedBy>Truong Nguyen Tran Xuan</cp:lastModifiedBy>
  <cp:revision>17</cp:revision>
  <dcterms:created xsi:type="dcterms:W3CDTF">2025-11-28T18:22:41Z</dcterms:created>
  <dcterms:modified xsi:type="dcterms:W3CDTF">2025-12-29T05:34:56Z</dcterms:modified>
</cp:coreProperties>
</file>