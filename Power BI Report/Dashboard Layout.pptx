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7" r:id="rId3"/>
    <p:sldId id="256" r:id="rId4"/>
    <p:sldId id="259" r:id="rId5"/>
  </p:sldIdLst>
  <p:sldSz cx="173736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FFFFFF"/>
    <a:srgbClr val="B2292E"/>
    <a:srgbClr val="851E22"/>
    <a:srgbClr val="C5564F"/>
    <a:srgbClr val="DE8F86"/>
    <a:srgbClr val="D1AFA0"/>
    <a:srgbClr val="CFCFCF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17" autoAdjust="0"/>
    <p:restoredTop sz="94660"/>
  </p:normalViewPr>
  <p:slideViewPr>
    <p:cSldViewPr snapToGrid="0">
      <p:cViewPr varScale="1">
        <p:scale>
          <a:sx n="50" d="100"/>
          <a:sy n="50" d="100"/>
        </p:scale>
        <p:origin x="73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1700" y="1496484"/>
            <a:ext cx="13030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71700" y="4802717"/>
            <a:ext cx="130302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17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5386" y="2279652"/>
            <a:ext cx="1498473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5386" y="6119285"/>
            <a:ext cx="1498473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718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9443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9538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26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486834"/>
            <a:ext cx="1498473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6699" y="2241551"/>
            <a:ext cx="7349846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6699" y="3340100"/>
            <a:ext cx="7349846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795385" y="2241551"/>
            <a:ext cx="73860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95385" y="3340100"/>
            <a:ext cx="73860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4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3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0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6043" y="1316567"/>
            <a:ext cx="879538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1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6043" y="1316567"/>
            <a:ext cx="879538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99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32982" y="486834"/>
            <a:ext cx="374618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94435" y="486834"/>
            <a:ext cx="1102137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0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94435" y="486834"/>
            <a:ext cx="1498473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4435" y="2434167"/>
            <a:ext cx="1498473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443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755005" y="8475134"/>
            <a:ext cx="58635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27010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53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77DAB6-B037-4C45-A085-1B4F3C5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66938A8-75DD-4E48-7C15-02C30B9388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Overview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Summarize the number of respondents and their demographics.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02382650-8D3A-D450-06B5-B385165B4C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4C41E758-44D1-5038-4D1B-9BEA19C90416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D172085B-A693-795F-8BBB-10BE0807660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F64EB523-7817-0357-4F4C-B1E2EF579D54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FBF2C50-ED5B-64AB-EE1F-286FA2EBFAD9}"/>
              </a:ext>
            </a:extLst>
          </p:cNvPr>
          <p:cNvSpPr>
            <a:spLocks/>
          </p:cNvSpPr>
          <p:nvPr/>
        </p:nvSpPr>
        <p:spPr>
          <a:xfrm>
            <a:off x="8385488" y="1393035"/>
            <a:ext cx="8586582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9E13F975-B5B0-810F-B1FF-E6C8D1EF9F26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3F34A920-07BA-88CD-3AEC-C13A85FBA900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4E1DC3-3EE8-68C5-B5BC-21A7110939C3}"/>
              </a:ext>
            </a:extLst>
          </p:cNvPr>
          <p:cNvSpPr>
            <a:spLocks/>
          </p:cNvSpPr>
          <p:nvPr/>
        </p:nvSpPr>
        <p:spPr>
          <a:xfrm>
            <a:off x="2694357" y="1393035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7658D7-5FAC-C214-A7CC-DD2804CCA6EB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559CE7-F6FD-EBC7-EC25-9F919F84B40C}"/>
              </a:ext>
            </a:extLst>
          </p:cNvPr>
          <p:cNvCxnSpPr>
            <a:cxnSpLocks/>
          </p:cNvCxnSpPr>
          <p:nvPr/>
        </p:nvCxnSpPr>
        <p:spPr>
          <a:xfrm flipV="1">
            <a:off x="12139031" y="2082800"/>
            <a:ext cx="0" cy="653868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42902-38D9-2D9E-5EDC-1C62F66B6210}"/>
              </a:ext>
            </a:extLst>
          </p:cNvPr>
          <p:cNvCxnSpPr>
            <a:cxnSpLocks/>
          </p:cNvCxnSpPr>
          <p:nvPr/>
        </p:nvCxnSpPr>
        <p:spPr>
          <a:xfrm flipH="1">
            <a:off x="8634659" y="5009807"/>
            <a:ext cx="800961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50669075-21A0-5708-CA7B-466D2C730EDA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87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11FE38-C760-9A8B-6DAE-C15F17D6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DD8670A-5B6F-1EBD-2615-1A882D0812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Competitive Landscape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Understand how major coffee brands compete in scale, growth, and customer perception across key attributes.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5F13D61-C441-04C7-B8BA-1D0CC45A4A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EBC44B7E-A6D1-89C5-13AD-2A167791758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66079D7-2C74-82F1-1261-A314CF40E77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C02FDD16-E03C-4A0F-200F-48DAD1CB95A9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AF2E494-E3B9-ACC2-797D-CF932C0C30D1}"/>
              </a:ext>
            </a:extLst>
          </p:cNvPr>
          <p:cNvSpPr>
            <a:spLocks/>
          </p:cNvSpPr>
          <p:nvPr/>
        </p:nvSpPr>
        <p:spPr>
          <a:xfrm>
            <a:off x="8385488" y="1393036"/>
            <a:ext cx="8586582" cy="264556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FD0C806B-82B3-DEAB-C2F8-313624EA9529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69A89D8-FE3D-EE6C-68C0-ACE2B031CE05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0D8FAD-C655-3AC5-3289-6291B2470D66}"/>
              </a:ext>
            </a:extLst>
          </p:cNvPr>
          <p:cNvSpPr>
            <a:spLocks/>
          </p:cNvSpPr>
          <p:nvPr/>
        </p:nvSpPr>
        <p:spPr>
          <a:xfrm>
            <a:off x="2694357" y="1393036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A7737F-A36F-ACD0-3F8F-3B756F09059A}"/>
              </a:ext>
            </a:extLst>
          </p:cNvPr>
          <p:cNvSpPr>
            <a:spLocks/>
          </p:cNvSpPr>
          <p:nvPr/>
        </p:nvSpPr>
        <p:spPr>
          <a:xfrm>
            <a:off x="8385487" y="4301336"/>
            <a:ext cx="8586581" cy="44311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E85CCF1-E8FB-FB87-5802-2541254A1DD7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EB03576E-3D27-5C4D-57D3-5B6292BB057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10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CB571-8888-09CE-00E6-4EFB52DA5C0B}"/>
              </a:ext>
            </a:extLst>
          </p:cNvPr>
          <p:cNvSpPr/>
          <p:nvPr/>
        </p:nvSpPr>
        <p:spPr>
          <a:xfrm>
            <a:off x="2694357" y="1393036"/>
            <a:ext cx="7194688" cy="3845169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121A5A1-9CE8-24B0-3C23-07573C4EFBD8}"/>
              </a:ext>
            </a:extLst>
          </p:cNvPr>
          <p:cNvSpPr/>
          <p:nvPr/>
        </p:nvSpPr>
        <p:spPr>
          <a:xfrm>
            <a:off x="2694357" y="5572563"/>
            <a:ext cx="7194687" cy="315995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64E6FF-A23C-274C-21E6-3009BF008BEF}"/>
              </a:ext>
            </a:extLst>
          </p:cNvPr>
          <p:cNvSpPr/>
          <p:nvPr/>
        </p:nvSpPr>
        <p:spPr>
          <a:xfrm>
            <a:off x="10313568" y="1393037"/>
            <a:ext cx="6658502" cy="733948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ED2C9-B975-500E-89AE-0E66A02DA4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Conversion Analysis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048FB67-8C5A-E2FF-ADD0-0488D996B4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1525071-8521-C2C4-A948-4F2A5D06E9F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2E210C70-E6BC-01E8-69AA-6B3DDF8E00E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2EC6817F-21FC-D1F9-6950-E2B3E8BEC0A1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B4AE4608-C8F6-AB35-07A8-FF1BDDFE6257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EE774686-AA33-8334-71C0-A8CF94419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3A8EDC3D-1D84-BE75-5140-63453833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DA017B61-8575-5925-3DBF-19D6D4220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10FEA41C-85AF-88B1-5BFE-58DFDFB6A855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9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FF2ACE-7852-EE5A-1B18-2B1E0BCD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33E979A-ABD4-D37E-FFAB-5FC65B7F85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Segment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composition, churn behavior, and demographic trends across key segments.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5116391-64DA-F56F-51A3-BEA62591E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A19A6584-DDE0-0C07-3D92-7E26D2F0502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7C2DB82-D424-991C-2321-7E705117762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1A99982D-29B3-AB98-28A3-F76155FD3C15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78CD461-B176-7858-A872-1541458B383C}"/>
              </a:ext>
            </a:extLst>
          </p:cNvPr>
          <p:cNvSpPr>
            <a:spLocks/>
          </p:cNvSpPr>
          <p:nvPr/>
        </p:nvSpPr>
        <p:spPr>
          <a:xfrm>
            <a:off x="2694355" y="3200400"/>
            <a:ext cx="7688807" cy="5495987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BB0C3FEE-D5AC-903D-36B6-B6DB86991EA0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71AC744-764A-D209-4580-3FCE0FCB0C5C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EADF42-FFE6-CCE5-386E-49490449D04D}"/>
              </a:ext>
            </a:extLst>
          </p:cNvPr>
          <p:cNvSpPr>
            <a:spLocks/>
          </p:cNvSpPr>
          <p:nvPr/>
        </p:nvSpPr>
        <p:spPr>
          <a:xfrm>
            <a:off x="2694355" y="1393035"/>
            <a:ext cx="10711411" cy="1504173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B30D93-9CA5-FC1D-D458-A54BEA7753AF}"/>
              </a:ext>
            </a:extLst>
          </p:cNvPr>
          <p:cNvSpPr>
            <a:spLocks/>
          </p:cNvSpPr>
          <p:nvPr/>
        </p:nvSpPr>
        <p:spPr>
          <a:xfrm>
            <a:off x="13830300" y="1393036"/>
            <a:ext cx="3141770" cy="1504172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B83CD1-E71C-BDAD-B184-0170A6B72DCA}"/>
              </a:ext>
            </a:extLst>
          </p:cNvPr>
          <p:cNvSpPr>
            <a:spLocks/>
          </p:cNvSpPr>
          <p:nvPr/>
        </p:nvSpPr>
        <p:spPr>
          <a:xfrm>
            <a:off x="13830294" y="3200400"/>
            <a:ext cx="3141769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FA71D22-134B-5A0E-071A-F11669C8C0BF}"/>
              </a:ext>
            </a:extLst>
          </p:cNvPr>
          <p:cNvSpPr>
            <a:spLocks/>
          </p:cNvSpPr>
          <p:nvPr/>
        </p:nvSpPr>
        <p:spPr>
          <a:xfrm>
            <a:off x="10807703" y="3200400"/>
            <a:ext cx="2598061" cy="547976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8E4D27-AACA-91F7-87DE-476555F79544}"/>
              </a:ext>
            </a:extLst>
          </p:cNvPr>
          <p:cNvSpPr>
            <a:spLocks/>
          </p:cNvSpPr>
          <p:nvPr/>
        </p:nvSpPr>
        <p:spPr>
          <a:xfrm>
            <a:off x="13830295" y="509573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4A799E-1D7E-F9E1-A60D-59299A4196D8}"/>
              </a:ext>
            </a:extLst>
          </p:cNvPr>
          <p:cNvSpPr>
            <a:spLocks/>
          </p:cNvSpPr>
          <p:nvPr/>
        </p:nvSpPr>
        <p:spPr>
          <a:xfrm>
            <a:off x="13830295" y="699106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727A5135-AF33-8ED2-F29B-78370BDF1FB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665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2794</TotalTime>
  <Words>64</Words>
  <Application>Microsoft Office PowerPoint</Application>
  <PresentationFormat>Custom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Segoe UI Variable Display Light</vt:lpstr>
      <vt:lpstr>Segoe UI Variable Text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Trường Xuân</dc:creator>
  <cp:lastModifiedBy>Trường Xuân</cp:lastModifiedBy>
  <cp:revision>14</cp:revision>
  <dcterms:created xsi:type="dcterms:W3CDTF">2025-10-15T17:20:49Z</dcterms:created>
  <dcterms:modified xsi:type="dcterms:W3CDTF">2025-11-04T19:52:25Z</dcterms:modified>
</cp:coreProperties>
</file>