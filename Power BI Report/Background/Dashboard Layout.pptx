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61" r:id="rId3"/>
    <p:sldId id="257" r:id="rId4"/>
    <p:sldId id="256" r:id="rId5"/>
    <p:sldId id="262" r:id="rId6"/>
    <p:sldId id="259" r:id="rId7"/>
    <p:sldId id="260" r:id="rId8"/>
  </p:sldIdLst>
  <p:sldSz cx="173736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7"/>
    <a:srgbClr val="FFFFFF"/>
    <a:srgbClr val="B2292E"/>
    <a:srgbClr val="851E22"/>
    <a:srgbClr val="C5564F"/>
    <a:srgbClr val="DE8F86"/>
    <a:srgbClr val="D1AFA0"/>
    <a:srgbClr val="CFCFCF"/>
    <a:srgbClr val="9F9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17" autoAdjust="0"/>
    <p:restoredTop sz="94660"/>
  </p:normalViewPr>
  <p:slideViewPr>
    <p:cSldViewPr snapToGrid="0">
      <p:cViewPr varScale="1">
        <p:scale>
          <a:sx n="50" d="100"/>
          <a:sy n="50" d="100"/>
        </p:scale>
        <p:origin x="7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1700" y="1496484"/>
            <a:ext cx="130302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1700" y="4802717"/>
            <a:ext cx="130302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6692-EA0D-4861-862E-DDC209ABBD4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DD4E1-19D1-4841-8865-699ADA1D8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0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6692-EA0D-4861-862E-DDC209ABBD4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DD4E1-19D1-4841-8865-699ADA1D8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17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5386" y="2279652"/>
            <a:ext cx="1498473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5386" y="6119285"/>
            <a:ext cx="1498473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6692-EA0D-4861-862E-DDC209ABBD4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DD4E1-19D1-4841-8865-699ADA1D8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718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4435" y="2434167"/>
            <a:ext cx="738378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95385" y="2434167"/>
            <a:ext cx="738378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6692-EA0D-4861-862E-DDC209ABBD4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DD4E1-19D1-4841-8865-699ADA1D8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260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698" y="486834"/>
            <a:ext cx="1498473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6699" y="2241551"/>
            <a:ext cx="7349846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6699" y="3340100"/>
            <a:ext cx="7349846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95385" y="2241551"/>
            <a:ext cx="7386043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95385" y="3340100"/>
            <a:ext cx="73860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6692-EA0D-4861-862E-DDC209ABBD4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DD4E1-19D1-4841-8865-699ADA1D8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447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6692-EA0D-4861-862E-DDC209ABBD4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DD4E1-19D1-4841-8865-699ADA1D8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030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6692-EA0D-4861-862E-DDC209ABBD4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DD4E1-19D1-4841-8865-699ADA1D8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02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698" y="609600"/>
            <a:ext cx="5603438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86043" y="1316567"/>
            <a:ext cx="8795385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6698" y="2743200"/>
            <a:ext cx="5603438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6692-EA0D-4861-862E-DDC209ABBD4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DD4E1-19D1-4841-8865-699ADA1D8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01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698" y="609600"/>
            <a:ext cx="5603438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6043" y="1316567"/>
            <a:ext cx="8795385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6698" y="2743200"/>
            <a:ext cx="5603438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6692-EA0D-4861-862E-DDC209ABBD4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DD4E1-19D1-4841-8865-699ADA1D8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1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6692-EA0D-4861-862E-DDC209ABBD4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DD4E1-19D1-4841-8865-699ADA1D8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99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32982" y="486834"/>
            <a:ext cx="3746183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94435" y="486834"/>
            <a:ext cx="11021378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6692-EA0D-4861-862E-DDC209ABBD4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DD4E1-19D1-4841-8865-699ADA1D8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0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4435" y="486834"/>
            <a:ext cx="1498473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4435" y="2434167"/>
            <a:ext cx="1498473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94435" y="8475134"/>
            <a:ext cx="390906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2C6692-EA0D-4861-862E-DDC209ABBD4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55005" y="8475134"/>
            <a:ext cx="586359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70105" y="8475134"/>
            <a:ext cx="390906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DDD4E1-19D1-4841-8865-699ADA1D8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053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>
            <a:alpha val="5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77DAB6-B037-4C45-A085-1B4F3C537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66938A8-75DD-4E48-7C15-02C30B9388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94357" y="411480"/>
            <a:ext cx="13949917" cy="816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en-US" sz="3200" b="1" dirty="0">
                <a:solidFill>
                  <a:schemeClr val="tx1"/>
                </a:solidFill>
                <a:latin typeface="Segoe UI Variable Text" pitchFamily="2" charset="0"/>
                <a:ea typeface="Segoe UI Black" panose="020B0A02040204020203" pitchFamily="34" charset="0"/>
                <a:cs typeface="Segoe UI Semibold" panose="020B0702040204020203" pitchFamily="34" charset="0"/>
              </a:rPr>
              <a:t>Overview Dashboard</a:t>
            </a:r>
          </a:p>
          <a:p>
            <a:pPr>
              <a:lnSpc>
                <a:spcPts val="3000"/>
              </a:lnSpc>
            </a:pPr>
            <a:r>
              <a:rPr lang="en-US" dirty="0">
                <a:solidFill>
                  <a:schemeClr val="tx1"/>
                </a:solidFill>
                <a:latin typeface="Segoe UI Variable Display Light" pitchFamily="2" charset="0"/>
                <a:ea typeface="Segoe UI Black" panose="020B0A02040204020203" pitchFamily="34" charset="0"/>
                <a:cs typeface="Segoe UI Semibold" panose="020B0702040204020203" pitchFamily="34" charset="0"/>
              </a:rPr>
              <a:t>Summarize the number of respondents and their demographics</a:t>
            </a:r>
          </a:p>
        </p:txBody>
      </p:sp>
      <p:sp>
        <p:nvSpPr>
          <p:cNvPr id="14" name="Rectangle 13" hidden="1">
            <a:extLst>
              <a:ext uri="{FF2B5EF4-FFF2-40B4-BE49-F238E27FC236}">
                <a16:creationId xmlns:a16="http://schemas.microsoft.com/office/drawing/2014/main" id="{02382650-8D3A-D450-06B5-B385165B4C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7716" y="0"/>
            <a:ext cx="417282" cy="914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5" name="Rectangle 14" hidden="1">
            <a:extLst>
              <a:ext uri="{FF2B5EF4-FFF2-40B4-BE49-F238E27FC236}">
                <a16:creationId xmlns:a16="http://schemas.microsoft.com/office/drawing/2014/main" id="{4C41E758-44D1-5038-4D1B-9BEA19C90416}"/>
              </a:ext>
            </a:extLst>
          </p:cNvPr>
          <p:cNvSpPr>
            <a:spLocks/>
          </p:cNvSpPr>
          <p:nvPr/>
        </p:nvSpPr>
        <p:spPr>
          <a:xfrm>
            <a:off x="16651518" y="0"/>
            <a:ext cx="417282" cy="9144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7" name="Rectangle 16" hidden="1">
            <a:extLst>
              <a:ext uri="{FF2B5EF4-FFF2-40B4-BE49-F238E27FC236}">
                <a16:creationId xmlns:a16="http://schemas.microsoft.com/office/drawing/2014/main" id="{D172085B-A693-795F-8BBB-10BE08076608}"/>
              </a:ext>
            </a:extLst>
          </p:cNvPr>
          <p:cNvSpPr>
            <a:spLocks/>
          </p:cNvSpPr>
          <p:nvPr/>
        </p:nvSpPr>
        <p:spPr>
          <a:xfrm>
            <a:off x="2269839" y="0"/>
            <a:ext cx="417282" cy="9144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0" name="Rectangle 19" hidden="1">
            <a:extLst>
              <a:ext uri="{FF2B5EF4-FFF2-40B4-BE49-F238E27FC236}">
                <a16:creationId xmlns:a16="http://schemas.microsoft.com/office/drawing/2014/main" id="{F64EB523-7817-0357-4F4C-B1E2EF579D54}"/>
              </a:ext>
            </a:extLst>
          </p:cNvPr>
          <p:cNvSpPr>
            <a:spLocks/>
          </p:cNvSpPr>
          <p:nvPr/>
        </p:nvSpPr>
        <p:spPr>
          <a:xfrm>
            <a:off x="2694357" y="4803035"/>
            <a:ext cx="13964397" cy="352188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 dirty="0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FBF2C50-ED5B-64AB-EE1F-286FA2EBFAD9}"/>
              </a:ext>
            </a:extLst>
          </p:cNvPr>
          <p:cNvSpPr>
            <a:spLocks/>
          </p:cNvSpPr>
          <p:nvPr/>
        </p:nvSpPr>
        <p:spPr>
          <a:xfrm>
            <a:off x="8385488" y="1393035"/>
            <a:ext cx="8586582" cy="7339480"/>
          </a:xfrm>
          <a:prstGeom prst="roundRect">
            <a:avLst>
              <a:gd name="adj" fmla="val 2037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9" name="Rectangle 18" hidden="1">
            <a:extLst>
              <a:ext uri="{FF2B5EF4-FFF2-40B4-BE49-F238E27FC236}">
                <a16:creationId xmlns:a16="http://schemas.microsoft.com/office/drawing/2014/main" id="{9E13F975-B5B0-810F-B1FF-E6C8D1EF9F26}"/>
              </a:ext>
            </a:extLst>
          </p:cNvPr>
          <p:cNvSpPr>
            <a:spLocks/>
          </p:cNvSpPr>
          <p:nvPr/>
        </p:nvSpPr>
        <p:spPr>
          <a:xfrm>
            <a:off x="7994921" y="0"/>
            <a:ext cx="356616" cy="9144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9" name="Rectangle 38" hidden="1">
            <a:extLst>
              <a:ext uri="{FF2B5EF4-FFF2-40B4-BE49-F238E27FC236}">
                <a16:creationId xmlns:a16="http://schemas.microsoft.com/office/drawing/2014/main" id="{3F34A920-07BA-88CD-3AEC-C13A85FBA900}"/>
              </a:ext>
            </a:extLst>
          </p:cNvPr>
          <p:cNvSpPr>
            <a:spLocks/>
          </p:cNvSpPr>
          <p:nvPr/>
        </p:nvSpPr>
        <p:spPr>
          <a:xfrm>
            <a:off x="12056609" y="0"/>
            <a:ext cx="356616" cy="9144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84E1DC3-3EE8-68C5-B5BC-21A7110939C3}"/>
              </a:ext>
            </a:extLst>
          </p:cNvPr>
          <p:cNvSpPr>
            <a:spLocks/>
          </p:cNvSpPr>
          <p:nvPr/>
        </p:nvSpPr>
        <p:spPr>
          <a:xfrm>
            <a:off x="2694357" y="1393035"/>
            <a:ext cx="5256953" cy="7339480"/>
          </a:xfrm>
          <a:prstGeom prst="roundRect">
            <a:avLst>
              <a:gd name="adj" fmla="val 2037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37658D7-5FAC-C214-A7CC-DD2804CCA6EB}"/>
              </a:ext>
            </a:extLst>
          </p:cNvPr>
          <p:cNvCxnSpPr>
            <a:cxnSpLocks/>
          </p:cNvCxnSpPr>
          <p:nvPr/>
        </p:nvCxnSpPr>
        <p:spPr>
          <a:xfrm flipH="1">
            <a:off x="2961558" y="4024650"/>
            <a:ext cx="4732211" cy="0"/>
          </a:xfrm>
          <a:prstGeom prst="straightConnector1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F559CE7-F6FD-EBC7-EC25-9F919F84B40C}"/>
              </a:ext>
            </a:extLst>
          </p:cNvPr>
          <p:cNvCxnSpPr>
            <a:cxnSpLocks/>
          </p:cNvCxnSpPr>
          <p:nvPr/>
        </p:nvCxnSpPr>
        <p:spPr>
          <a:xfrm flipV="1">
            <a:off x="12139031" y="2082800"/>
            <a:ext cx="0" cy="6538686"/>
          </a:xfrm>
          <a:prstGeom prst="straightConnector1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D42902-38D9-2D9E-5EDC-1C62F66B6210}"/>
              </a:ext>
            </a:extLst>
          </p:cNvPr>
          <p:cNvCxnSpPr>
            <a:cxnSpLocks/>
          </p:cNvCxnSpPr>
          <p:nvPr/>
        </p:nvCxnSpPr>
        <p:spPr>
          <a:xfrm flipH="1">
            <a:off x="8634659" y="5009807"/>
            <a:ext cx="8009615" cy="0"/>
          </a:xfrm>
          <a:prstGeom prst="straightConnector1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50669075-21A0-5708-CA7B-466D2C730EDA}"/>
              </a:ext>
            </a:extLst>
          </p:cNvPr>
          <p:cNvSpPr/>
          <p:nvPr/>
        </p:nvSpPr>
        <p:spPr>
          <a:xfrm rot="5400000">
            <a:off x="-3430417" y="3420759"/>
            <a:ext cx="9144000" cy="2302482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229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870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C7F3B-8DDA-429B-9FB9-7C764EFD9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D2EAEA5-0C48-F5B1-2B81-AD31A083A683}"/>
              </a:ext>
            </a:extLst>
          </p:cNvPr>
          <p:cNvSpPr/>
          <p:nvPr/>
        </p:nvSpPr>
        <p:spPr>
          <a:xfrm>
            <a:off x="2694357" y="1393038"/>
            <a:ext cx="6170243" cy="3111230"/>
          </a:xfrm>
          <a:prstGeom prst="roundRect">
            <a:avLst>
              <a:gd name="adj" fmla="val 4246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912672E-CC72-1638-0B2D-1F04ACC134BD}"/>
              </a:ext>
            </a:extLst>
          </p:cNvPr>
          <p:cNvSpPr/>
          <p:nvPr/>
        </p:nvSpPr>
        <p:spPr>
          <a:xfrm>
            <a:off x="2694357" y="4842933"/>
            <a:ext cx="6170243" cy="3889586"/>
          </a:xfrm>
          <a:prstGeom prst="roundRect">
            <a:avLst>
              <a:gd name="adj" fmla="val 4246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87F1D21-1496-D581-CE99-18BDD7A432EE}"/>
              </a:ext>
            </a:extLst>
          </p:cNvPr>
          <p:cNvSpPr/>
          <p:nvPr/>
        </p:nvSpPr>
        <p:spPr>
          <a:xfrm>
            <a:off x="9266132" y="1393038"/>
            <a:ext cx="7705938" cy="3111229"/>
          </a:xfrm>
          <a:prstGeom prst="roundRect">
            <a:avLst>
              <a:gd name="adj" fmla="val 4620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7BC82D-D0CC-4930-F364-399E26C4FF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94357" y="411480"/>
            <a:ext cx="13949917" cy="816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en-US" sz="3200" b="1" dirty="0">
                <a:solidFill>
                  <a:schemeClr val="tx1"/>
                </a:solidFill>
                <a:latin typeface="Segoe UI Variable Text" pitchFamily="2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Customer Behavior Analysis</a:t>
            </a:r>
          </a:p>
          <a:p>
            <a:pPr>
              <a:lnSpc>
                <a:spcPts val="3000"/>
              </a:lnSpc>
            </a:pPr>
            <a:r>
              <a:rPr lang="en-US" dirty="0">
                <a:solidFill>
                  <a:schemeClr val="tx1"/>
                </a:solidFill>
                <a:latin typeface="Segoe UI Variable Display Light" pitchFamily="2" charset="0"/>
                <a:ea typeface="Segoe UI Black" panose="020B0A02040204020203" pitchFamily="34" charset="0"/>
                <a:cs typeface="Segoe UI Semibold" panose="020B0702040204020203" pitchFamily="34" charset="0"/>
              </a:rPr>
              <a:t>Analyzing customer activity, peak times, and store preference drivers</a:t>
            </a:r>
          </a:p>
        </p:txBody>
      </p:sp>
      <p:sp>
        <p:nvSpPr>
          <p:cNvPr id="14" name="Rectangle 13" hidden="1">
            <a:extLst>
              <a:ext uri="{FF2B5EF4-FFF2-40B4-BE49-F238E27FC236}">
                <a16:creationId xmlns:a16="http://schemas.microsoft.com/office/drawing/2014/main" id="{86D7049E-3B79-C7BA-E8F9-382DACC8F2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7716" y="0"/>
            <a:ext cx="417282" cy="914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5" name="Rectangle 14" hidden="1">
            <a:extLst>
              <a:ext uri="{FF2B5EF4-FFF2-40B4-BE49-F238E27FC236}">
                <a16:creationId xmlns:a16="http://schemas.microsoft.com/office/drawing/2014/main" id="{9CDDD758-5A56-6699-B927-CF7E196D1629}"/>
              </a:ext>
            </a:extLst>
          </p:cNvPr>
          <p:cNvSpPr>
            <a:spLocks/>
          </p:cNvSpPr>
          <p:nvPr/>
        </p:nvSpPr>
        <p:spPr>
          <a:xfrm>
            <a:off x="16651518" y="0"/>
            <a:ext cx="417282" cy="9144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7" name="Rectangle 16" hidden="1">
            <a:extLst>
              <a:ext uri="{FF2B5EF4-FFF2-40B4-BE49-F238E27FC236}">
                <a16:creationId xmlns:a16="http://schemas.microsoft.com/office/drawing/2014/main" id="{3376EE80-42B9-1517-72B9-53460F118D09}"/>
              </a:ext>
            </a:extLst>
          </p:cNvPr>
          <p:cNvSpPr>
            <a:spLocks/>
          </p:cNvSpPr>
          <p:nvPr/>
        </p:nvSpPr>
        <p:spPr>
          <a:xfrm>
            <a:off x="2269839" y="0"/>
            <a:ext cx="417282" cy="9144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9" name="Rectangle 18" hidden="1">
            <a:extLst>
              <a:ext uri="{FF2B5EF4-FFF2-40B4-BE49-F238E27FC236}">
                <a16:creationId xmlns:a16="http://schemas.microsoft.com/office/drawing/2014/main" id="{69881069-E237-BC47-72E9-93BA4C8CF930}"/>
              </a:ext>
            </a:extLst>
          </p:cNvPr>
          <p:cNvSpPr>
            <a:spLocks/>
          </p:cNvSpPr>
          <p:nvPr/>
        </p:nvSpPr>
        <p:spPr>
          <a:xfrm>
            <a:off x="9491011" y="0"/>
            <a:ext cx="356616" cy="9144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0" name="Rectangle 19" hidden="1">
            <a:extLst>
              <a:ext uri="{FF2B5EF4-FFF2-40B4-BE49-F238E27FC236}">
                <a16:creationId xmlns:a16="http://schemas.microsoft.com/office/drawing/2014/main" id="{DEF75066-F27B-E021-7331-A0476486C15D}"/>
              </a:ext>
            </a:extLst>
          </p:cNvPr>
          <p:cNvSpPr>
            <a:spLocks/>
          </p:cNvSpPr>
          <p:nvPr/>
        </p:nvSpPr>
        <p:spPr>
          <a:xfrm>
            <a:off x="2687120" y="4902200"/>
            <a:ext cx="13964397" cy="352188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 dirty="0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24" name="Picture 23" hidden="1">
            <a:extLst>
              <a:ext uri="{FF2B5EF4-FFF2-40B4-BE49-F238E27FC236}">
                <a16:creationId xmlns:a16="http://schemas.microsoft.com/office/drawing/2014/main" id="{A9DE2416-A5E5-C1F1-38C6-AAAFFF966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357" y="1393035"/>
            <a:ext cx="6803889" cy="3845169"/>
          </a:xfrm>
          <a:prstGeom prst="rect">
            <a:avLst/>
          </a:prstGeom>
        </p:spPr>
      </p:pic>
      <p:pic>
        <p:nvPicPr>
          <p:cNvPr id="26" name="Picture 25" hidden="1">
            <a:extLst>
              <a:ext uri="{FF2B5EF4-FFF2-40B4-BE49-F238E27FC236}">
                <a16:creationId xmlns:a16="http://schemas.microsoft.com/office/drawing/2014/main" id="{D719C3C0-F62A-D7E8-E9D3-962ADA4F9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4862" y="1393035"/>
            <a:ext cx="6796655" cy="7339484"/>
          </a:xfrm>
          <a:prstGeom prst="rect">
            <a:avLst/>
          </a:prstGeom>
        </p:spPr>
      </p:pic>
      <p:pic>
        <p:nvPicPr>
          <p:cNvPr id="28" name="Picture 27" hidden="1">
            <a:extLst>
              <a:ext uri="{FF2B5EF4-FFF2-40B4-BE49-F238E27FC236}">
                <a16:creationId xmlns:a16="http://schemas.microsoft.com/office/drawing/2014/main" id="{E39E14BF-EB3C-BE1B-897B-40CC31673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4357" y="5572561"/>
            <a:ext cx="6803887" cy="3159957"/>
          </a:xfrm>
          <a:prstGeom prst="rect">
            <a:avLst/>
          </a:prstGeom>
        </p:spPr>
      </p:pic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64CD3283-EBC8-A8A8-F7D2-A5A72EB53258}"/>
              </a:ext>
            </a:extLst>
          </p:cNvPr>
          <p:cNvSpPr/>
          <p:nvPr/>
        </p:nvSpPr>
        <p:spPr>
          <a:xfrm rot="5400000">
            <a:off x="-3430417" y="3420759"/>
            <a:ext cx="9144000" cy="2302482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229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1DD4F1-C2ED-BCCF-358B-D00C5FDCA7FA}"/>
              </a:ext>
            </a:extLst>
          </p:cNvPr>
          <p:cNvSpPr/>
          <p:nvPr/>
        </p:nvSpPr>
        <p:spPr>
          <a:xfrm>
            <a:off x="9266132" y="4842933"/>
            <a:ext cx="7682946" cy="3889586"/>
          </a:xfrm>
          <a:prstGeom prst="roundRect">
            <a:avLst>
              <a:gd name="adj" fmla="val 3896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429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>
            <a:alpha val="5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11FE38-C760-9A8B-6DAE-C15F17D65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DD8670A-5B6F-1EBD-2615-1A882D0812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94357" y="411480"/>
            <a:ext cx="13949917" cy="816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en-US" sz="3200" b="1" dirty="0">
                <a:solidFill>
                  <a:schemeClr val="tx1"/>
                </a:solidFill>
                <a:latin typeface="Segoe UI Variable Text" pitchFamily="2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Competitive Landscape Dashboard</a:t>
            </a:r>
          </a:p>
          <a:p>
            <a:pPr>
              <a:lnSpc>
                <a:spcPts val="3000"/>
              </a:lnSpc>
            </a:pPr>
            <a:r>
              <a:rPr lang="en-US" dirty="0">
                <a:solidFill>
                  <a:schemeClr val="tx1"/>
                </a:solidFill>
                <a:latin typeface="Segoe UI Variable Display Light" pitchFamily="2" charset="0"/>
                <a:ea typeface="Segoe UI Black" panose="020B0A02040204020203" pitchFamily="34" charset="0"/>
                <a:cs typeface="Segoe UI Semibold" panose="020B0702040204020203" pitchFamily="34" charset="0"/>
              </a:rPr>
              <a:t>Analyze how major coffee brands compete in scale, growth, and awareness</a:t>
            </a:r>
          </a:p>
        </p:txBody>
      </p:sp>
      <p:sp>
        <p:nvSpPr>
          <p:cNvPr id="14" name="Rectangle 13" hidden="1">
            <a:extLst>
              <a:ext uri="{FF2B5EF4-FFF2-40B4-BE49-F238E27FC236}">
                <a16:creationId xmlns:a16="http://schemas.microsoft.com/office/drawing/2014/main" id="{35F13D61-C441-04C7-B8BA-1D0CC45A4A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7716" y="0"/>
            <a:ext cx="417282" cy="914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5" name="Rectangle 14" hidden="1">
            <a:extLst>
              <a:ext uri="{FF2B5EF4-FFF2-40B4-BE49-F238E27FC236}">
                <a16:creationId xmlns:a16="http://schemas.microsoft.com/office/drawing/2014/main" id="{EBC44B7E-A6D1-89C5-13AD-2A167791758A}"/>
              </a:ext>
            </a:extLst>
          </p:cNvPr>
          <p:cNvSpPr>
            <a:spLocks/>
          </p:cNvSpPr>
          <p:nvPr/>
        </p:nvSpPr>
        <p:spPr>
          <a:xfrm>
            <a:off x="16651518" y="0"/>
            <a:ext cx="417282" cy="9144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7" name="Rectangle 16" hidden="1">
            <a:extLst>
              <a:ext uri="{FF2B5EF4-FFF2-40B4-BE49-F238E27FC236}">
                <a16:creationId xmlns:a16="http://schemas.microsoft.com/office/drawing/2014/main" id="{766079D7-2C74-82F1-1261-A314CF40E77E}"/>
              </a:ext>
            </a:extLst>
          </p:cNvPr>
          <p:cNvSpPr>
            <a:spLocks/>
          </p:cNvSpPr>
          <p:nvPr/>
        </p:nvSpPr>
        <p:spPr>
          <a:xfrm>
            <a:off x="2269839" y="0"/>
            <a:ext cx="417282" cy="9144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0" name="Rectangle 19" hidden="1">
            <a:extLst>
              <a:ext uri="{FF2B5EF4-FFF2-40B4-BE49-F238E27FC236}">
                <a16:creationId xmlns:a16="http://schemas.microsoft.com/office/drawing/2014/main" id="{C02FDD16-E03C-4A0F-200F-48DAD1CB95A9}"/>
              </a:ext>
            </a:extLst>
          </p:cNvPr>
          <p:cNvSpPr>
            <a:spLocks/>
          </p:cNvSpPr>
          <p:nvPr/>
        </p:nvSpPr>
        <p:spPr>
          <a:xfrm>
            <a:off x="2687120" y="4902200"/>
            <a:ext cx="13964397" cy="352188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 dirty="0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AF2E494-E3B9-ACC2-797D-CF932C0C30D1}"/>
              </a:ext>
            </a:extLst>
          </p:cNvPr>
          <p:cNvSpPr>
            <a:spLocks/>
          </p:cNvSpPr>
          <p:nvPr/>
        </p:nvSpPr>
        <p:spPr>
          <a:xfrm>
            <a:off x="8385488" y="1393036"/>
            <a:ext cx="8586582" cy="3178964"/>
          </a:xfrm>
          <a:prstGeom prst="roundRect">
            <a:avLst>
              <a:gd name="adj" fmla="val 2037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9" name="Rectangle 18" hidden="1">
            <a:extLst>
              <a:ext uri="{FF2B5EF4-FFF2-40B4-BE49-F238E27FC236}">
                <a16:creationId xmlns:a16="http://schemas.microsoft.com/office/drawing/2014/main" id="{FD0C806B-82B3-DEAB-C2F8-313624EA9529}"/>
              </a:ext>
            </a:extLst>
          </p:cNvPr>
          <p:cNvSpPr>
            <a:spLocks/>
          </p:cNvSpPr>
          <p:nvPr/>
        </p:nvSpPr>
        <p:spPr>
          <a:xfrm>
            <a:off x="7994921" y="0"/>
            <a:ext cx="356616" cy="9144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9" name="Rectangle 38" hidden="1">
            <a:extLst>
              <a:ext uri="{FF2B5EF4-FFF2-40B4-BE49-F238E27FC236}">
                <a16:creationId xmlns:a16="http://schemas.microsoft.com/office/drawing/2014/main" id="{869A89D8-FE3D-EE6C-68C0-ACE2B031CE05}"/>
              </a:ext>
            </a:extLst>
          </p:cNvPr>
          <p:cNvSpPr>
            <a:spLocks/>
          </p:cNvSpPr>
          <p:nvPr/>
        </p:nvSpPr>
        <p:spPr>
          <a:xfrm>
            <a:off x="12056609" y="0"/>
            <a:ext cx="356616" cy="9144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C0D8FAD-C655-3AC5-3289-6291B2470D66}"/>
              </a:ext>
            </a:extLst>
          </p:cNvPr>
          <p:cNvSpPr>
            <a:spLocks/>
          </p:cNvSpPr>
          <p:nvPr/>
        </p:nvSpPr>
        <p:spPr>
          <a:xfrm>
            <a:off x="2694357" y="1393036"/>
            <a:ext cx="5256953" cy="7339480"/>
          </a:xfrm>
          <a:prstGeom prst="roundRect">
            <a:avLst>
              <a:gd name="adj" fmla="val 2037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BA7737F-A36F-ACD0-3F8F-3B756F09059A}"/>
              </a:ext>
            </a:extLst>
          </p:cNvPr>
          <p:cNvSpPr>
            <a:spLocks/>
          </p:cNvSpPr>
          <p:nvPr/>
        </p:nvSpPr>
        <p:spPr>
          <a:xfrm>
            <a:off x="8385487" y="4927600"/>
            <a:ext cx="8586581" cy="3804916"/>
          </a:xfrm>
          <a:prstGeom prst="roundRect">
            <a:avLst>
              <a:gd name="adj" fmla="val 2037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E85CCF1-E8FB-FB87-5802-2541254A1DD7}"/>
              </a:ext>
            </a:extLst>
          </p:cNvPr>
          <p:cNvCxnSpPr>
            <a:cxnSpLocks/>
          </p:cNvCxnSpPr>
          <p:nvPr/>
        </p:nvCxnSpPr>
        <p:spPr>
          <a:xfrm flipH="1">
            <a:off x="2961558" y="3224550"/>
            <a:ext cx="4732211" cy="0"/>
          </a:xfrm>
          <a:prstGeom prst="straightConnector1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EB03576E-3D27-5C4D-57D3-5B6292BB0578}"/>
              </a:ext>
            </a:extLst>
          </p:cNvPr>
          <p:cNvSpPr/>
          <p:nvPr/>
        </p:nvSpPr>
        <p:spPr>
          <a:xfrm rot="5400000">
            <a:off x="-3430417" y="3420759"/>
            <a:ext cx="9144000" cy="2302482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229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108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B3CB571-8888-09CE-00E6-4EFB52DA5C0B}"/>
              </a:ext>
            </a:extLst>
          </p:cNvPr>
          <p:cNvSpPr/>
          <p:nvPr/>
        </p:nvSpPr>
        <p:spPr>
          <a:xfrm>
            <a:off x="2694357" y="1393036"/>
            <a:ext cx="7194688" cy="3845169"/>
          </a:xfrm>
          <a:prstGeom prst="roundRect">
            <a:avLst>
              <a:gd name="adj" fmla="val 4246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121A5A1-9CE8-24B0-3C23-07573C4EFBD8}"/>
              </a:ext>
            </a:extLst>
          </p:cNvPr>
          <p:cNvSpPr/>
          <p:nvPr/>
        </p:nvSpPr>
        <p:spPr>
          <a:xfrm>
            <a:off x="2694357" y="5572563"/>
            <a:ext cx="7194687" cy="3159956"/>
          </a:xfrm>
          <a:prstGeom prst="roundRect">
            <a:avLst>
              <a:gd name="adj" fmla="val 4246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164E6FF-A23C-274C-21E6-3009BF008BEF}"/>
              </a:ext>
            </a:extLst>
          </p:cNvPr>
          <p:cNvSpPr/>
          <p:nvPr/>
        </p:nvSpPr>
        <p:spPr>
          <a:xfrm>
            <a:off x="10313568" y="1393037"/>
            <a:ext cx="6658502" cy="7339482"/>
          </a:xfrm>
          <a:prstGeom prst="roundRect">
            <a:avLst>
              <a:gd name="adj" fmla="val 2037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0ED2C9-B975-500E-89AE-0E66A02DA4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94357" y="411480"/>
            <a:ext cx="13949917" cy="816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en-US" sz="3200" b="1" dirty="0">
                <a:solidFill>
                  <a:schemeClr val="tx1"/>
                </a:solidFill>
                <a:latin typeface="Segoe UI Variable Text" pitchFamily="2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Conversion Analysis Dashboard</a:t>
            </a:r>
          </a:p>
          <a:p>
            <a:pPr>
              <a:lnSpc>
                <a:spcPts val="3000"/>
              </a:lnSpc>
            </a:pPr>
            <a:r>
              <a:rPr lang="en-US" dirty="0">
                <a:solidFill>
                  <a:schemeClr val="tx1"/>
                </a:solidFill>
                <a:latin typeface="Segoe UI Variable Display Light" pitchFamily="2" charset="0"/>
                <a:ea typeface="Segoe UI Black" panose="020B0A02040204020203" pitchFamily="34" charset="0"/>
                <a:cs typeface="Segoe UI Semibold" panose="020B0702040204020203" pitchFamily="34" charset="0"/>
              </a:rPr>
              <a:t>Uncover key leakage points and understand what drives or hinders customer retention</a:t>
            </a:r>
          </a:p>
        </p:txBody>
      </p:sp>
      <p:sp>
        <p:nvSpPr>
          <p:cNvPr id="14" name="Rectangle 13" hidden="1">
            <a:extLst>
              <a:ext uri="{FF2B5EF4-FFF2-40B4-BE49-F238E27FC236}">
                <a16:creationId xmlns:a16="http://schemas.microsoft.com/office/drawing/2014/main" id="{3048FB67-8C5A-E2FF-ADD0-0488D996B4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7716" y="0"/>
            <a:ext cx="417282" cy="914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5" name="Rectangle 14" hidden="1">
            <a:extLst>
              <a:ext uri="{FF2B5EF4-FFF2-40B4-BE49-F238E27FC236}">
                <a16:creationId xmlns:a16="http://schemas.microsoft.com/office/drawing/2014/main" id="{91525071-8521-C2C4-A948-4F2A5D06E9FA}"/>
              </a:ext>
            </a:extLst>
          </p:cNvPr>
          <p:cNvSpPr>
            <a:spLocks/>
          </p:cNvSpPr>
          <p:nvPr/>
        </p:nvSpPr>
        <p:spPr>
          <a:xfrm>
            <a:off x="16651518" y="0"/>
            <a:ext cx="417282" cy="9144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7" name="Rectangle 16" hidden="1">
            <a:extLst>
              <a:ext uri="{FF2B5EF4-FFF2-40B4-BE49-F238E27FC236}">
                <a16:creationId xmlns:a16="http://schemas.microsoft.com/office/drawing/2014/main" id="{2E210C70-E6BC-01E8-69AA-6B3DDF8E00E9}"/>
              </a:ext>
            </a:extLst>
          </p:cNvPr>
          <p:cNvSpPr>
            <a:spLocks/>
          </p:cNvSpPr>
          <p:nvPr/>
        </p:nvSpPr>
        <p:spPr>
          <a:xfrm>
            <a:off x="2269839" y="0"/>
            <a:ext cx="417282" cy="9144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9" name="Rectangle 18" hidden="1">
            <a:extLst>
              <a:ext uri="{FF2B5EF4-FFF2-40B4-BE49-F238E27FC236}">
                <a16:creationId xmlns:a16="http://schemas.microsoft.com/office/drawing/2014/main" id="{2EC6817F-21FC-D1F9-6950-E2B3E8BEC0A1}"/>
              </a:ext>
            </a:extLst>
          </p:cNvPr>
          <p:cNvSpPr>
            <a:spLocks/>
          </p:cNvSpPr>
          <p:nvPr/>
        </p:nvSpPr>
        <p:spPr>
          <a:xfrm>
            <a:off x="9491011" y="0"/>
            <a:ext cx="356616" cy="9144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0" name="Rectangle 19" hidden="1">
            <a:extLst>
              <a:ext uri="{FF2B5EF4-FFF2-40B4-BE49-F238E27FC236}">
                <a16:creationId xmlns:a16="http://schemas.microsoft.com/office/drawing/2014/main" id="{B4AE4608-C8F6-AB35-07A8-FF1BDDFE6257}"/>
              </a:ext>
            </a:extLst>
          </p:cNvPr>
          <p:cNvSpPr>
            <a:spLocks/>
          </p:cNvSpPr>
          <p:nvPr/>
        </p:nvSpPr>
        <p:spPr>
          <a:xfrm>
            <a:off x="2687120" y="4902200"/>
            <a:ext cx="13964397" cy="352188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 dirty="0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24" name="Picture 23" hidden="1">
            <a:extLst>
              <a:ext uri="{FF2B5EF4-FFF2-40B4-BE49-F238E27FC236}">
                <a16:creationId xmlns:a16="http://schemas.microsoft.com/office/drawing/2014/main" id="{EE774686-AA33-8334-71C0-A8CF94419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357" y="1393035"/>
            <a:ext cx="6803889" cy="3845169"/>
          </a:xfrm>
          <a:prstGeom prst="rect">
            <a:avLst/>
          </a:prstGeom>
        </p:spPr>
      </p:pic>
      <p:pic>
        <p:nvPicPr>
          <p:cNvPr id="26" name="Picture 25" hidden="1">
            <a:extLst>
              <a:ext uri="{FF2B5EF4-FFF2-40B4-BE49-F238E27FC236}">
                <a16:creationId xmlns:a16="http://schemas.microsoft.com/office/drawing/2014/main" id="{3A8EDC3D-1D84-BE75-5140-634538337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4862" y="1393035"/>
            <a:ext cx="6796655" cy="7339484"/>
          </a:xfrm>
          <a:prstGeom prst="rect">
            <a:avLst/>
          </a:prstGeom>
        </p:spPr>
      </p:pic>
      <p:pic>
        <p:nvPicPr>
          <p:cNvPr id="28" name="Picture 27" hidden="1">
            <a:extLst>
              <a:ext uri="{FF2B5EF4-FFF2-40B4-BE49-F238E27FC236}">
                <a16:creationId xmlns:a16="http://schemas.microsoft.com/office/drawing/2014/main" id="{DA017B61-8575-5925-3DBF-19D6D4220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4357" y="5572561"/>
            <a:ext cx="6803887" cy="3159957"/>
          </a:xfrm>
          <a:prstGeom prst="rect">
            <a:avLst/>
          </a:prstGeom>
        </p:spPr>
      </p:pic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10FEA41C-85AF-88B1-5BFE-58DFDFB6A855}"/>
              </a:ext>
            </a:extLst>
          </p:cNvPr>
          <p:cNvSpPr/>
          <p:nvPr/>
        </p:nvSpPr>
        <p:spPr>
          <a:xfrm rot="5400000">
            <a:off x="-3430417" y="3420759"/>
            <a:ext cx="9144000" cy="2302482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229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49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A2D6D-E70F-7BF7-6471-A6C34A7E1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DF37691-352D-26AC-C95D-A14D43A8DDF6}"/>
              </a:ext>
            </a:extLst>
          </p:cNvPr>
          <p:cNvSpPr/>
          <p:nvPr/>
        </p:nvSpPr>
        <p:spPr>
          <a:xfrm>
            <a:off x="2694357" y="1393036"/>
            <a:ext cx="7194688" cy="7339482"/>
          </a:xfrm>
          <a:prstGeom prst="roundRect">
            <a:avLst>
              <a:gd name="adj" fmla="val 1774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B5AFFB2-6A0F-50C6-29DA-686943597AF7}"/>
              </a:ext>
            </a:extLst>
          </p:cNvPr>
          <p:cNvSpPr/>
          <p:nvPr/>
        </p:nvSpPr>
        <p:spPr>
          <a:xfrm>
            <a:off x="10313568" y="1393037"/>
            <a:ext cx="6658502" cy="3483763"/>
          </a:xfrm>
          <a:prstGeom prst="roundRect">
            <a:avLst>
              <a:gd name="adj" fmla="val 2037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F99D7D-7AD0-F129-73B2-CDA835D272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94357" y="411480"/>
            <a:ext cx="13949917" cy="816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en-US" sz="3200" b="1" dirty="0">
                <a:solidFill>
                  <a:schemeClr val="tx1"/>
                </a:solidFill>
                <a:latin typeface="Segoe UI Variable Text" pitchFamily="2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Customer Insights Dashboard</a:t>
            </a:r>
          </a:p>
          <a:p>
            <a:pPr>
              <a:lnSpc>
                <a:spcPts val="3000"/>
              </a:lnSpc>
            </a:pPr>
            <a:r>
              <a:rPr lang="en-US" dirty="0">
                <a:solidFill>
                  <a:schemeClr val="tx1"/>
                </a:solidFill>
                <a:latin typeface="Segoe UI Variable Display Light" pitchFamily="2" charset="0"/>
                <a:ea typeface="Segoe UI Black" panose="020B0A02040204020203" pitchFamily="34" charset="0"/>
                <a:cs typeface="Segoe UI Semibold" panose="020B0702040204020203" pitchFamily="34" charset="0"/>
              </a:rPr>
              <a:t>Analyze customer perceptions and the value drivers they prioritize</a:t>
            </a:r>
          </a:p>
        </p:txBody>
      </p:sp>
      <p:sp>
        <p:nvSpPr>
          <p:cNvPr id="14" name="Rectangle 13" hidden="1">
            <a:extLst>
              <a:ext uri="{FF2B5EF4-FFF2-40B4-BE49-F238E27FC236}">
                <a16:creationId xmlns:a16="http://schemas.microsoft.com/office/drawing/2014/main" id="{C70D1FF7-AA24-7D9A-B2FD-35F879B064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7716" y="0"/>
            <a:ext cx="417282" cy="914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5" name="Rectangle 14" hidden="1">
            <a:extLst>
              <a:ext uri="{FF2B5EF4-FFF2-40B4-BE49-F238E27FC236}">
                <a16:creationId xmlns:a16="http://schemas.microsoft.com/office/drawing/2014/main" id="{DCD74D4B-BC41-AD0F-4474-51863084440D}"/>
              </a:ext>
            </a:extLst>
          </p:cNvPr>
          <p:cNvSpPr>
            <a:spLocks/>
          </p:cNvSpPr>
          <p:nvPr/>
        </p:nvSpPr>
        <p:spPr>
          <a:xfrm>
            <a:off x="16651518" y="0"/>
            <a:ext cx="417282" cy="9144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7" name="Rectangle 16" hidden="1">
            <a:extLst>
              <a:ext uri="{FF2B5EF4-FFF2-40B4-BE49-F238E27FC236}">
                <a16:creationId xmlns:a16="http://schemas.microsoft.com/office/drawing/2014/main" id="{4C1EA8BB-C22C-4DA9-8AA9-DB53E21067C7}"/>
              </a:ext>
            </a:extLst>
          </p:cNvPr>
          <p:cNvSpPr>
            <a:spLocks/>
          </p:cNvSpPr>
          <p:nvPr/>
        </p:nvSpPr>
        <p:spPr>
          <a:xfrm>
            <a:off x="2269839" y="0"/>
            <a:ext cx="417282" cy="9144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9" name="Rectangle 18" hidden="1">
            <a:extLst>
              <a:ext uri="{FF2B5EF4-FFF2-40B4-BE49-F238E27FC236}">
                <a16:creationId xmlns:a16="http://schemas.microsoft.com/office/drawing/2014/main" id="{D5C1BF5D-CD6A-10E5-3171-1B99604B5658}"/>
              </a:ext>
            </a:extLst>
          </p:cNvPr>
          <p:cNvSpPr>
            <a:spLocks/>
          </p:cNvSpPr>
          <p:nvPr/>
        </p:nvSpPr>
        <p:spPr>
          <a:xfrm>
            <a:off x="9491011" y="0"/>
            <a:ext cx="356616" cy="9144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0" name="Rectangle 19" hidden="1">
            <a:extLst>
              <a:ext uri="{FF2B5EF4-FFF2-40B4-BE49-F238E27FC236}">
                <a16:creationId xmlns:a16="http://schemas.microsoft.com/office/drawing/2014/main" id="{AA63CFF0-2304-9E52-D271-251679E906DB}"/>
              </a:ext>
            </a:extLst>
          </p:cNvPr>
          <p:cNvSpPr>
            <a:spLocks/>
          </p:cNvSpPr>
          <p:nvPr/>
        </p:nvSpPr>
        <p:spPr>
          <a:xfrm>
            <a:off x="2687120" y="4902200"/>
            <a:ext cx="13964397" cy="352188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 dirty="0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24" name="Picture 23" hidden="1">
            <a:extLst>
              <a:ext uri="{FF2B5EF4-FFF2-40B4-BE49-F238E27FC236}">
                <a16:creationId xmlns:a16="http://schemas.microsoft.com/office/drawing/2014/main" id="{D2A89660-8D2F-C44C-D49F-06B3EFA86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357" y="1393035"/>
            <a:ext cx="6803889" cy="3845169"/>
          </a:xfrm>
          <a:prstGeom prst="rect">
            <a:avLst/>
          </a:prstGeom>
        </p:spPr>
      </p:pic>
      <p:pic>
        <p:nvPicPr>
          <p:cNvPr id="26" name="Picture 25" hidden="1">
            <a:extLst>
              <a:ext uri="{FF2B5EF4-FFF2-40B4-BE49-F238E27FC236}">
                <a16:creationId xmlns:a16="http://schemas.microsoft.com/office/drawing/2014/main" id="{B1F0868E-6C81-1582-DEE3-F7897A3AC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4862" y="1393035"/>
            <a:ext cx="6796655" cy="7339484"/>
          </a:xfrm>
          <a:prstGeom prst="rect">
            <a:avLst/>
          </a:prstGeom>
        </p:spPr>
      </p:pic>
      <p:pic>
        <p:nvPicPr>
          <p:cNvPr id="28" name="Picture 27" hidden="1">
            <a:extLst>
              <a:ext uri="{FF2B5EF4-FFF2-40B4-BE49-F238E27FC236}">
                <a16:creationId xmlns:a16="http://schemas.microsoft.com/office/drawing/2014/main" id="{B01373E5-E5D4-2470-B815-E9E5401463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4357" y="5572561"/>
            <a:ext cx="6803887" cy="3159957"/>
          </a:xfrm>
          <a:prstGeom prst="rect">
            <a:avLst/>
          </a:prstGeom>
        </p:spPr>
      </p:pic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B5616E9E-C18B-D561-0984-3FB0CCA0E8FE}"/>
              </a:ext>
            </a:extLst>
          </p:cNvPr>
          <p:cNvSpPr/>
          <p:nvPr/>
        </p:nvSpPr>
        <p:spPr>
          <a:xfrm rot="5400000">
            <a:off x="-3430417" y="3420759"/>
            <a:ext cx="9144000" cy="2302482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229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87AD72F-D825-C7F9-C418-9216D045B59B}"/>
              </a:ext>
            </a:extLst>
          </p:cNvPr>
          <p:cNvSpPr/>
          <p:nvPr/>
        </p:nvSpPr>
        <p:spPr>
          <a:xfrm>
            <a:off x="10290577" y="5248755"/>
            <a:ext cx="6658502" cy="3483763"/>
          </a:xfrm>
          <a:prstGeom prst="roundRect">
            <a:avLst>
              <a:gd name="adj" fmla="val 2037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214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>
            <a:alpha val="5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FF2ACE-7852-EE5A-1B18-2B1E0BCDF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33E979A-ABD4-D37E-FFAB-5FC65B7F85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94357" y="411480"/>
            <a:ext cx="13949917" cy="816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en-US" sz="3200" b="1" dirty="0">
                <a:solidFill>
                  <a:schemeClr val="tx1"/>
                </a:solidFill>
                <a:latin typeface="Segoe UI Variable Text" pitchFamily="2" charset="0"/>
                <a:ea typeface="Segoe UI Black" panose="020B0A02040204020203" pitchFamily="34" charset="0"/>
                <a:cs typeface="Segoe UI Semibold" panose="020B0702040204020203" pitchFamily="34" charset="0"/>
              </a:rPr>
              <a:t>RFM Analysis</a:t>
            </a:r>
          </a:p>
          <a:p>
            <a:pPr>
              <a:lnSpc>
                <a:spcPts val="3000"/>
              </a:lnSpc>
            </a:pPr>
            <a:r>
              <a:rPr lang="en-US" dirty="0">
                <a:solidFill>
                  <a:schemeClr val="tx1"/>
                </a:solidFill>
                <a:latin typeface="Segoe UI Variable Display Light" pitchFamily="2" charset="0"/>
                <a:ea typeface="Segoe UI Black" panose="020B0A02040204020203" pitchFamily="34" charset="0"/>
                <a:cs typeface="Segoe UI Semibold" panose="020B0702040204020203" pitchFamily="34" charset="0"/>
              </a:rPr>
              <a:t>Analyze customer loyalty across customer segments and demographics</a:t>
            </a:r>
          </a:p>
        </p:txBody>
      </p:sp>
      <p:sp>
        <p:nvSpPr>
          <p:cNvPr id="14" name="Rectangle 13" hidden="1">
            <a:extLst>
              <a:ext uri="{FF2B5EF4-FFF2-40B4-BE49-F238E27FC236}">
                <a16:creationId xmlns:a16="http://schemas.microsoft.com/office/drawing/2014/main" id="{15116391-64DA-F56F-51A3-BEA62591E3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7716" y="0"/>
            <a:ext cx="417282" cy="914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5" name="Rectangle 14" hidden="1">
            <a:extLst>
              <a:ext uri="{FF2B5EF4-FFF2-40B4-BE49-F238E27FC236}">
                <a16:creationId xmlns:a16="http://schemas.microsoft.com/office/drawing/2014/main" id="{A19A6584-DDE0-0C07-3D92-7E26D2F05024}"/>
              </a:ext>
            </a:extLst>
          </p:cNvPr>
          <p:cNvSpPr>
            <a:spLocks/>
          </p:cNvSpPr>
          <p:nvPr/>
        </p:nvSpPr>
        <p:spPr>
          <a:xfrm>
            <a:off x="16651518" y="0"/>
            <a:ext cx="417282" cy="9144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7" name="Rectangle 16" hidden="1">
            <a:extLst>
              <a:ext uri="{FF2B5EF4-FFF2-40B4-BE49-F238E27FC236}">
                <a16:creationId xmlns:a16="http://schemas.microsoft.com/office/drawing/2014/main" id="{77C2DB82-D424-991C-2321-7E705117762E}"/>
              </a:ext>
            </a:extLst>
          </p:cNvPr>
          <p:cNvSpPr>
            <a:spLocks/>
          </p:cNvSpPr>
          <p:nvPr/>
        </p:nvSpPr>
        <p:spPr>
          <a:xfrm>
            <a:off x="2269839" y="0"/>
            <a:ext cx="417282" cy="9144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0" name="Rectangle 19" hidden="1">
            <a:extLst>
              <a:ext uri="{FF2B5EF4-FFF2-40B4-BE49-F238E27FC236}">
                <a16:creationId xmlns:a16="http://schemas.microsoft.com/office/drawing/2014/main" id="{1A99982D-29B3-AB98-28A3-F76155FD3C15}"/>
              </a:ext>
            </a:extLst>
          </p:cNvPr>
          <p:cNvSpPr>
            <a:spLocks/>
          </p:cNvSpPr>
          <p:nvPr/>
        </p:nvSpPr>
        <p:spPr>
          <a:xfrm>
            <a:off x="2694357" y="4803035"/>
            <a:ext cx="13964397" cy="352188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 dirty="0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78CD461-B176-7858-A872-1541458B383C}"/>
              </a:ext>
            </a:extLst>
          </p:cNvPr>
          <p:cNvSpPr>
            <a:spLocks/>
          </p:cNvSpPr>
          <p:nvPr/>
        </p:nvSpPr>
        <p:spPr>
          <a:xfrm>
            <a:off x="2694355" y="3200400"/>
            <a:ext cx="7688807" cy="5495987"/>
          </a:xfrm>
          <a:prstGeom prst="roundRect">
            <a:avLst>
              <a:gd name="adj" fmla="val 2037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9" name="Rectangle 18" hidden="1">
            <a:extLst>
              <a:ext uri="{FF2B5EF4-FFF2-40B4-BE49-F238E27FC236}">
                <a16:creationId xmlns:a16="http://schemas.microsoft.com/office/drawing/2014/main" id="{BB0C3FEE-D5AC-903D-36B6-B6DB86991EA0}"/>
              </a:ext>
            </a:extLst>
          </p:cNvPr>
          <p:cNvSpPr>
            <a:spLocks/>
          </p:cNvSpPr>
          <p:nvPr/>
        </p:nvSpPr>
        <p:spPr>
          <a:xfrm>
            <a:off x="7994921" y="0"/>
            <a:ext cx="356616" cy="9144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9" name="Rectangle 38" hidden="1">
            <a:extLst>
              <a:ext uri="{FF2B5EF4-FFF2-40B4-BE49-F238E27FC236}">
                <a16:creationId xmlns:a16="http://schemas.microsoft.com/office/drawing/2014/main" id="{871AC744-764A-D209-4580-3FCE0FCB0C5C}"/>
              </a:ext>
            </a:extLst>
          </p:cNvPr>
          <p:cNvSpPr>
            <a:spLocks/>
          </p:cNvSpPr>
          <p:nvPr/>
        </p:nvSpPr>
        <p:spPr>
          <a:xfrm>
            <a:off x="12056609" y="0"/>
            <a:ext cx="356616" cy="9144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3EADF42-FFE6-CCE5-386E-49490449D04D}"/>
              </a:ext>
            </a:extLst>
          </p:cNvPr>
          <p:cNvSpPr>
            <a:spLocks/>
          </p:cNvSpPr>
          <p:nvPr/>
        </p:nvSpPr>
        <p:spPr>
          <a:xfrm>
            <a:off x="2694355" y="1393035"/>
            <a:ext cx="10711411" cy="1504173"/>
          </a:xfrm>
          <a:prstGeom prst="roundRect">
            <a:avLst>
              <a:gd name="adj" fmla="val 7453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BB30D93-9CA5-FC1D-D458-A54BEA7753AF}"/>
              </a:ext>
            </a:extLst>
          </p:cNvPr>
          <p:cNvSpPr>
            <a:spLocks/>
          </p:cNvSpPr>
          <p:nvPr/>
        </p:nvSpPr>
        <p:spPr>
          <a:xfrm>
            <a:off x="13830300" y="1393036"/>
            <a:ext cx="3141770" cy="1504172"/>
          </a:xfrm>
          <a:prstGeom prst="roundRect">
            <a:avLst>
              <a:gd name="adj" fmla="val 7453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7B83CD1-E71C-BDAD-B184-0170A6B72DCA}"/>
              </a:ext>
            </a:extLst>
          </p:cNvPr>
          <p:cNvSpPr>
            <a:spLocks/>
          </p:cNvSpPr>
          <p:nvPr/>
        </p:nvSpPr>
        <p:spPr>
          <a:xfrm>
            <a:off x="13830294" y="3200400"/>
            <a:ext cx="3141769" cy="1689100"/>
          </a:xfrm>
          <a:prstGeom prst="roundRect">
            <a:avLst>
              <a:gd name="adj" fmla="val 7453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FA71D22-134B-5A0E-071A-F11669C8C0BF}"/>
              </a:ext>
            </a:extLst>
          </p:cNvPr>
          <p:cNvSpPr>
            <a:spLocks/>
          </p:cNvSpPr>
          <p:nvPr/>
        </p:nvSpPr>
        <p:spPr>
          <a:xfrm>
            <a:off x="10807703" y="3200400"/>
            <a:ext cx="2598061" cy="5479760"/>
          </a:xfrm>
          <a:prstGeom prst="roundRect">
            <a:avLst>
              <a:gd name="adj" fmla="val 2037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8E4D27-AACA-91F7-87DE-476555F79544}"/>
              </a:ext>
            </a:extLst>
          </p:cNvPr>
          <p:cNvSpPr>
            <a:spLocks/>
          </p:cNvSpPr>
          <p:nvPr/>
        </p:nvSpPr>
        <p:spPr>
          <a:xfrm>
            <a:off x="13830295" y="5095730"/>
            <a:ext cx="3141768" cy="1689100"/>
          </a:xfrm>
          <a:prstGeom prst="roundRect">
            <a:avLst>
              <a:gd name="adj" fmla="val 7453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4A799E-1D7E-F9E1-A60D-59299A4196D8}"/>
              </a:ext>
            </a:extLst>
          </p:cNvPr>
          <p:cNvSpPr>
            <a:spLocks/>
          </p:cNvSpPr>
          <p:nvPr/>
        </p:nvSpPr>
        <p:spPr>
          <a:xfrm>
            <a:off x="13830295" y="6991060"/>
            <a:ext cx="3141768" cy="1689100"/>
          </a:xfrm>
          <a:prstGeom prst="roundRect">
            <a:avLst>
              <a:gd name="adj" fmla="val 7453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727A5135-AF33-8ED2-F29B-78370BDF1FB8}"/>
              </a:ext>
            </a:extLst>
          </p:cNvPr>
          <p:cNvSpPr/>
          <p:nvPr/>
        </p:nvSpPr>
        <p:spPr>
          <a:xfrm rot="5400000">
            <a:off x="-3430417" y="3420759"/>
            <a:ext cx="9144000" cy="2302482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229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665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4DCDA-D3BD-7D0A-4041-914B68F60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95BADB-6665-7378-6EA1-FD900F4381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94357" y="411480"/>
            <a:ext cx="13949917" cy="816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en-US" sz="3200" b="1" dirty="0">
                <a:solidFill>
                  <a:schemeClr val="tx1"/>
                </a:solidFill>
                <a:latin typeface="Segoe UI Variable Text" pitchFamily="2" charset="0"/>
                <a:ea typeface="Segoe UI Black" panose="020B0A02040204020203" pitchFamily="34" charset="0"/>
                <a:cs typeface="Segoe UI Semibold" panose="020B0702040204020203" pitchFamily="34" charset="0"/>
              </a:rPr>
              <a:t>Satisfaction Analysis</a:t>
            </a:r>
          </a:p>
          <a:p>
            <a:pPr>
              <a:lnSpc>
                <a:spcPts val="3000"/>
              </a:lnSpc>
            </a:pPr>
            <a:r>
              <a:rPr lang="en-US" dirty="0">
                <a:solidFill>
                  <a:schemeClr val="tx1"/>
                </a:solidFill>
                <a:latin typeface="Segoe UI Variable Display Light" pitchFamily="2" charset="0"/>
                <a:ea typeface="Segoe UI Black" panose="020B0A02040204020203" pitchFamily="34" charset="0"/>
                <a:cs typeface="Segoe UI Semibold" panose="020B0702040204020203" pitchFamily="34" charset="0"/>
              </a:rPr>
              <a:t>Analyze the need satisfaction rate of each customer segment and loyalty level </a:t>
            </a:r>
          </a:p>
        </p:txBody>
      </p:sp>
      <p:sp>
        <p:nvSpPr>
          <p:cNvPr id="14" name="Rectangle 13" hidden="1">
            <a:extLst>
              <a:ext uri="{FF2B5EF4-FFF2-40B4-BE49-F238E27FC236}">
                <a16:creationId xmlns:a16="http://schemas.microsoft.com/office/drawing/2014/main" id="{ADF18C17-94E5-0027-1CE5-340B88A9A7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7716" y="0"/>
            <a:ext cx="417282" cy="914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5" name="Rectangle 14" hidden="1">
            <a:extLst>
              <a:ext uri="{FF2B5EF4-FFF2-40B4-BE49-F238E27FC236}">
                <a16:creationId xmlns:a16="http://schemas.microsoft.com/office/drawing/2014/main" id="{F1D5AE6F-9ED2-A4D2-AB52-1E5944A423A4}"/>
              </a:ext>
            </a:extLst>
          </p:cNvPr>
          <p:cNvSpPr>
            <a:spLocks/>
          </p:cNvSpPr>
          <p:nvPr/>
        </p:nvSpPr>
        <p:spPr>
          <a:xfrm>
            <a:off x="16651518" y="0"/>
            <a:ext cx="417282" cy="9144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7" name="Rectangle 16" hidden="1">
            <a:extLst>
              <a:ext uri="{FF2B5EF4-FFF2-40B4-BE49-F238E27FC236}">
                <a16:creationId xmlns:a16="http://schemas.microsoft.com/office/drawing/2014/main" id="{F0603979-5BE0-FE49-2CDD-3AFBA6653788}"/>
              </a:ext>
            </a:extLst>
          </p:cNvPr>
          <p:cNvSpPr>
            <a:spLocks/>
          </p:cNvSpPr>
          <p:nvPr/>
        </p:nvSpPr>
        <p:spPr>
          <a:xfrm>
            <a:off x="2269839" y="0"/>
            <a:ext cx="417282" cy="9144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0" name="Rectangle 19" hidden="1">
            <a:extLst>
              <a:ext uri="{FF2B5EF4-FFF2-40B4-BE49-F238E27FC236}">
                <a16:creationId xmlns:a16="http://schemas.microsoft.com/office/drawing/2014/main" id="{7DBE6768-48CC-2872-C46F-6980FA41BE31}"/>
              </a:ext>
            </a:extLst>
          </p:cNvPr>
          <p:cNvSpPr>
            <a:spLocks/>
          </p:cNvSpPr>
          <p:nvPr/>
        </p:nvSpPr>
        <p:spPr>
          <a:xfrm>
            <a:off x="2694357" y="4803035"/>
            <a:ext cx="13964397" cy="352188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 dirty="0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8" name="Rectangle: Rounded Corners 17" hidden="1">
            <a:extLst>
              <a:ext uri="{FF2B5EF4-FFF2-40B4-BE49-F238E27FC236}">
                <a16:creationId xmlns:a16="http://schemas.microsoft.com/office/drawing/2014/main" id="{83DFCE63-E3B4-E6F6-50EF-2ADAA30D8CDC}"/>
              </a:ext>
            </a:extLst>
          </p:cNvPr>
          <p:cNvSpPr>
            <a:spLocks/>
          </p:cNvSpPr>
          <p:nvPr/>
        </p:nvSpPr>
        <p:spPr>
          <a:xfrm>
            <a:off x="2694355" y="4767943"/>
            <a:ext cx="5522545" cy="3928444"/>
          </a:xfrm>
          <a:prstGeom prst="roundRect">
            <a:avLst>
              <a:gd name="adj" fmla="val 2037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9" name="Rectangle 18" hidden="1">
            <a:extLst>
              <a:ext uri="{FF2B5EF4-FFF2-40B4-BE49-F238E27FC236}">
                <a16:creationId xmlns:a16="http://schemas.microsoft.com/office/drawing/2014/main" id="{7DA0BEBF-B9CC-DA08-2156-ED1B4003FC93}"/>
              </a:ext>
            </a:extLst>
          </p:cNvPr>
          <p:cNvSpPr>
            <a:spLocks/>
          </p:cNvSpPr>
          <p:nvPr/>
        </p:nvSpPr>
        <p:spPr>
          <a:xfrm>
            <a:off x="7994921" y="0"/>
            <a:ext cx="356616" cy="9144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9" name="Rectangle 38" hidden="1">
            <a:extLst>
              <a:ext uri="{FF2B5EF4-FFF2-40B4-BE49-F238E27FC236}">
                <a16:creationId xmlns:a16="http://schemas.microsoft.com/office/drawing/2014/main" id="{29D2F768-BAF5-E16C-96BB-75391158C12E}"/>
              </a:ext>
            </a:extLst>
          </p:cNvPr>
          <p:cNvSpPr>
            <a:spLocks/>
          </p:cNvSpPr>
          <p:nvPr/>
        </p:nvSpPr>
        <p:spPr>
          <a:xfrm>
            <a:off x="12056609" y="0"/>
            <a:ext cx="356616" cy="9144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72B9B5E-0CF6-2AAF-07E0-EDAAEEFC680B}"/>
              </a:ext>
            </a:extLst>
          </p:cNvPr>
          <p:cNvSpPr>
            <a:spLocks/>
          </p:cNvSpPr>
          <p:nvPr/>
        </p:nvSpPr>
        <p:spPr>
          <a:xfrm>
            <a:off x="8618429" y="4904788"/>
            <a:ext cx="8353633" cy="3775372"/>
          </a:xfrm>
          <a:prstGeom prst="roundRect">
            <a:avLst>
              <a:gd name="adj" fmla="val 2037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6D511F9C-105E-5BAB-9B6C-5AD0925477F0}"/>
              </a:ext>
            </a:extLst>
          </p:cNvPr>
          <p:cNvSpPr/>
          <p:nvPr/>
        </p:nvSpPr>
        <p:spPr>
          <a:xfrm rot="5400000">
            <a:off x="-3430417" y="3420759"/>
            <a:ext cx="9144000" cy="2302482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229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3890BC6-C29C-A899-7EAE-FA894981F383}"/>
              </a:ext>
            </a:extLst>
          </p:cNvPr>
          <p:cNvSpPr>
            <a:spLocks/>
          </p:cNvSpPr>
          <p:nvPr/>
        </p:nvSpPr>
        <p:spPr>
          <a:xfrm>
            <a:off x="2694354" y="1393036"/>
            <a:ext cx="3554045" cy="3178964"/>
          </a:xfrm>
          <a:prstGeom prst="roundRect">
            <a:avLst>
              <a:gd name="adj" fmla="val 7453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AF53AD2-1D82-4A08-F830-C872AC5EA95D}"/>
              </a:ext>
            </a:extLst>
          </p:cNvPr>
          <p:cNvSpPr>
            <a:spLocks/>
          </p:cNvSpPr>
          <p:nvPr/>
        </p:nvSpPr>
        <p:spPr>
          <a:xfrm>
            <a:off x="6672929" y="1393036"/>
            <a:ext cx="4876804" cy="3178964"/>
          </a:xfrm>
          <a:prstGeom prst="roundRect">
            <a:avLst>
              <a:gd name="adj" fmla="val 7453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8C38C69-8CAC-CDC6-E521-A32724A30EF2}"/>
              </a:ext>
            </a:extLst>
          </p:cNvPr>
          <p:cNvSpPr>
            <a:spLocks/>
          </p:cNvSpPr>
          <p:nvPr/>
        </p:nvSpPr>
        <p:spPr>
          <a:xfrm>
            <a:off x="11974263" y="1393036"/>
            <a:ext cx="4997800" cy="3178964"/>
          </a:xfrm>
          <a:prstGeom prst="roundRect">
            <a:avLst>
              <a:gd name="adj" fmla="val 7453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3" name="Picture 12" hidden="1">
            <a:extLst>
              <a:ext uri="{FF2B5EF4-FFF2-40B4-BE49-F238E27FC236}">
                <a16:creationId xmlns:a16="http://schemas.microsoft.com/office/drawing/2014/main" id="{58A151CD-087B-ED66-69F9-8BA5AA93B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476" y="1393034"/>
            <a:ext cx="3554045" cy="2534004"/>
          </a:xfrm>
          <a:prstGeom prst="rect">
            <a:avLst/>
          </a:prstGeom>
        </p:spPr>
      </p:pic>
      <p:pic>
        <p:nvPicPr>
          <p:cNvPr id="22" name="Picture 21" hidden="1">
            <a:extLst>
              <a:ext uri="{FF2B5EF4-FFF2-40B4-BE49-F238E27FC236}">
                <a16:creationId xmlns:a16="http://schemas.microsoft.com/office/drawing/2014/main" id="{225E8960-1865-AA7E-643A-5C1979C1B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928" y="1393034"/>
            <a:ext cx="4475271" cy="2679384"/>
          </a:xfrm>
          <a:prstGeom prst="rect">
            <a:avLst/>
          </a:prstGeom>
        </p:spPr>
      </p:pic>
      <p:pic>
        <p:nvPicPr>
          <p:cNvPr id="24" name="Picture 23" hidden="1">
            <a:extLst>
              <a:ext uri="{FF2B5EF4-FFF2-40B4-BE49-F238E27FC236}">
                <a16:creationId xmlns:a16="http://schemas.microsoft.com/office/drawing/2014/main" id="{F0443F0D-697C-5794-E9A8-8AAB1C8DE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9726" y="1303474"/>
            <a:ext cx="5496990" cy="2679384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65BADFD-2740-C15C-74B2-EB737FFA9663}"/>
              </a:ext>
            </a:extLst>
          </p:cNvPr>
          <p:cNvSpPr>
            <a:spLocks/>
          </p:cNvSpPr>
          <p:nvPr/>
        </p:nvSpPr>
        <p:spPr>
          <a:xfrm>
            <a:off x="2694354" y="4911634"/>
            <a:ext cx="5468710" cy="3820886"/>
          </a:xfrm>
          <a:prstGeom prst="roundRect">
            <a:avLst>
              <a:gd name="adj" fmla="val 2037"/>
            </a:avLst>
          </a:prstGeom>
          <a:solidFill>
            <a:schemeClr val="bg1"/>
          </a:solidFill>
          <a:ln>
            <a:noFill/>
          </a:ln>
          <a:effectLst>
            <a:outerShdw blurRad="50800" dist="50800" dir="5400000" sx="102000" sy="102000" algn="ctr" rotWithShape="0">
              <a:srgbClr val="000000">
                <a:alpha val="1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>
              <a:solidFill>
                <a:schemeClr val="tx1"/>
              </a:solidFill>
              <a:latin typeface="Segoe UI Variable Text" pitchFamily="2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462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4410</TotalTime>
  <Words>91</Words>
  <Application>Microsoft Office PowerPoint</Application>
  <PresentationFormat>Custom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Segoe UI Variable Display Light</vt:lpstr>
      <vt:lpstr>Segoe UI Variable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Trường Xuân</dc:creator>
  <cp:lastModifiedBy>Truong Nguyen Tran Xuan</cp:lastModifiedBy>
  <cp:revision>26</cp:revision>
  <dcterms:created xsi:type="dcterms:W3CDTF">2025-10-15T17:20:49Z</dcterms:created>
  <dcterms:modified xsi:type="dcterms:W3CDTF">2025-12-11T21:29:28Z</dcterms:modified>
</cp:coreProperties>
</file>