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8" r:id="rId2"/>
    <p:sldId id="257" r:id="rId3"/>
    <p:sldId id="256" r:id="rId4"/>
    <p:sldId id="259" r:id="rId5"/>
  </p:sldIdLst>
  <p:sldSz cx="17373600" cy="9144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7F7F7"/>
    <a:srgbClr val="FFFFFF"/>
    <a:srgbClr val="B2292E"/>
    <a:srgbClr val="851E22"/>
    <a:srgbClr val="C5564F"/>
    <a:srgbClr val="DE8F86"/>
    <a:srgbClr val="D1AFA0"/>
    <a:srgbClr val="CFCFCF"/>
    <a:srgbClr val="9F9F9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217" autoAdjust="0"/>
    <p:restoredTop sz="94660"/>
  </p:normalViewPr>
  <p:slideViewPr>
    <p:cSldViewPr snapToGrid="0">
      <p:cViewPr varScale="1">
        <p:scale>
          <a:sx n="50" d="100"/>
          <a:sy n="50" d="100"/>
        </p:scale>
        <p:origin x="732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71700" y="1496484"/>
            <a:ext cx="13030200" cy="3183467"/>
          </a:xfrm>
        </p:spPr>
        <p:txBody>
          <a:bodyPr anchor="b"/>
          <a:lstStyle>
            <a:lvl1pPr algn="ctr"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171700" y="4802717"/>
            <a:ext cx="13030200" cy="2207683"/>
          </a:xfrm>
        </p:spPr>
        <p:txBody>
          <a:bodyPr/>
          <a:lstStyle>
            <a:lvl1pPr marL="0" indent="0" algn="ctr">
              <a:buNone/>
              <a:defRPr sz="3200"/>
            </a:lvl1pPr>
            <a:lvl2pPr marL="609585" indent="0" algn="ctr">
              <a:buNone/>
              <a:defRPr sz="2667"/>
            </a:lvl2pPr>
            <a:lvl3pPr marL="1219170" indent="0" algn="ctr">
              <a:buNone/>
              <a:defRPr sz="2400"/>
            </a:lvl3pPr>
            <a:lvl4pPr marL="1828754" indent="0" algn="ctr">
              <a:buNone/>
              <a:defRPr sz="2133"/>
            </a:lvl4pPr>
            <a:lvl5pPr marL="2438339" indent="0" algn="ctr">
              <a:buNone/>
              <a:defRPr sz="2133"/>
            </a:lvl5pPr>
            <a:lvl6pPr marL="3047924" indent="0" algn="ctr">
              <a:buNone/>
              <a:defRPr sz="2133"/>
            </a:lvl6pPr>
            <a:lvl7pPr marL="3657509" indent="0" algn="ctr">
              <a:buNone/>
              <a:defRPr sz="2133"/>
            </a:lvl7pPr>
            <a:lvl8pPr marL="4267093" indent="0" algn="ctr">
              <a:buNone/>
              <a:defRPr sz="2133"/>
            </a:lvl8pPr>
            <a:lvl9pPr marL="4876678" indent="0" algn="ctr">
              <a:buNone/>
              <a:defRPr sz="2133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2C6692-EA0D-4861-862E-DDC209ABBD47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DDD4E1-19D1-4841-8865-699ADA1D81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7306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2C6692-EA0D-4861-862E-DDC209ABBD47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DDD4E1-19D1-4841-8865-699ADA1D81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90173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5386" y="2279652"/>
            <a:ext cx="14984730" cy="3803649"/>
          </a:xfrm>
        </p:spPr>
        <p:txBody>
          <a:bodyPr anchor="b"/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85386" y="6119285"/>
            <a:ext cx="14984730" cy="2000249"/>
          </a:xfrm>
        </p:spPr>
        <p:txBody>
          <a:bodyPr/>
          <a:lstStyle>
            <a:lvl1pPr marL="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1pPr>
            <a:lvl2pPr marL="609585" indent="0">
              <a:buNone/>
              <a:defRPr sz="2667">
                <a:solidFill>
                  <a:schemeClr val="tx1">
                    <a:tint val="82000"/>
                  </a:schemeClr>
                </a:solidFill>
              </a:defRPr>
            </a:lvl2pPr>
            <a:lvl3pPr marL="121917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3pPr>
            <a:lvl4pPr marL="1828754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4pPr>
            <a:lvl5pPr marL="2438339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5pPr>
            <a:lvl6pPr marL="3047924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6pPr>
            <a:lvl7pPr marL="3657509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7pPr>
            <a:lvl8pPr marL="4267093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8pPr>
            <a:lvl9pPr marL="4876678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2C6692-EA0D-4861-862E-DDC209ABBD47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DDD4E1-19D1-4841-8865-699ADA1D81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97188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94435" y="2434167"/>
            <a:ext cx="738378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795385" y="2434167"/>
            <a:ext cx="738378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2C6692-EA0D-4861-862E-DDC209ABBD47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DDD4E1-19D1-4841-8865-699ADA1D81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62608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6698" y="486834"/>
            <a:ext cx="14984730" cy="176741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96699" y="2241551"/>
            <a:ext cx="7349846" cy="109854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96699" y="3340100"/>
            <a:ext cx="7349846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8795385" y="2241551"/>
            <a:ext cx="7386043" cy="109854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8795385" y="3340100"/>
            <a:ext cx="7386043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2C6692-EA0D-4861-862E-DDC209ABBD47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DDD4E1-19D1-4841-8865-699ADA1D81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14471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2C6692-EA0D-4861-862E-DDC209ABBD47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DDD4E1-19D1-4841-8865-699ADA1D81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10308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2C6692-EA0D-4861-862E-DDC209ABBD47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DDD4E1-19D1-4841-8865-699ADA1D81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41029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6698" y="609600"/>
            <a:ext cx="5603438" cy="213360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86043" y="1316567"/>
            <a:ext cx="8795385" cy="6498167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96698" y="2743200"/>
            <a:ext cx="5603438" cy="5082117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2C6692-EA0D-4861-862E-DDC209ABBD47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DDD4E1-19D1-4841-8865-699ADA1D81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80184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6698" y="609600"/>
            <a:ext cx="5603438" cy="213360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6043" y="1316567"/>
            <a:ext cx="8795385" cy="6498167"/>
          </a:xfrm>
        </p:spPr>
        <p:txBody>
          <a:bodyPr anchor="t"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96698" y="2743200"/>
            <a:ext cx="5603438" cy="5082117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2C6692-EA0D-4861-862E-DDC209ABBD47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DDD4E1-19D1-4841-8865-699ADA1D81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0418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2C6692-EA0D-4861-862E-DDC209ABBD47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DDD4E1-19D1-4841-8865-699ADA1D81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03993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2432982" y="486834"/>
            <a:ext cx="3746183" cy="77491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94435" y="486834"/>
            <a:ext cx="11021378" cy="77491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2C6692-EA0D-4861-862E-DDC209ABBD47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DDD4E1-19D1-4841-8865-699ADA1D81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8001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94435" y="486834"/>
            <a:ext cx="14984730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94435" y="2434167"/>
            <a:ext cx="14984730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94435" y="8475134"/>
            <a:ext cx="390906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A2C6692-EA0D-4861-862E-DDC209ABBD47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755005" y="8475134"/>
            <a:ext cx="586359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270105" y="8475134"/>
            <a:ext cx="390906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5DDD4E1-19D1-4841-8865-699ADA1D81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40538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1219170" rtl="0" eaLnBrk="1" latinLnBrk="0" hangingPunct="1">
        <a:lnSpc>
          <a:spcPct val="90000"/>
        </a:lnSpc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92" indent="-304792" algn="l" defTabSz="1219170" rtl="0" eaLnBrk="1" latinLnBrk="0" hangingPunct="1">
        <a:lnSpc>
          <a:spcPct val="90000"/>
        </a:lnSpc>
        <a:spcBef>
          <a:spcPts val="1333"/>
        </a:spcBef>
        <a:buFont typeface="Arial" panose="020B0604020202020204" pitchFamily="34" charset="0"/>
        <a:buChar char="•"/>
        <a:defRPr sz="3733" kern="1200">
          <a:solidFill>
            <a:schemeClr val="tx1"/>
          </a:solidFill>
          <a:latin typeface="+mn-lt"/>
          <a:ea typeface="+mn-ea"/>
          <a:cs typeface="+mn-cs"/>
        </a:defRPr>
      </a:lvl1pPr>
      <a:lvl2pPr marL="91437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7">
            <a:alpha val="50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77DAB6-B037-4C45-A085-1B4F3C537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A66938A8-75DD-4E48-7C15-02C30B9388B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94357" y="411480"/>
            <a:ext cx="13949917" cy="81681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3000"/>
              </a:lnSpc>
            </a:pPr>
            <a:r>
              <a:rPr lang="en-US" sz="3200" b="1" dirty="0">
                <a:solidFill>
                  <a:schemeClr val="tx1"/>
                </a:solidFill>
                <a:latin typeface="Segoe UI Variable Text" pitchFamily="2" charset="0"/>
                <a:ea typeface="Segoe UI Black" panose="020B0A02040204020203" pitchFamily="34" charset="0"/>
                <a:cs typeface="Segoe UI Semibold" panose="020B0702040204020203" pitchFamily="34" charset="0"/>
              </a:rPr>
              <a:t>Overview Dashboard</a:t>
            </a:r>
          </a:p>
          <a:p>
            <a:pPr>
              <a:lnSpc>
                <a:spcPts val="3000"/>
              </a:lnSpc>
            </a:pPr>
            <a:r>
              <a:rPr lang="en-US" dirty="0">
                <a:solidFill>
                  <a:schemeClr val="tx1"/>
                </a:solidFill>
                <a:latin typeface="Segoe UI Variable Display Light" pitchFamily="2" charset="0"/>
                <a:ea typeface="Segoe UI Black" panose="020B0A02040204020203" pitchFamily="34" charset="0"/>
                <a:cs typeface="Segoe UI Semibold" panose="020B0702040204020203" pitchFamily="34" charset="0"/>
              </a:rPr>
              <a:t>Summarize the number of respondents and their demographics.</a:t>
            </a:r>
          </a:p>
        </p:txBody>
      </p:sp>
      <p:sp>
        <p:nvSpPr>
          <p:cNvPr id="14" name="Rectangle 13" hidden="1">
            <a:extLst>
              <a:ext uri="{FF2B5EF4-FFF2-40B4-BE49-F238E27FC236}">
                <a16:creationId xmlns:a16="http://schemas.microsoft.com/office/drawing/2014/main" id="{02382650-8D3A-D450-06B5-B385165B4CF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7716" y="0"/>
            <a:ext cx="417282" cy="9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5" name="Rectangle 14" hidden="1">
            <a:extLst>
              <a:ext uri="{FF2B5EF4-FFF2-40B4-BE49-F238E27FC236}">
                <a16:creationId xmlns:a16="http://schemas.microsoft.com/office/drawing/2014/main" id="{4C41E758-44D1-5038-4D1B-9BEA19C90416}"/>
              </a:ext>
            </a:extLst>
          </p:cNvPr>
          <p:cNvSpPr>
            <a:spLocks/>
          </p:cNvSpPr>
          <p:nvPr/>
        </p:nvSpPr>
        <p:spPr>
          <a:xfrm>
            <a:off x="16651518" y="0"/>
            <a:ext cx="417282" cy="91440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7" name="Rectangle 16" hidden="1">
            <a:extLst>
              <a:ext uri="{FF2B5EF4-FFF2-40B4-BE49-F238E27FC236}">
                <a16:creationId xmlns:a16="http://schemas.microsoft.com/office/drawing/2014/main" id="{D172085B-A693-795F-8BBB-10BE08076608}"/>
              </a:ext>
            </a:extLst>
          </p:cNvPr>
          <p:cNvSpPr>
            <a:spLocks/>
          </p:cNvSpPr>
          <p:nvPr/>
        </p:nvSpPr>
        <p:spPr>
          <a:xfrm>
            <a:off x="2269839" y="0"/>
            <a:ext cx="417282" cy="91440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20" name="Rectangle 19" hidden="1">
            <a:extLst>
              <a:ext uri="{FF2B5EF4-FFF2-40B4-BE49-F238E27FC236}">
                <a16:creationId xmlns:a16="http://schemas.microsoft.com/office/drawing/2014/main" id="{F64EB523-7817-0357-4F4C-B1E2EF579D54}"/>
              </a:ext>
            </a:extLst>
          </p:cNvPr>
          <p:cNvSpPr>
            <a:spLocks/>
          </p:cNvSpPr>
          <p:nvPr/>
        </p:nvSpPr>
        <p:spPr>
          <a:xfrm>
            <a:off x="2694357" y="4803035"/>
            <a:ext cx="13964397" cy="352188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 dirty="0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4FBF2C50-ED5B-64AB-EE1F-286FA2EBFAD9}"/>
              </a:ext>
            </a:extLst>
          </p:cNvPr>
          <p:cNvSpPr>
            <a:spLocks/>
          </p:cNvSpPr>
          <p:nvPr/>
        </p:nvSpPr>
        <p:spPr>
          <a:xfrm>
            <a:off x="8385488" y="1393035"/>
            <a:ext cx="8586582" cy="7339480"/>
          </a:xfrm>
          <a:prstGeom prst="roundRect">
            <a:avLst>
              <a:gd name="adj" fmla="val 2037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9" name="Rectangle 18" hidden="1">
            <a:extLst>
              <a:ext uri="{FF2B5EF4-FFF2-40B4-BE49-F238E27FC236}">
                <a16:creationId xmlns:a16="http://schemas.microsoft.com/office/drawing/2014/main" id="{9E13F975-B5B0-810F-B1FF-E6C8D1EF9F26}"/>
              </a:ext>
            </a:extLst>
          </p:cNvPr>
          <p:cNvSpPr>
            <a:spLocks/>
          </p:cNvSpPr>
          <p:nvPr/>
        </p:nvSpPr>
        <p:spPr>
          <a:xfrm>
            <a:off x="7994921" y="0"/>
            <a:ext cx="356616" cy="91440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39" name="Rectangle 38" hidden="1">
            <a:extLst>
              <a:ext uri="{FF2B5EF4-FFF2-40B4-BE49-F238E27FC236}">
                <a16:creationId xmlns:a16="http://schemas.microsoft.com/office/drawing/2014/main" id="{3F34A920-07BA-88CD-3AEC-C13A85FBA900}"/>
              </a:ext>
            </a:extLst>
          </p:cNvPr>
          <p:cNvSpPr>
            <a:spLocks/>
          </p:cNvSpPr>
          <p:nvPr/>
        </p:nvSpPr>
        <p:spPr>
          <a:xfrm>
            <a:off x="12056609" y="0"/>
            <a:ext cx="356616" cy="91440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84E1DC3-3EE8-68C5-B5BC-21A7110939C3}"/>
              </a:ext>
            </a:extLst>
          </p:cNvPr>
          <p:cNvSpPr>
            <a:spLocks/>
          </p:cNvSpPr>
          <p:nvPr/>
        </p:nvSpPr>
        <p:spPr>
          <a:xfrm>
            <a:off x="2694357" y="1393035"/>
            <a:ext cx="5256953" cy="7339480"/>
          </a:xfrm>
          <a:prstGeom prst="roundRect">
            <a:avLst>
              <a:gd name="adj" fmla="val 2037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37658D7-5FAC-C214-A7CC-DD2804CCA6EB}"/>
              </a:ext>
            </a:extLst>
          </p:cNvPr>
          <p:cNvCxnSpPr>
            <a:cxnSpLocks/>
          </p:cNvCxnSpPr>
          <p:nvPr/>
        </p:nvCxnSpPr>
        <p:spPr>
          <a:xfrm flipH="1">
            <a:off x="2961558" y="3224550"/>
            <a:ext cx="4732211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5F559CE7-F6FD-EBC7-EC25-9F919F84B40C}"/>
              </a:ext>
            </a:extLst>
          </p:cNvPr>
          <p:cNvCxnSpPr>
            <a:cxnSpLocks/>
          </p:cNvCxnSpPr>
          <p:nvPr/>
        </p:nvCxnSpPr>
        <p:spPr>
          <a:xfrm flipV="1">
            <a:off x="12139031" y="2082800"/>
            <a:ext cx="0" cy="6538686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67D42902-38D9-2D9E-5EDC-1C62F66B6210}"/>
              </a:ext>
            </a:extLst>
          </p:cNvPr>
          <p:cNvCxnSpPr>
            <a:cxnSpLocks/>
          </p:cNvCxnSpPr>
          <p:nvPr/>
        </p:nvCxnSpPr>
        <p:spPr>
          <a:xfrm flipH="1">
            <a:off x="8634659" y="5009807"/>
            <a:ext cx="8009615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: Top Corners Rounded 11">
            <a:extLst>
              <a:ext uri="{FF2B5EF4-FFF2-40B4-BE49-F238E27FC236}">
                <a16:creationId xmlns:a16="http://schemas.microsoft.com/office/drawing/2014/main" id="{50669075-21A0-5708-CA7B-466D2C730EDA}"/>
              </a:ext>
            </a:extLst>
          </p:cNvPr>
          <p:cNvSpPr/>
          <p:nvPr/>
        </p:nvSpPr>
        <p:spPr>
          <a:xfrm rot="5400000">
            <a:off x="-3430417" y="3420759"/>
            <a:ext cx="9144000" cy="2302482"/>
          </a:xfrm>
          <a:prstGeom prst="round2SameRect">
            <a:avLst>
              <a:gd name="adj1" fmla="val 15107"/>
              <a:gd name="adj2" fmla="val 0"/>
            </a:avLst>
          </a:prstGeom>
          <a:solidFill>
            <a:srgbClr val="B229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68700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7">
            <a:alpha val="50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411FE38-C760-9A8B-6DAE-C15F17D65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DD8670A-5B6F-1EBD-2615-1A882D08123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94357" y="411480"/>
            <a:ext cx="13949917" cy="81681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3000"/>
              </a:lnSpc>
            </a:pPr>
            <a:r>
              <a:rPr lang="en-US" sz="3200" b="1" dirty="0">
                <a:solidFill>
                  <a:schemeClr val="tx1"/>
                </a:solidFill>
                <a:latin typeface="Segoe UI Variable Text" pitchFamily="2" charset="0"/>
                <a:ea typeface="Segoe UI Black" panose="020B0A02040204020203" pitchFamily="34" charset="0"/>
                <a:cs typeface="Segoe UI Semibold" panose="020B0702040204020203" pitchFamily="34" charset="0"/>
              </a:rPr>
              <a:t>Competitive Landscape Dashboard</a:t>
            </a:r>
          </a:p>
          <a:p>
            <a:pPr>
              <a:lnSpc>
                <a:spcPts val="3000"/>
              </a:lnSpc>
            </a:pPr>
            <a:r>
              <a:rPr lang="en-US" dirty="0">
                <a:solidFill>
                  <a:schemeClr val="tx1"/>
                </a:solidFill>
                <a:latin typeface="Segoe UI Variable Display Light" pitchFamily="2" charset="0"/>
                <a:ea typeface="Segoe UI Black" panose="020B0A02040204020203" pitchFamily="34" charset="0"/>
                <a:cs typeface="Segoe UI Semibold" panose="020B0702040204020203" pitchFamily="34" charset="0"/>
              </a:rPr>
              <a:t>Understand how major coffee brands compete in scale, growth, and customer perception across key attributes.</a:t>
            </a:r>
          </a:p>
        </p:txBody>
      </p:sp>
      <p:sp>
        <p:nvSpPr>
          <p:cNvPr id="14" name="Rectangle 13" hidden="1">
            <a:extLst>
              <a:ext uri="{FF2B5EF4-FFF2-40B4-BE49-F238E27FC236}">
                <a16:creationId xmlns:a16="http://schemas.microsoft.com/office/drawing/2014/main" id="{35F13D61-C441-04C7-B8BA-1D0CC45A4A4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7716" y="0"/>
            <a:ext cx="417282" cy="9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5" name="Rectangle 14" hidden="1">
            <a:extLst>
              <a:ext uri="{FF2B5EF4-FFF2-40B4-BE49-F238E27FC236}">
                <a16:creationId xmlns:a16="http://schemas.microsoft.com/office/drawing/2014/main" id="{EBC44B7E-A6D1-89C5-13AD-2A167791758A}"/>
              </a:ext>
            </a:extLst>
          </p:cNvPr>
          <p:cNvSpPr>
            <a:spLocks/>
          </p:cNvSpPr>
          <p:nvPr/>
        </p:nvSpPr>
        <p:spPr>
          <a:xfrm>
            <a:off x="16651518" y="0"/>
            <a:ext cx="417282" cy="91440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7" name="Rectangle 16" hidden="1">
            <a:extLst>
              <a:ext uri="{FF2B5EF4-FFF2-40B4-BE49-F238E27FC236}">
                <a16:creationId xmlns:a16="http://schemas.microsoft.com/office/drawing/2014/main" id="{766079D7-2C74-82F1-1261-A314CF40E77E}"/>
              </a:ext>
            </a:extLst>
          </p:cNvPr>
          <p:cNvSpPr>
            <a:spLocks/>
          </p:cNvSpPr>
          <p:nvPr/>
        </p:nvSpPr>
        <p:spPr>
          <a:xfrm>
            <a:off x="2269839" y="0"/>
            <a:ext cx="417282" cy="91440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20" name="Rectangle 19" hidden="1">
            <a:extLst>
              <a:ext uri="{FF2B5EF4-FFF2-40B4-BE49-F238E27FC236}">
                <a16:creationId xmlns:a16="http://schemas.microsoft.com/office/drawing/2014/main" id="{C02FDD16-E03C-4A0F-200F-48DAD1CB95A9}"/>
              </a:ext>
            </a:extLst>
          </p:cNvPr>
          <p:cNvSpPr>
            <a:spLocks/>
          </p:cNvSpPr>
          <p:nvPr/>
        </p:nvSpPr>
        <p:spPr>
          <a:xfrm>
            <a:off x="2687120" y="4902200"/>
            <a:ext cx="13964397" cy="352188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 dirty="0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EAF2E494-E3B9-ACC2-797D-CF932C0C30D1}"/>
              </a:ext>
            </a:extLst>
          </p:cNvPr>
          <p:cNvSpPr>
            <a:spLocks/>
          </p:cNvSpPr>
          <p:nvPr/>
        </p:nvSpPr>
        <p:spPr>
          <a:xfrm>
            <a:off x="8385488" y="1393036"/>
            <a:ext cx="8586582" cy="2645564"/>
          </a:xfrm>
          <a:prstGeom prst="roundRect">
            <a:avLst>
              <a:gd name="adj" fmla="val 2037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9" name="Rectangle 18" hidden="1">
            <a:extLst>
              <a:ext uri="{FF2B5EF4-FFF2-40B4-BE49-F238E27FC236}">
                <a16:creationId xmlns:a16="http://schemas.microsoft.com/office/drawing/2014/main" id="{FD0C806B-82B3-DEAB-C2F8-313624EA9529}"/>
              </a:ext>
            </a:extLst>
          </p:cNvPr>
          <p:cNvSpPr>
            <a:spLocks/>
          </p:cNvSpPr>
          <p:nvPr/>
        </p:nvSpPr>
        <p:spPr>
          <a:xfrm>
            <a:off x="7994921" y="0"/>
            <a:ext cx="356616" cy="91440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39" name="Rectangle 38" hidden="1">
            <a:extLst>
              <a:ext uri="{FF2B5EF4-FFF2-40B4-BE49-F238E27FC236}">
                <a16:creationId xmlns:a16="http://schemas.microsoft.com/office/drawing/2014/main" id="{869A89D8-FE3D-EE6C-68C0-ACE2B031CE05}"/>
              </a:ext>
            </a:extLst>
          </p:cNvPr>
          <p:cNvSpPr>
            <a:spLocks/>
          </p:cNvSpPr>
          <p:nvPr/>
        </p:nvSpPr>
        <p:spPr>
          <a:xfrm>
            <a:off x="12056609" y="0"/>
            <a:ext cx="356616" cy="91440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C0D8FAD-C655-3AC5-3289-6291B2470D66}"/>
              </a:ext>
            </a:extLst>
          </p:cNvPr>
          <p:cNvSpPr>
            <a:spLocks/>
          </p:cNvSpPr>
          <p:nvPr/>
        </p:nvSpPr>
        <p:spPr>
          <a:xfrm>
            <a:off x="2694357" y="1393036"/>
            <a:ext cx="5256953" cy="7339480"/>
          </a:xfrm>
          <a:prstGeom prst="roundRect">
            <a:avLst>
              <a:gd name="adj" fmla="val 2037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0BA7737F-A36F-ACD0-3F8F-3B756F09059A}"/>
              </a:ext>
            </a:extLst>
          </p:cNvPr>
          <p:cNvSpPr>
            <a:spLocks/>
          </p:cNvSpPr>
          <p:nvPr/>
        </p:nvSpPr>
        <p:spPr>
          <a:xfrm>
            <a:off x="8385487" y="4301336"/>
            <a:ext cx="8586581" cy="4431180"/>
          </a:xfrm>
          <a:prstGeom prst="roundRect">
            <a:avLst>
              <a:gd name="adj" fmla="val 2037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E85CCF1-E8FB-FB87-5802-2541254A1DD7}"/>
              </a:ext>
            </a:extLst>
          </p:cNvPr>
          <p:cNvCxnSpPr>
            <a:cxnSpLocks/>
          </p:cNvCxnSpPr>
          <p:nvPr/>
        </p:nvCxnSpPr>
        <p:spPr>
          <a:xfrm flipH="1">
            <a:off x="2961558" y="3224550"/>
            <a:ext cx="4732211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: Top Corners Rounded 6">
            <a:extLst>
              <a:ext uri="{FF2B5EF4-FFF2-40B4-BE49-F238E27FC236}">
                <a16:creationId xmlns:a16="http://schemas.microsoft.com/office/drawing/2014/main" id="{EB03576E-3D27-5C4D-57D3-5B6292BB0578}"/>
              </a:ext>
            </a:extLst>
          </p:cNvPr>
          <p:cNvSpPr/>
          <p:nvPr/>
        </p:nvSpPr>
        <p:spPr>
          <a:xfrm rot="5400000">
            <a:off x="-3430417" y="3420759"/>
            <a:ext cx="9144000" cy="2302482"/>
          </a:xfrm>
          <a:prstGeom prst="round2SameRect">
            <a:avLst>
              <a:gd name="adj1" fmla="val 15107"/>
              <a:gd name="adj2" fmla="val 0"/>
            </a:avLst>
          </a:prstGeom>
          <a:solidFill>
            <a:srgbClr val="B229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01085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7">
            <a:alpha val="5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B3CB571-8888-09CE-00E6-4EFB52DA5C0B}"/>
              </a:ext>
            </a:extLst>
          </p:cNvPr>
          <p:cNvSpPr/>
          <p:nvPr/>
        </p:nvSpPr>
        <p:spPr>
          <a:xfrm>
            <a:off x="2694357" y="1393036"/>
            <a:ext cx="7194688" cy="3845169"/>
          </a:xfrm>
          <a:prstGeom prst="roundRect">
            <a:avLst>
              <a:gd name="adj" fmla="val 4246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7121A5A1-9CE8-24B0-3C23-07573C4EFBD8}"/>
              </a:ext>
            </a:extLst>
          </p:cNvPr>
          <p:cNvSpPr/>
          <p:nvPr/>
        </p:nvSpPr>
        <p:spPr>
          <a:xfrm>
            <a:off x="2694357" y="5572563"/>
            <a:ext cx="7194687" cy="3159956"/>
          </a:xfrm>
          <a:prstGeom prst="roundRect">
            <a:avLst>
              <a:gd name="adj" fmla="val 4246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4164E6FF-A23C-274C-21E6-3009BF008BEF}"/>
              </a:ext>
            </a:extLst>
          </p:cNvPr>
          <p:cNvSpPr/>
          <p:nvPr/>
        </p:nvSpPr>
        <p:spPr>
          <a:xfrm>
            <a:off x="10313568" y="1393037"/>
            <a:ext cx="6658502" cy="7339482"/>
          </a:xfrm>
          <a:prstGeom prst="roundRect">
            <a:avLst>
              <a:gd name="adj" fmla="val 2037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20ED2C9-B975-500E-89AE-0E66A02DA40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94357" y="411480"/>
            <a:ext cx="13949917" cy="81681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3000"/>
              </a:lnSpc>
            </a:pPr>
            <a:r>
              <a:rPr lang="en-US" sz="3200" b="1" dirty="0">
                <a:solidFill>
                  <a:schemeClr val="tx1"/>
                </a:solidFill>
                <a:latin typeface="Segoe UI Variable Text" pitchFamily="2" charset="0"/>
                <a:ea typeface="Segoe UI Black" panose="020B0A02040204020203" pitchFamily="34" charset="0"/>
                <a:cs typeface="Segoe UI Semibold" panose="020B0702040204020203" pitchFamily="34" charset="0"/>
              </a:rPr>
              <a:t>Conversion Analysis Dashboard</a:t>
            </a:r>
          </a:p>
          <a:p>
            <a:pPr>
              <a:lnSpc>
                <a:spcPts val="3000"/>
              </a:lnSpc>
            </a:pPr>
            <a:r>
              <a:rPr lang="en-US" dirty="0">
                <a:solidFill>
                  <a:schemeClr val="tx1"/>
                </a:solidFill>
                <a:latin typeface="Segoe UI Variable Display Light" pitchFamily="2" charset="0"/>
                <a:ea typeface="Segoe UI Black" panose="020B0A02040204020203" pitchFamily="34" charset="0"/>
                <a:cs typeface="Segoe UI Semibold" panose="020B0702040204020203" pitchFamily="34" charset="0"/>
              </a:rPr>
              <a:t>Uncover key leakage points and understand what drives or hinders customer retention.</a:t>
            </a:r>
          </a:p>
        </p:txBody>
      </p:sp>
      <p:sp>
        <p:nvSpPr>
          <p:cNvPr id="14" name="Rectangle 13" hidden="1">
            <a:extLst>
              <a:ext uri="{FF2B5EF4-FFF2-40B4-BE49-F238E27FC236}">
                <a16:creationId xmlns:a16="http://schemas.microsoft.com/office/drawing/2014/main" id="{3048FB67-8C5A-E2FF-ADD0-0488D996B4C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7716" y="0"/>
            <a:ext cx="417282" cy="9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5" name="Rectangle 14" hidden="1">
            <a:extLst>
              <a:ext uri="{FF2B5EF4-FFF2-40B4-BE49-F238E27FC236}">
                <a16:creationId xmlns:a16="http://schemas.microsoft.com/office/drawing/2014/main" id="{91525071-8521-C2C4-A948-4F2A5D06E9FA}"/>
              </a:ext>
            </a:extLst>
          </p:cNvPr>
          <p:cNvSpPr>
            <a:spLocks/>
          </p:cNvSpPr>
          <p:nvPr/>
        </p:nvSpPr>
        <p:spPr>
          <a:xfrm>
            <a:off x="16651518" y="0"/>
            <a:ext cx="417282" cy="91440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7" name="Rectangle 16" hidden="1">
            <a:extLst>
              <a:ext uri="{FF2B5EF4-FFF2-40B4-BE49-F238E27FC236}">
                <a16:creationId xmlns:a16="http://schemas.microsoft.com/office/drawing/2014/main" id="{2E210C70-E6BC-01E8-69AA-6B3DDF8E00E9}"/>
              </a:ext>
            </a:extLst>
          </p:cNvPr>
          <p:cNvSpPr>
            <a:spLocks/>
          </p:cNvSpPr>
          <p:nvPr/>
        </p:nvSpPr>
        <p:spPr>
          <a:xfrm>
            <a:off x="2269839" y="0"/>
            <a:ext cx="417282" cy="91440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9" name="Rectangle 18" hidden="1">
            <a:extLst>
              <a:ext uri="{FF2B5EF4-FFF2-40B4-BE49-F238E27FC236}">
                <a16:creationId xmlns:a16="http://schemas.microsoft.com/office/drawing/2014/main" id="{2EC6817F-21FC-D1F9-6950-E2B3E8BEC0A1}"/>
              </a:ext>
            </a:extLst>
          </p:cNvPr>
          <p:cNvSpPr>
            <a:spLocks/>
          </p:cNvSpPr>
          <p:nvPr/>
        </p:nvSpPr>
        <p:spPr>
          <a:xfrm>
            <a:off x="9491011" y="0"/>
            <a:ext cx="356616" cy="91440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20" name="Rectangle 19" hidden="1">
            <a:extLst>
              <a:ext uri="{FF2B5EF4-FFF2-40B4-BE49-F238E27FC236}">
                <a16:creationId xmlns:a16="http://schemas.microsoft.com/office/drawing/2014/main" id="{B4AE4608-C8F6-AB35-07A8-FF1BDDFE6257}"/>
              </a:ext>
            </a:extLst>
          </p:cNvPr>
          <p:cNvSpPr>
            <a:spLocks/>
          </p:cNvSpPr>
          <p:nvPr/>
        </p:nvSpPr>
        <p:spPr>
          <a:xfrm>
            <a:off x="2687120" y="4902200"/>
            <a:ext cx="13964397" cy="352188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 dirty="0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pic>
        <p:nvPicPr>
          <p:cNvPr id="24" name="Picture 23" hidden="1">
            <a:extLst>
              <a:ext uri="{FF2B5EF4-FFF2-40B4-BE49-F238E27FC236}">
                <a16:creationId xmlns:a16="http://schemas.microsoft.com/office/drawing/2014/main" id="{EE774686-AA33-8334-71C0-A8CF944198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4357" y="1393035"/>
            <a:ext cx="6803889" cy="3845169"/>
          </a:xfrm>
          <a:prstGeom prst="rect">
            <a:avLst/>
          </a:prstGeom>
        </p:spPr>
      </p:pic>
      <p:pic>
        <p:nvPicPr>
          <p:cNvPr id="26" name="Picture 25" hidden="1">
            <a:extLst>
              <a:ext uri="{FF2B5EF4-FFF2-40B4-BE49-F238E27FC236}">
                <a16:creationId xmlns:a16="http://schemas.microsoft.com/office/drawing/2014/main" id="{3A8EDC3D-1D84-BE75-5140-634538337A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4862" y="1393035"/>
            <a:ext cx="6796655" cy="7339484"/>
          </a:xfrm>
          <a:prstGeom prst="rect">
            <a:avLst/>
          </a:prstGeom>
        </p:spPr>
      </p:pic>
      <p:pic>
        <p:nvPicPr>
          <p:cNvPr id="28" name="Picture 27" hidden="1">
            <a:extLst>
              <a:ext uri="{FF2B5EF4-FFF2-40B4-BE49-F238E27FC236}">
                <a16:creationId xmlns:a16="http://schemas.microsoft.com/office/drawing/2014/main" id="{DA017B61-8575-5925-3DBF-19D6D4220D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94357" y="5572561"/>
            <a:ext cx="6803887" cy="3159957"/>
          </a:xfrm>
          <a:prstGeom prst="rect">
            <a:avLst/>
          </a:prstGeom>
        </p:spPr>
      </p:pic>
      <p:sp>
        <p:nvSpPr>
          <p:cNvPr id="3" name="Rectangle: Top Corners Rounded 2">
            <a:extLst>
              <a:ext uri="{FF2B5EF4-FFF2-40B4-BE49-F238E27FC236}">
                <a16:creationId xmlns:a16="http://schemas.microsoft.com/office/drawing/2014/main" id="{10FEA41C-85AF-88B1-5BFE-58DFDFB6A855}"/>
              </a:ext>
            </a:extLst>
          </p:cNvPr>
          <p:cNvSpPr/>
          <p:nvPr/>
        </p:nvSpPr>
        <p:spPr>
          <a:xfrm rot="5400000">
            <a:off x="-3430417" y="3420759"/>
            <a:ext cx="9144000" cy="2302482"/>
          </a:xfrm>
          <a:prstGeom prst="round2SameRect">
            <a:avLst>
              <a:gd name="adj1" fmla="val 15107"/>
              <a:gd name="adj2" fmla="val 0"/>
            </a:avLst>
          </a:prstGeom>
          <a:solidFill>
            <a:srgbClr val="B229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9492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7">
            <a:alpha val="50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FF2ACE-7852-EE5A-1B18-2B1E0BCDFB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B33E979A-ABD4-D37E-FFAB-5FC65B7F853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94357" y="411480"/>
            <a:ext cx="13949917" cy="81681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3000"/>
              </a:lnSpc>
            </a:pPr>
            <a:r>
              <a:rPr lang="en-US" sz="3200" b="1" dirty="0">
                <a:solidFill>
                  <a:schemeClr val="tx1"/>
                </a:solidFill>
                <a:latin typeface="Segoe UI Variable Text" pitchFamily="2" charset="0"/>
                <a:ea typeface="Segoe UI Black" panose="020B0A02040204020203" pitchFamily="34" charset="0"/>
                <a:cs typeface="Segoe UI Semibold" panose="020B0702040204020203" pitchFamily="34" charset="0"/>
              </a:rPr>
              <a:t>Segment Analysis</a:t>
            </a:r>
          </a:p>
          <a:p>
            <a:pPr>
              <a:lnSpc>
                <a:spcPts val="3000"/>
              </a:lnSpc>
            </a:pPr>
            <a:r>
              <a:rPr lang="en-US" dirty="0">
                <a:solidFill>
                  <a:schemeClr val="tx1"/>
                </a:solidFill>
                <a:latin typeface="Segoe UI Variable Display Light" pitchFamily="2" charset="0"/>
                <a:ea typeface="Segoe UI Black" panose="020B0A02040204020203" pitchFamily="34" charset="0"/>
                <a:cs typeface="Segoe UI Semibold" panose="020B0702040204020203" pitchFamily="34" charset="0"/>
              </a:rPr>
              <a:t>Analyze customer composition, churn behavior, and demographic trends across key segments.</a:t>
            </a:r>
          </a:p>
        </p:txBody>
      </p:sp>
      <p:sp>
        <p:nvSpPr>
          <p:cNvPr id="14" name="Rectangle 13" hidden="1">
            <a:extLst>
              <a:ext uri="{FF2B5EF4-FFF2-40B4-BE49-F238E27FC236}">
                <a16:creationId xmlns:a16="http://schemas.microsoft.com/office/drawing/2014/main" id="{15116391-64DA-F56F-51A3-BEA62591E30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7716" y="0"/>
            <a:ext cx="417282" cy="9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5" name="Rectangle 14" hidden="1">
            <a:extLst>
              <a:ext uri="{FF2B5EF4-FFF2-40B4-BE49-F238E27FC236}">
                <a16:creationId xmlns:a16="http://schemas.microsoft.com/office/drawing/2014/main" id="{A19A6584-DDE0-0C07-3D92-7E26D2F05024}"/>
              </a:ext>
            </a:extLst>
          </p:cNvPr>
          <p:cNvSpPr>
            <a:spLocks/>
          </p:cNvSpPr>
          <p:nvPr/>
        </p:nvSpPr>
        <p:spPr>
          <a:xfrm>
            <a:off x="16651518" y="0"/>
            <a:ext cx="417282" cy="91440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7" name="Rectangle 16" hidden="1">
            <a:extLst>
              <a:ext uri="{FF2B5EF4-FFF2-40B4-BE49-F238E27FC236}">
                <a16:creationId xmlns:a16="http://schemas.microsoft.com/office/drawing/2014/main" id="{77C2DB82-D424-991C-2321-7E705117762E}"/>
              </a:ext>
            </a:extLst>
          </p:cNvPr>
          <p:cNvSpPr>
            <a:spLocks/>
          </p:cNvSpPr>
          <p:nvPr/>
        </p:nvSpPr>
        <p:spPr>
          <a:xfrm>
            <a:off x="2269839" y="0"/>
            <a:ext cx="417282" cy="91440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20" name="Rectangle 19" hidden="1">
            <a:extLst>
              <a:ext uri="{FF2B5EF4-FFF2-40B4-BE49-F238E27FC236}">
                <a16:creationId xmlns:a16="http://schemas.microsoft.com/office/drawing/2014/main" id="{1A99982D-29B3-AB98-28A3-F76155FD3C15}"/>
              </a:ext>
            </a:extLst>
          </p:cNvPr>
          <p:cNvSpPr>
            <a:spLocks/>
          </p:cNvSpPr>
          <p:nvPr/>
        </p:nvSpPr>
        <p:spPr>
          <a:xfrm>
            <a:off x="2694357" y="4803035"/>
            <a:ext cx="13964397" cy="352188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 dirty="0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B78CD461-B176-7858-A872-1541458B383C}"/>
              </a:ext>
            </a:extLst>
          </p:cNvPr>
          <p:cNvSpPr>
            <a:spLocks/>
          </p:cNvSpPr>
          <p:nvPr/>
        </p:nvSpPr>
        <p:spPr>
          <a:xfrm>
            <a:off x="2694355" y="3200400"/>
            <a:ext cx="7688807" cy="5495987"/>
          </a:xfrm>
          <a:prstGeom prst="roundRect">
            <a:avLst>
              <a:gd name="adj" fmla="val 2037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9" name="Rectangle 18" hidden="1">
            <a:extLst>
              <a:ext uri="{FF2B5EF4-FFF2-40B4-BE49-F238E27FC236}">
                <a16:creationId xmlns:a16="http://schemas.microsoft.com/office/drawing/2014/main" id="{BB0C3FEE-D5AC-903D-36B6-B6DB86991EA0}"/>
              </a:ext>
            </a:extLst>
          </p:cNvPr>
          <p:cNvSpPr>
            <a:spLocks/>
          </p:cNvSpPr>
          <p:nvPr/>
        </p:nvSpPr>
        <p:spPr>
          <a:xfrm>
            <a:off x="7994921" y="0"/>
            <a:ext cx="356616" cy="91440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39" name="Rectangle 38" hidden="1">
            <a:extLst>
              <a:ext uri="{FF2B5EF4-FFF2-40B4-BE49-F238E27FC236}">
                <a16:creationId xmlns:a16="http://schemas.microsoft.com/office/drawing/2014/main" id="{871AC744-764A-D209-4580-3FCE0FCB0C5C}"/>
              </a:ext>
            </a:extLst>
          </p:cNvPr>
          <p:cNvSpPr>
            <a:spLocks/>
          </p:cNvSpPr>
          <p:nvPr/>
        </p:nvSpPr>
        <p:spPr>
          <a:xfrm>
            <a:off x="12056609" y="0"/>
            <a:ext cx="356616" cy="91440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3EADF42-FFE6-CCE5-386E-49490449D04D}"/>
              </a:ext>
            </a:extLst>
          </p:cNvPr>
          <p:cNvSpPr>
            <a:spLocks/>
          </p:cNvSpPr>
          <p:nvPr/>
        </p:nvSpPr>
        <p:spPr>
          <a:xfrm>
            <a:off x="2694355" y="1393035"/>
            <a:ext cx="10711411" cy="1504173"/>
          </a:xfrm>
          <a:prstGeom prst="roundRect">
            <a:avLst>
              <a:gd name="adj" fmla="val 7453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BB30D93-9CA5-FC1D-D458-A54BEA7753AF}"/>
              </a:ext>
            </a:extLst>
          </p:cNvPr>
          <p:cNvSpPr>
            <a:spLocks/>
          </p:cNvSpPr>
          <p:nvPr/>
        </p:nvSpPr>
        <p:spPr>
          <a:xfrm>
            <a:off x="13830300" y="1393036"/>
            <a:ext cx="3141770" cy="1504172"/>
          </a:xfrm>
          <a:prstGeom prst="roundRect">
            <a:avLst>
              <a:gd name="adj" fmla="val 7453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C7B83CD1-E71C-BDAD-B184-0170A6B72DCA}"/>
              </a:ext>
            </a:extLst>
          </p:cNvPr>
          <p:cNvSpPr>
            <a:spLocks/>
          </p:cNvSpPr>
          <p:nvPr/>
        </p:nvSpPr>
        <p:spPr>
          <a:xfrm>
            <a:off x="13830294" y="3200400"/>
            <a:ext cx="3141769" cy="1689100"/>
          </a:xfrm>
          <a:prstGeom prst="roundRect">
            <a:avLst>
              <a:gd name="adj" fmla="val 7453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EFA71D22-134B-5A0E-071A-F11669C8C0BF}"/>
              </a:ext>
            </a:extLst>
          </p:cNvPr>
          <p:cNvSpPr>
            <a:spLocks/>
          </p:cNvSpPr>
          <p:nvPr/>
        </p:nvSpPr>
        <p:spPr>
          <a:xfrm>
            <a:off x="10807703" y="3200400"/>
            <a:ext cx="2598061" cy="5479760"/>
          </a:xfrm>
          <a:prstGeom prst="roundRect">
            <a:avLst>
              <a:gd name="adj" fmla="val 2037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68E4D27-AACA-91F7-87DE-476555F79544}"/>
              </a:ext>
            </a:extLst>
          </p:cNvPr>
          <p:cNvSpPr>
            <a:spLocks/>
          </p:cNvSpPr>
          <p:nvPr/>
        </p:nvSpPr>
        <p:spPr>
          <a:xfrm>
            <a:off x="13830295" y="5095730"/>
            <a:ext cx="3141768" cy="1689100"/>
          </a:xfrm>
          <a:prstGeom prst="roundRect">
            <a:avLst>
              <a:gd name="adj" fmla="val 7453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34A799E-1D7E-F9E1-A60D-59299A4196D8}"/>
              </a:ext>
            </a:extLst>
          </p:cNvPr>
          <p:cNvSpPr>
            <a:spLocks/>
          </p:cNvSpPr>
          <p:nvPr/>
        </p:nvSpPr>
        <p:spPr>
          <a:xfrm>
            <a:off x="13830295" y="6991060"/>
            <a:ext cx="3141768" cy="1689100"/>
          </a:xfrm>
          <a:prstGeom prst="roundRect">
            <a:avLst>
              <a:gd name="adj" fmla="val 7453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8" name="Rectangle: Top Corners Rounded 7">
            <a:extLst>
              <a:ext uri="{FF2B5EF4-FFF2-40B4-BE49-F238E27FC236}">
                <a16:creationId xmlns:a16="http://schemas.microsoft.com/office/drawing/2014/main" id="{727A5135-AF33-8ED2-F29B-78370BDF1FB8}"/>
              </a:ext>
            </a:extLst>
          </p:cNvPr>
          <p:cNvSpPr/>
          <p:nvPr/>
        </p:nvSpPr>
        <p:spPr>
          <a:xfrm rot="5400000">
            <a:off x="-3430417" y="3420759"/>
            <a:ext cx="9144000" cy="2302482"/>
          </a:xfrm>
          <a:prstGeom prst="round2SameRect">
            <a:avLst>
              <a:gd name="adj1" fmla="val 15107"/>
              <a:gd name="adj2" fmla="val 0"/>
            </a:avLst>
          </a:prstGeom>
          <a:solidFill>
            <a:srgbClr val="B229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5B02EA1-21FB-C2ED-B50E-391F009E70DA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6580774" y="1523429"/>
            <a:ext cx="274320" cy="27432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41DF447-04E6-E221-2F45-0A728A81562C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3040004" y="3263900"/>
            <a:ext cx="274320" cy="27432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21564B09-B8FC-EBAD-3EF8-3090B5B54E7D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6580774" y="3289300"/>
            <a:ext cx="274320" cy="27432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37A3136A-7C24-66A7-9E0F-4772D2B858F6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6580774" y="7079960"/>
            <a:ext cx="274320" cy="27432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97F249B-4740-E6DE-0105-FF7B10682C4B}"/>
              </a:ext>
            </a:extLst>
          </p:cNvPr>
          <p:cNvPicPr>
            <a:picLocks noChangeAspect="1"/>
          </p:cNvPicPr>
          <p:nvPr/>
        </p:nvPicPr>
        <p:blipFill>
          <a:blip r:embed="rId6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6580774" y="5184630"/>
            <a:ext cx="274320" cy="274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86654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3367</TotalTime>
  <Words>64</Words>
  <Application>Microsoft Office PowerPoint</Application>
  <PresentationFormat>Custom</PresentationFormat>
  <Paragraphs>8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0" baseType="lpstr">
      <vt:lpstr>Aptos</vt:lpstr>
      <vt:lpstr>Aptos Display</vt:lpstr>
      <vt:lpstr>Arial</vt:lpstr>
      <vt:lpstr>Segoe UI Variable Display Light</vt:lpstr>
      <vt:lpstr>Segoe UI Variable Text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Trường Xuân</dc:creator>
  <cp:lastModifiedBy>Trường Xuân</cp:lastModifiedBy>
  <cp:revision>16</cp:revision>
  <dcterms:created xsi:type="dcterms:W3CDTF">2025-10-15T17:20:49Z</dcterms:created>
  <dcterms:modified xsi:type="dcterms:W3CDTF">2025-11-05T18:21:53Z</dcterms:modified>
</cp:coreProperties>
</file>